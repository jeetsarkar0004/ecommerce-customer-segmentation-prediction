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7.xml" ContentType="application/vnd.openxmlformats-officedocument.theme+xml"/>
  <Override PartName="/ppt/slideLayouts/slideLayout10.xml" ContentType="application/vnd.openxmlformats-officedocument.presentationml.slideLayout+xml"/>
  <Override PartName="/ppt/theme/theme8.xml" ContentType="application/vnd.openxmlformats-officedocument.theme+xml"/>
  <Override PartName="/ppt/slideLayouts/slideLayout11.xml" ContentType="application/vnd.openxmlformats-officedocument.presentationml.slideLayout+xml"/>
  <Override PartName="/ppt/theme/theme9.xml" ContentType="application/vnd.openxmlformats-officedocument.theme+xml"/>
  <Override PartName="/ppt/slideLayouts/slideLayout12.xml" ContentType="application/vnd.openxmlformats-officedocument.presentationml.slideLayout+xml"/>
  <Override PartName="/ppt/theme/theme10.xml" ContentType="application/vnd.openxmlformats-officedocument.theme+xml"/>
  <Override PartName="/ppt/slideLayouts/slideLayout13.xml" ContentType="application/vnd.openxmlformats-officedocument.presentationml.slideLayout+xml"/>
  <Override PartName="/ppt/theme/theme11.xml" ContentType="application/vnd.openxmlformats-officedocument.theme+xml"/>
  <Override PartName="/ppt/slideLayouts/slideLayout14.xml" ContentType="application/vnd.openxmlformats-officedocument.presentationml.slideLayout+xml"/>
  <Override PartName="/ppt/theme/theme12.xml" ContentType="application/vnd.openxmlformats-officedocument.theme+xml"/>
  <Override PartName="/ppt/slideLayouts/slideLayout15.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 id="2147483656" r:id="rId3"/>
    <p:sldMasterId id="2147483658" r:id="rId4"/>
    <p:sldMasterId id="2147483666" r:id="rId5"/>
    <p:sldMasterId id="2147483668" r:id="rId6"/>
    <p:sldMasterId id="2147483670" r:id="rId7"/>
    <p:sldMasterId id="2147483673" r:id="rId8"/>
    <p:sldMasterId id="2147483675" r:id="rId9"/>
    <p:sldMasterId id="2147483677" r:id="rId10"/>
    <p:sldMasterId id="2147483679" r:id="rId11"/>
    <p:sldMasterId id="2147483681" r:id="rId12"/>
    <p:sldMasterId id="2147483683" r:id="rId13"/>
  </p:sldMasterIdLst>
  <p:notesMasterIdLst>
    <p:notesMasterId r:id="rId37"/>
  </p:notesMasterIdLst>
  <p:sldIdLst>
    <p:sldId id="257" r:id="rId14"/>
    <p:sldId id="276" r:id="rId15"/>
    <p:sldId id="277" r:id="rId16"/>
    <p:sldId id="258" r:id="rId17"/>
    <p:sldId id="260" r:id="rId18"/>
    <p:sldId id="261" r:id="rId19"/>
    <p:sldId id="262" r:id="rId20"/>
    <p:sldId id="280" r:id="rId21"/>
    <p:sldId id="278" r:id="rId22"/>
    <p:sldId id="279" r:id="rId23"/>
    <p:sldId id="281" r:id="rId24"/>
    <p:sldId id="284" r:id="rId25"/>
    <p:sldId id="267" r:id="rId26"/>
    <p:sldId id="266" r:id="rId27"/>
    <p:sldId id="268" r:id="rId28"/>
    <p:sldId id="269" r:id="rId29"/>
    <p:sldId id="285" r:id="rId30"/>
    <p:sldId id="271" r:id="rId31"/>
    <p:sldId id="282" r:id="rId32"/>
    <p:sldId id="272" r:id="rId33"/>
    <p:sldId id="273" r:id="rId34"/>
    <p:sldId id="274" r:id="rId35"/>
    <p:sldId id="28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E2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viewProps" Target="viewProps.xml"/><Relationship Id="rId21" Type="http://schemas.openxmlformats.org/officeDocument/2006/relationships/slide" Target="slides/slide8.xml"/><Relationship Id="rId34" Type="http://schemas.openxmlformats.org/officeDocument/2006/relationships/slide" Target="slides/slide2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slide" Target="slides/slide1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10" Type="http://schemas.openxmlformats.org/officeDocument/2006/relationships/slideMaster" Target="slideMasters/slideMaster10.xml"/><Relationship Id="rId19" Type="http://schemas.openxmlformats.org/officeDocument/2006/relationships/slide" Target="slides/slide6.xml"/><Relationship Id="rId31" Type="http://schemas.openxmlformats.org/officeDocument/2006/relationships/slide" Target="slides/slide1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3" name="PlaceHolder 1"/>
          <p:cNvSpPr>
            <a:spLocks noGrp="1"/>
          </p:cNvSpPr>
          <p:nvPr>
            <p:ph type="hdr"/>
          </p:nvPr>
        </p:nvSpPr>
        <p:spPr>
          <a:xfrm>
            <a:off x="0" y="0"/>
            <a:ext cx="2971800" cy="458640"/>
          </a:xfrm>
          <a:prstGeom prst="rect">
            <a:avLst/>
          </a:prstGeom>
          <a:noFill/>
          <a:ln w="12600">
            <a:noFill/>
          </a:ln>
        </p:spPr>
        <p:txBody>
          <a:bodyPr lIns="91440" tIns="45720" rIns="91440" bIns="45720" anchor="t">
            <a:noAutofit/>
          </a:bodyPr>
          <a:lstStyle/>
          <a:p>
            <a:pPr indent="0">
              <a:buNone/>
            </a:pPr>
            <a:endParaRPr lang="en-US" sz="2400" b="0" strike="noStrike" spc="-1">
              <a:solidFill>
                <a:srgbClr val="FFFFFF"/>
              </a:solidFill>
              <a:latin typeface="Times New Roman"/>
            </a:endParaRPr>
          </a:p>
        </p:txBody>
      </p:sp>
      <p:sp>
        <p:nvSpPr>
          <p:cNvPr id="84" name="PlaceHolder 2"/>
          <p:cNvSpPr>
            <a:spLocks noGrp="1"/>
          </p:cNvSpPr>
          <p:nvPr>
            <p:ph type="dt" idx="1"/>
          </p:nvPr>
        </p:nvSpPr>
        <p:spPr>
          <a:xfrm>
            <a:off x="3884760" y="0"/>
            <a:ext cx="2971800" cy="458640"/>
          </a:xfrm>
          <a:prstGeom prst="rect">
            <a:avLst/>
          </a:prstGeom>
          <a:noFill/>
          <a:ln w="12600">
            <a:noFill/>
          </a:ln>
        </p:spPr>
        <p:txBody>
          <a:bodyPr lIns="91440" tIns="45720" rIns="91440" bIns="45720" anchor="t">
            <a:noAutofit/>
          </a:bodyPr>
          <a:lstStyle>
            <a:lvl1pPr indent="0" algn="r">
              <a:lnSpc>
                <a:spcPct val="100000"/>
              </a:lnSpc>
              <a:buNone/>
              <a:defRPr lang="en-IN" sz="1200" b="0" strike="noStrike" spc="-1">
                <a:solidFill>
                  <a:srgbClr val="000000"/>
                </a:solidFill>
                <a:latin typeface="Calibri"/>
              </a:defRPr>
            </a:lvl1pPr>
          </a:lstStyle>
          <a:p>
            <a:pPr indent="0" algn="r">
              <a:lnSpc>
                <a:spcPct val="100000"/>
              </a:lnSpc>
              <a:buNone/>
            </a:pPr>
            <a:fld id="{24383F6F-238F-4025-8A54-24A4BBBDB1C1}" type="datetime">
              <a:rPr lang="en-IN" sz="1200" b="0" strike="noStrike" spc="-1">
                <a:solidFill>
                  <a:srgbClr val="000000"/>
                </a:solidFill>
                <a:latin typeface="Calibri"/>
              </a:rPr>
              <a:t>11-08-2026</a:t>
            </a:fld>
            <a:endParaRPr lang="en-US" sz="1200" b="0" strike="noStrike" spc="-1">
              <a:solidFill>
                <a:srgbClr val="FFFFFF"/>
              </a:solidFill>
              <a:latin typeface="Times New Roman"/>
            </a:endParaRPr>
          </a:p>
        </p:txBody>
      </p:sp>
      <p:sp>
        <p:nvSpPr>
          <p:cNvPr id="85" name="PlaceHolder 3"/>
          <p:cNvSpPr>
            <a:spLocks noGrp="1" noRot="1" noChangeAspect="1"/>
          </p:cNvSpPr>
          <p:nvPr>
            <p:ph type="sldImg"/>
          </p:nvPr>
        </p:nvSpPr>
        <p:spPr>
          <a:xfrm>
            <a:off x="685800" y="1143000"/>
            <a:ext cx="5486400" cy="3085920"/>
          </a:xfrm>
          <a:prstGeom prst="rect">
            <a:avLst/>
          </a:prstGeom>
          <a:noFill/>
          <a:ln w="12600">
            <a:noFill/>
          </a:ln>
        </p:spPr>
        <p:txBody>
          <a:bodyPr lIns="0" tIns="0" rIns="0" bIns="0" anchor="ctr">
            <a:noAutofit/>
          </a:bodyPr>
          <a:lstStyle/>
          <a:p>
            <a:pPr indent="0" algn="ctr">
              <a:buNone/>
            </a:pPr>
            <a:r>
              <a:rPr lang="en-US" sz="4400" b="0" strike="noStrike" spc="-1">
                <a:solidFill>
                  <a:srgbClr val="FFFFFF"/>
                </a:solidFill>
                <a:latin typeface="Arial"/>
              </a:rPr>
              <a:t>Click to move the slide</a:t>
            </a:r>
          </a:p>
        </p:txBody>
      </p:sp>
      <p:sp>
        <p:nvSpPr>
          <p:cNvPr id="86" name="PlaceHolder 4"/>
          <p:cNvSpPr>
            <a:spLocks noGrp="1"/>
          </p:cNvSpPr>
          <p:nvPr>
            <p:ph type="body"/>
          </p:nvPr>
        </p:nvSpPr>
        <p:spPr>
          <a:xfrm>
            <a:off x="685800" y="4400640"/>
            <a:ext cx="5486400" cy="3600360"/>
          </a:xfrm>
          <a:prstGeom prst="rect">
            <a:avLst/>
          </a:prstGeom>
          <a:noFill/>
          <a:ln w="12600">
            <a:noFill/>
          </a:ln>
        </p:spPr>
        <p:txBody>
          <a:bodyPr lIns="91440" tIns="45720" rIns="91440" bIns="45720" anchor="t">
            <a:noAutofit/>
          </a:bodyPr>
          <a:lstStyle/>
          <a:p>
            <a:pPr indent="0">
              <a:lnSpc>
                <a:spcPct val="100000"/>
              </a:lnSpc>
              <a:buNone/>
            </a:pPr>
            <a:r>
              <a:rPr lang="en-US" sz="1200" b="0" strike="noStrike" spc="-1">
                <a:solidFill>
                  <a:srgbClr val="000000"/>
                </a:solidFill>
                <a:latin typeface="Calibri"/>
              </a:rPr>
              <a:t>Click to edit Master text styles</a:t>
            </a:r>
            <a:endParaRPr lang="en-US" sz="1200" b="0" strike="noStrike" spc="-1">
              <a:solidFill>
                <a:srgbClr val="FFFFFF"/>
              </a:solidFill>
              <a:latin typeface="Arial"/>
            </a:endParaRPr>
          </a:p>
          <a:p>
            <a:pPr marL="457200" lvl="1" indent="0">
              <a:lnSpc>
                <a:spcPct val="100000"/>
              </a:lnSpc>
            </a:pPr>
            <a:r>
              <a:rPr lang="en-US" sz="1200" b="0" strike="noStrike" spc="-1">
                <a:solidFill>
                  <a:srgbClr val="000000"/>
                </a:solidFill>
                <a:latin typeface="Calibri"/>
              </a:rPr>
              <a:t>Second level</a:t>
            </a:r>
            <a:endParaRPr lang="en-US" sz="1200" b="0" strike="noStrike" spc="-1">
              <a:solidFill>
                <a:srgbClr val="FFFFFF"/>
              </a:solidFill>
              <a:latin typeface="Arial"/>
            </a:endParaRPr>
          </a:p>
          <a:p>
            <a:pPr marL="914400" lvl="2" indent="0">
              <a:lnSpc>
                <a:spcPct val="100000"/>
              </a:lnSpc>
            </a:pPr>
            <a:r>
              <a:rPr lang="en-US" sz="1200" b="0" strike="noStrike" spc="-1">
                <a:solidFill>
                  <a:srgbClr val="000000"/>
                </a:solidFill>
                <a:latin typeface="Calibri"/>
              </a:rPr>
              <a:t>Third level</a:t>
            </a:r>
            <a:endParaRPr lang="en-US" sz="1200" b="0" strike="noStrike" spc="-1">
              <a:solidFill>
                <a:srgbClr val="FFFFFF"/>
              </a:solidFill>
              <a:latin typeface="Arial"/>
            </a:endParaRPr>
          </a:p>
          <a:p>
            <a:pPr marL="1371600" lvl="3" indent="0">
              <a:lnSpc>
                <a:spcPct val="100000"/>
              </a:lnSpc>
            </a:pPr>
            <a:r>
              <a:rPr lang="en-US" sz="1200" b="0" strike="noStrike" spc="-1">
                <a:solidFill>
                  <a:srgbClr val="000000"/>
                </a:solidFill>
                <a:latin typeface="Calibri"/>
              </a:rPr>
              <a:t>Fourth level</a:t>
            </a:r>
            <a:endParaRPr lang="en-US" sz="1200" b="0" strike="noStrike" spc="-1">
              <a:solidFill>
                <a:srgbClr val="FFFFFF"/>
              </a:solidFill>
              <a:latin typeface="Arial"/>
            </a:endParaRPr>
          </a:p>
          <a:p>
            <a:pPr marL="1828800" lvl="4" indent="0">
              <a:lnSpc>
                <a:spcPct val="100000"/>
              </a:lnSpc>
            </a:pPr>
            <a:r>
              <a:rPr lang="en-US" sz="1200" b="0" strike="noStrike" spc="-1">
                <a:solidFill>
                  <a:srgbClr val="000000"/>
                </a:solidFill>
                <a:latin typeface="Calibri"/>
              </a:rPr>
              <a:t>Fifth level</a:t>
            </a:r>
            <a:endParaRPr lang="en-US" sz="1200" b="0" strike="noStrike" spc="-1">
              <a:solidFill>
                <a:srgbClr val="FFFFFF"/>
              </a:solidFill>
              <a:latin typeface="Arial"/>
            </a:endParaRPr>
          </a:p>
        </p:txBody>
      </p:sp>
      <p:sp>
        <p:nvSpPr>
          <p:cNvPr id="87" name="PlaceHolder 5"/>
          <p:cNvSpPr>
            <a:spLocks noGrp="1"/>
          </p:cNvSpPr>
          <p:nvPr>
            <p:ph type="ftr" idx="2"/>
          </p:nvPr>
        </p:nvSpPr>
        <p:spPr>
          <a:xfrm>
            <a:off x="0" y="8685360"/>
            <a:ext cx="2971800" cy="458640"/>
          </a:xfrm>
          <a:prstGeom prst="rect">
            <a:avLst/>
          </a:prstGeom>
          <a:noFill/>
          <a:ln w="12600">
            <a:noFill/>
          </a:ln>
        </p:spPr>
        <p:txBody>
          <a:bodyPr lIns="91440" tIns="45720" rIns="91440" bIns="45720" anchor="b">
            <a:noAutofit/>
          </a:bodyPr>
          <a:lstStyle/>
          <a:p>
            <a:pPr indent="0">
              <a:buNone/>
            </a:pPr>
            <a:endParaRPr lang="en-US" sz="2400" b="0" strike="noStrike" spc="-1">
              <a:solidFill>
                <a:srgbClr val="FFFFFF"/>
              </a:solidFill>
              <a:latin typeface="Times New Roman"/>
            </a:endParaRPr>
          </a:p>
        </p:txBody>
      </p:sp>
      <p:sp>
        <p:nvSpPr>
          <p:cNvPr id="88" name="PlaceHolder 6"/>
          <p:cNvSpPr>
            <a:spLocks noGrp="1"/>
          </p:cNvSpPr>
          <p:nvPr>
            <p:ph type="sldNum" idx="3"/>
          </p:nvPr>
        </p:nvSpPr>
        <p:spPr>
          <a:xfrm>
            <a:off x="3884760" y="8685360"/>
            <a:ext cx="2971800" cy="458640"/>
          </a:xfrm>
          <a:prstGeom prst="rect">
            <a:avLst/>
          </a:prstGeom>
          <a:noFill/>
          <a:ln w="12600">
            <a:noFill/>
          </a:ln>
        </p:spPr>
        <p:txBody>
          <a:bodyPr lIns="91440" tIns="45720" rIns="91440" bIns="45720" anchor="b">
            <a:noAutofit/>
          </a:bodyPr>
          <a:lstStyle>
            <a:lvl1pPr indent="0" algn="r">
              <a:lnSpc>
                <a:spcPct val="100000"/>
              </a:lnSpc>
              <a:buNone/>
              <a:defRPr lang="en-IN" sz="1200" b="0" strike="noStrike" spc="-1">
                <a:solidFill>
                  <a:srgbClr val="000000"/>
                </a:solidFill>
                <a:latin typeface="Calibri"/>
              </a:defRPr>
            </a:lvl1pPr>
          </a:lstStyle>
          <a:p>
            <a:pPr indent="0" algn="r">
              <a:lnSpc>
                <a:spcPct val="100000"/>
              </a:lnSpc>
              <a:buNone/>
            </a:pPr>
            <a:fld id="{2FB7C3D9-E01C-4436-8EB3-DC90728C345B}" type="slidenum">
              <a:rPr lang="en-IN" sz="1200" b="0" strike="noStrike" spc="-1">
                <a:solidFill>
                  <a:srgbClr val="000000"/>
                </a:solidFill>
                <a:latin typeface="Calibri"/>
              </a:rPr>
              <a:t>‹#›</a:t>
            </a:fld>
            <a:endParaRPr lang="en-U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noRot="1" noChangeAspect="1"/>
          </p:cNvSpPr>
          <p:nvPr>
            <p:ph type="sldImg"/>
          </p:nvPr>
        </p:nvSpPr>
        <p:spPr>
          <a:xfrm>
            <a:off x="685800" y="1143000"/>
            <a:ext cx="5486400" cy="3086100"/>
          </a:xfrm>
          <a:prstGeom prst="rect">
            <a:avLst/>
          </a:prstGeom>
          <a:ln w="0">
            <a:noFill/>
          </a:ln>
        </p:spPr>
      </p:sp>
      <p:sp>
        <p:nvSpPr>
          <p:cNvPr id="103" name="PlaceHolder 2"/>
          <p:cNvSpPr>
            <a:spLocks noGrp="1"/>
          </p:cNvSpPr>
          <p:nvPr>
            <p:ph type="body"/>
          </p:nvPr>
        </p:nvSpPr>
        <p:spPr>
          <a:xfrm>
            <a:off x="685800" y="4400640"/>
            <a:ext cx="5486400" cy="3600360"/>
          </a:xfrm>
          <a:prstGeom prst="rect">
            <a:avLst/>
          </a:prstGeom>
          <a:noFill/>
          <a:ln w="12600">
            <a:noFill/>
          </a:ln>
        </p:spPr>
        <p:txBody>
          <a:bodyPr lIns="91440" tIns="45720" rIns="91440" bIns="45720" anchor="t">
            <a:noAutofit/>
          </a:bodyPr>
          <a:lstStyle/>
          <a:p>
            <a:pPr marL="216000" indent="-216000">
              <a:buNone/>
            </a:pPr>
            <a:endParaRPr lang="en-US" sz="2000" b="0" strike="noStrike" spc="-1">
              <a:solidFill>
                <a:srgbClr val="FFFFFF"/>
              </a:solidFill>
              <a:latin typeface="Arial"/>
            </a:endParaRPr>
          </a:p>
        </p:txBody>
      </p:sp>
      <p:sp>
        <p:nvSpPr>
          <p:cNvPr id="104" name="PlaceHolder 3"/>
          <p:cNvSpPr>
            <a:spLocks noGrp="1"/>
          </p:cNvSpPr>
          <p:nvPr>
            <p:ph type="sldNum" idx="4"/>
          </p:nvPr>
        </p:nvSpPr>
        <p:spPr>
          <a:xfrm>
            <a:off x="3884760" y="8685360"/>
            <a:ext cx="2971800" cy="458640"/>
          </a:xfrm>
          <a:prstGeom prst="rect">
            <a:avLst/>
          </a:prstGeom>
          <a:noFill/>
          <a:ln w="12600">
            <a:noFill/>
          </a:ln>
        </p:spPr>
        <p:txBody>
          <a:bodyPr lIns="91440" tIns="45720" rIns="91440" bIns="45720" anchor="b">
            <a:noAutofit/>
          </a:bodyPr>
          <a:lstStyle>
            <a:lvl1pPr indent="0" algn="r">
              <a:lnSpc>
                <a:spcPct val="100000"/>
              </a:lnSpc>
              <a:buNone/>
              <a:defRPr lang="en-IN" sz="1200" b="0" strike="noStrike" spc="-1">
                <a:solidFill>
                  <a:srgbClr val="000000"/>
                </a:solidFill>
                <a:latin typeface="Calibri"/>
              </a:defRPr>
            </a:lvl1pPr>
          </a:lstStyle>
          <a:p>
            <a:pPr indent="0" algn="r">
              <a:lnSpc>
                <a:spcPct val="100000"/>
              </a:lnSpc>
              <a:buNone/>
            </a:pPr>
            <a:fld id="{44F49C98-9011-42F0-9737-42C150D5834B}" type="slidenum">
              <a:rPr lang="en-IN" sz="1200" b="0" strike="noStrike" spc="-1">
                <a:solidFill>
                  <a:srgbClr val="000000"/>
                </a:solidFill>
                <a:latin typeface="Calibri"/>
              </a:rPr>
              <a:t>5</a:t>
            </a:fld>
            <a:endParaRPr lang="en-US" sz="1200" b="0" strike="noStrike" spc="-1">
              <a:solidFill>
                <a:srgbClr val="FFFFFF"/>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Master1-BIA-Template">
    <p:spTree>
      <p:nvGrpSpPr>
        <p:cNvPr id="1" name=""/>
        <p:cNvGrpSpPr/>
        <p:nvPr/>
      </p:nvGrpSpPr>
      <p:grpSpPr>
        <a:xfrm>
          <a:off x="0" y="0"/>
          <a:ext cx="0" cy="0"/>
          <a:chOff x="0" y="0"/>
          <a:chExt cx="0" cy="0"/>
        </a:xfrm>
      </p:grpSpPr>
      <p:sp>
        <p:nvSpPr>
          <p:cNvPr id="4"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Master1-Layout2-cust-Title-and-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Master1-Layout2-cust-Title-and-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6" name="PlaceHolder 2"/>
          <p:cNvSpPr>
            <a:spLocks noGrp="1"/>
          </p:cNvSpPr>
          <p:nvPr>
            <p:ph/>
          </p:nvPr>
        </p:nvSpPr>
        <p:spPr>
          <a:xfrm>
            <a:off x="609480" y="1604520"/>
            <a:ext cx="10972440" cy="3977280"/>
          </a:xfrm>
          <a:prstGeom prst="rect">
            <a:avLst/>
          </a:prstGeom>
          <a:noFill/>
          <a:ln w="1260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Master1-Layout3-cust-One-Third">
    <p:spTree>
      <p:nvGrpSpPr>
        <p:cNvPr id="1" name=""/>
        <p:cNvGrpSpPr/>
        <p:nvPr/>
      </p:nvGrpSpPr>
      <p:grpSpPr>
        <a:xfrm>
          <a:off x="0" y="0"/>
          <a:ext cx="0" cy="0"/>
          <a:chOff x="0" y="0"/>
          <a:chExt cx="0" cy="0"/>
        </a:xfrm>
      </p:grpSpPr>
      <p:sp>
        <p:nvSpPr>
          <p:cNvPr id="20"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Master1-Layout4-cust-1_One-Third">
    <p:spTree>
      <p:nvGrpSpPr>
        <p:cNvPr id="1" name=""/>
        <p:cNvGrpSpPr/>
        <p:nvPr/>
      </p:nvGrpSpPr>
      <p:grpSpPr>
        <a:xfrm>
          <a:off x="0" y="0"/>
          <a:ext cx="0" cy="0"/>
          <a:chOff x="0" y="0"/>
          <a:chExt cx="0" cy="0"/>
        </a:xfrm>
      </p:grpSpPr>
      <p:sp>
        <p:nvSpPr>
          <p:cNvPr id="25"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Master1-Layout7-cust-4_One-Third">
    <p:spTree>
      <p:nvGrpSpPr>
        <p:cNvPr id="1" name=""/>
        <p:cNvGrpSpPr/>
        <p:nvPr/>
      </p:nvGrpSpPr>
      <p:grpSpPr>
        <a:xfrm>
          <a:off x="0" y="0"/>
          <a:ext cx="0" cy="0"/>
          <a:chOff x="0" y="0"/>
          <a:chExt cx="0" cy="0"/>
        </a:xfrm>
      </p:grpSpPr>
      <p:sp>
        <p:nvSpPr>
          <p:cNvPr id="47"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Master1-Layout8-cust-3_One-Third">
    <p:spTree>
      <p:nvGrpSpPr>
        <p:cNvPr id="1" name=""/>
        <p:cNvGrpSpPr/>
        <p:nvPr/>
      </p:nvGrpSpPr>
      <p:grpSpPr>
        <a:xfrm>
          <a:off x="0" y="0"/>
          <a:ext cx="0" cy="0"/>
          <a:chOff x="0" y="0"/>
          <a:chExt cx="0" cy="0"/>
        </a:xfrm>
      </p:grpSpPr>
      <p:sp>
        <p:nvSpPr>
          <p:cNvPr id="53"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Master1-Layout9-cust-Section-Header">
    <p:spTree>
      <p:nvGrpSpPr>
        <p:cNvPr id="1" name=""/>
        <p:cNvGrpSpPr/>
        <p:nvPr/>
      </p:nvGrpSpPr>
      <p:grpSpPr>
        <a:xfrm>
          <a:off x="0" y="0"/>
          <a:ext cx="0" cy="0"/>
          <a:chOff x="0" y="0"/>
          <a:chExt cx="0" cy="0"/>
        </a:xfrm>
      </p:grpSpPr>
      <p:sp>
        <p:nvSpPr>
          <p:cNvPr id="56"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Master1-Layout9-cust-Section-Header">
    <p:spTree>
      <p:nvGrpSpPr>
        <p:cNvPr id="1" name=""/>
        <p:cNvGrpSpPr/>
        <p:nvPr/>
      </p:nvGrpSpPr>
      <p:grpSpPr>
        <a:xfrm>
          <a:off x="0" y="0"/>
          <a:ext cx="0" cy="0"/>
          <a:chOff x="0" y="0"/>
          <a:chExt cx="0" cy="0"/>
        </a:xfrm>
      </p:grpSpPr>
      <p:sp>
        <p:nvSpPr>
          <p:cNvPr id="57"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8" name="PlaceHolder 2"/>
          <p:cNvSpPr>
            <a:spLocks noGrp="1"/>
          </p:cNvSpPr>
          <p:nvPr>
            <p:ph/>
          </p:nvPr>
        </p:nvSpPr>
        <p:spPr>
          <a:xfrm>
            <a:off x="609480" y="1604520"/>
            <a:ext cx="10972440" cy="3977280"/>
          </a:xfrm>
          <a:prstGeom prst="rect">
            <a:avLst/>
          </a:prstGeom>
          <a:noFill/>
          <a:ln w="1260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Master1-Layout10-cust-Two-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Master1-Layout11-cust-Comparison">
    <p:spTree>
      <p:nvGrpSpPr>
        <p:cNvPr id="1" name=""/>
        <p:cNvGrpSpPr/>
        <p:nvPr/>
      </p:nvGrpSpPr>
      <p:grpSpPr>
        <a:xfrm>
          <a:off x="0" y="0"/>
          <a:ext cx="0" cy="0"/>
          <a:chOff x="0" y="0"/>
          <a:chExt cx="0" cy="0"/>
        </a:xfrm>
      </p:grpSpPr>
      <p:sp>
        <p:nvSpPr>
          <p:cNvPr id="68"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Master1-Layout12-cust-Title-Only">
    <p:spTree>
      <p:nvGrpSpPr>
        <p:cNvPr id="1" name=""/>
        <p:cNvGrpSpPr/>
        <p:nvPr/>
      </p:nvGrpSpPr>
      <p:grpSpPr>
        <a:xfrm>
          <a:off x="0" y="0"/>
          <a:ext cx="0" cy="0"/>
          <a:chOff x="0" y="0"/>
          <a:chExt cx="0" cy="0"/>
        </a:xfrm>
      </p:grpSpPr>
      <p:sp>
        <p:nvSpPr>
          <p:cNvPr id="70"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Master1-Layout13-blank-Blank">
    <p:spTree>
      <p:nvGrpSpPr>
        <p:cNvPr id="1" name=""/>
        <p:cNvGrpSpPr/>
        <p:nvPr/>
      </p:nvGrpSpPr>
      <p:grpSpPr>
        <a:xfrm>
          <a:off x="0" y="0"/>
          <a:ext cx="0" cy="0"/>
          <a:chOff x="0" y="0"/>
          <a:chExt cx="0" cy="0"/>
        </a:xfrm>
      </p:grpSpPr>
      <p:sp>
        <p:nvSpPr>
          <p:cNvPr id="71"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Master1-Layout14-cust-Content-with-Caption">
    <p:spTree>
      <p:nvGrpSpPr>
        <p:cNvPr id="1" name=""/>
        <p:cNvGrpSpPr/>
        <p:nvPr/>
      </p:nvGrpSpPr>
      <p:grpSpPr>
        <a:xfrm>
          <a:off x="0" y="0"/>
          <a:ext cx="0" cy="0"/>
          <a:chOff x="0" y="0"/>
          <a:chExt cx="0" cy="0"/>
        </a:xfrm>
      </p:grpSpPr>
      <p:sp>
        <p:nvSpPr>
          <p:cNvPr id="75"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Master1-Layout15-cust-Title-and-Vertical-Text">
    <p:spTree>
      <p:nvGrpSpPr>
        <p:cNvPr id="1" name=""/>
        <p:cNvGrpSpPr/>
        <p:nvPr/>
      </p:nvGrpSpPr>
      <p:grpSpPr>
        <a:xfrm>
          <a:off x="0" y="0"/>
          <a:ext cx="0" cy="0"/>
          <a:chOff x="0" y="0"/>
          <a:chExt cx="0" cy="0"/>
        </a:xfrm>
      </p:grpSpPr>
      <p:sp>
        <p:nvSpPr>
          <p:cNvPr id="78" name="PlaceHolder 1"/>
          <p:cNvSpPr>
            <a:spLocks noGrp="1"/>
          </p:cNvSpPr>
          <p:nvPr>
            <p:ph type="title"/>
          </p:nvPr>
        </p:nvSpPr>
        <p:spPr>
          <a:xfrm>
            <a:off x="-21600" y="4461480"/>
            <a:ext cx="2628720" cy="12213720"/>
          </a:xfrm>
          <a:prstGeom prst="rect">
            <a:avLst/>
          </a:prstGeom>
          <a:noFill/>
          <a:ln w="1260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0.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1.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3.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4.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Click to edit Master title style</a:t>
            </a:r>
            <a:endParaRPr lang="en-US" sz="3400" b="0" strike="noStrike" spc="-1">
              <a:solidFill>
                <a:srgbClr val="000000"/>
              </a:solidFill>
              <a:latin typeface="Arial"/>
            </a:endParaRPr>
          </a:p>
        </p:txBody>
      </p:sp>
      <p:sp>
        <p:nvSpPr>
          <p:cNvPr id="5" name="PlaceHolder 2"/>
          <p:cNvSpPr>
            <a:spLocks noGrp="1"/>
          </p:cNvSpPr>
          <p:nvPr>
            <p:ph type="body"/>
          </p:nvPr>
        </p:nvSpPr>
        <p:spPr>
          <a:xfrm>
            <a:off x="678960" y="1659960"/>
            <a:ext cx="10834200" cy="439812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SzPct val="45000"/>
              <a:buFont typeface="Wingdings" charset="2"/>
              <a:buChar char=""/>
            </a:pPr>
            <a:r>
              <a:rPr lang="en-US" sz="2800" b="0" strike="noStrike" spc="-1">
                <a:solidFill>
                  <a:srgbClr val="181717"/>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SzPct val="75000"/>
              <a:buFont typeface="Symbol" charset="2"/>
              <a:buChar char=""/>
            </a:pPr>
            <a:r>
              <a:rPr lang="en-US" sz="2400" b="0" strike="noStrike" spc="-1">
                <a:solidFill>
                  <a:srgbClr val="181717"/>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SzPct val="45000"/>
              <a:buFont typeface="Wingdings" charset="2"/>
              <a:buChar char=""/>
            </a:pPr>
            <a:r>
              <a:rPr lang="en-US" sz="2000" b="0" strike="noStrike" spc="-1">
                <a:solidFill>
                  <a:srgbClr val="181717"/>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SzPct val="75000"/>
              <a:buFont typeface="Symbol" charset="2"/>
              <a:buChar char=""/>
            </a:pPr>
            <a:r>
              <a:rPr lang="en-US" sz="1800" b="0" strike="noStrike" spc="-1">
                <a:solidFill>
                  <a:srgbClr val="181717"/>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SzPct val="45000"/>
              <a:buFont typeface="Wingdings" charset="2"/>
              <a:buChar char=""/>
            </a:pPr>
            <a:r>
              <a:rPr lang="en-US" sz="1800" b="0" strike="noStrike" spc="-1">
                <a:solidFill>
                  <a:srgbClr val="181717"/>
                </a:solidFill>
                <a:latin typeface="Calibri"/>
              </a:rPr>
              <a:t>Fifth level</a:t>
            </a:r>
            <a:endParaRPr lang="en-US" sz="1800" b="0" strike="noStrike" spc="-1">
              <a:solidFill>
                <a:srgbClr val="000000"/>
              </a:solidFill>
              <a:latin typeface="Arial"/>
            </a:endParaRPr>
          </a:p>
        </p:txBody>
      </p:sp>
      <p:pic>
        <p:nvPicPr>
          <p:cNvPr id="2" name="Picture 4" descr="Top Ranked Data Science Institute, Classroom Plus Online Training | Boston  Institute of Analytics"/>
          <p:cNvPicPr/>
          <p:nvPr/>
        </p:nvPicPr>
        <p:blipFill>
          <a:blip r:embed="rId3"/>
          <a:srcRect l="4000" r="3107"/>
          <a:stretch/>
        </p:blipFill>
        <p:spPr>
          <a:xfrm>
            <a:off x="9493920" y="6115320"/>
            <a:ext cx="2019240" cy="549000"/>
          </a:xfrm>
          <a:prstGeom prst="rect">
            <a:avLst/>
          </a:prstGeom>
          <a:ln w="12600">
            <a:noFill/>
          </a:ln>
        </p:spPr>
      </p:pic>
      <p:sp>
        <p:nvSpPr>
          <p:cNvPr id="3" name="Rectangle 3"/>
          <p:cNvSpPr/>
          <p:nvPr/>
        </p:nvSpPr>
        <p:spPr>
          <a:xfrm>
            <a:off x="678960" y="6207480"/>
            <a:ext cx="7474680" cy="3650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1100" b="1" strike="noStrike" spc="-1">
                <a:solidFill>
                  <a:srgbClr val="AFABAB"/>
                </a:solidFill>
                <a:latin typeface="Calibri"/>
              </a:rPr>
              <a:t>CONFIDENTIAL</a:t>
            </a:r>
            <a:r>
              <a:rPr lang="en-US" sz="1100" b="0" strike="noStrike" spc="-1">
                <a:solidFill>
                  <a:srgbClr val="AFABAB"/>
                </a:solidFill>
                <a:latin typeface="Calibri"/>
              </a:rPr>
              <a:t>: The information in this document belongs to Boston Institute of Analytics LLC. Any unauthorized sharing of this material is prohibited and subject to legal action under breach of IP and confidentiality clauses. </a:t>
            </a:r>
            <a:endParaRPr lang="en-US" sz="11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Click to edit Master title style</a:t>
            </a:r>
            <a:endParaRPr lang="en-US" sz="3400" b="0" strike="noStrike" spc="-1">
              <a:solidFill>
                <a:srgbClr val="000000"/>
              </a:solidFill>
              <a:latin typeface="Arial"/>
            </a:endParaRPr>
          </a:p>
        </p:txBody>
      </p:sp>
      <p:sp>
        <p:nvSpPr>
          <p:cNvPr id="12" name="PlaceHolder 2"/>
          <p:cNvSpPr>
            <a:spLocks noGrp="1"/>
          </p:cNvSpPr>
          <p:nvPr>
            <p:ph type="title"/>
          </p:nvPr>
        </p:nvSpPr>
        <p:spPr>
          <a:xfrm>
            <a:off x="678960" y="1675080"/>
            <a:ext cx="10834200" cy="439812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Font typeface="Arial"/>
              <a:buChar char="•"/>
            </a:pPr>
            <a:r>
              <a:rPr lang="en-US" sz="2800" b="0" strike="noStrike" spc="-1">
                <a:solidFill>
                  <a:srgbClr val="181717"/>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181717"/>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000" b="0" strike="noStrike" spc="-1">
                <a:solidFill>
                  <a:srgbClr val="181717"/>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800" b="0" strike="noStrike" spc="-1">
                <a:solidFill>
                  <a:srgbClr val="181717"/>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800" b="0" strike="noStrike" spc="-1">
                <a:solidFill>
                  <a:srgbClr val="181717"/>
                </a:solidFill>
                <a:latin typeface="Calibri"/>
              </a:rPr>
              <a:t>Fifth level</a:t>
            </a:r>
            <a:endParaRPr lang="en-US" sz="1800" b="0" strike="noStrike" spc="-1">
              <a:solidFill>
                <a:srgbClr val="000000"/>
              </a:solidFill>
              <a:latin typeface="Arial"/>
            </a:endParaRPr>
          </a:p>
        </p:txBody>
      </p:sp>
      <p:sp>
        <p:nvSpPr>
          <p:cNvPr id="13" name="PlaceHolder 3"/>
          <p:cNvSpPr>
            <a:spLocks noGrp="1"/>
          </p:cNvSpPr>
          <p:nvPr>
            <p:ph type="body"/>
          </p:nvPr>
        </p:nvSpPr>
        <p:spPr>
          <a:xfrm>
            <a:off x="609480" y="1604520"/>
            <a:ext cx="10972440" cy="3977280"/>
          </a:xfrm>
          <a:prstGeom prst="rect">
            <a:avLst/>
          </a:prstGeom>
          <a:noFill/>
          <a:ln w="1260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455360" y="603720"/>
            <a:ext cx="7057800" cy="545436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Font typeface="Arial"/>
              <a:buChar char="•"/>
            </a:pPr>
            <a:r>
              <a:rPr lang="en-US" sz="2800" b="0" strike="noStrike" spc="-1">
                <a:solidFill>
                  <a:srgbClr val="181717"/>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181717"/>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000" b="0" strike="noStrike" spc="-1">
                <a:solidFill>
                  <a:srgbClr val="181717"/>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800" b="0" strike="noStrike" spc="-1">
                <a:solidFill>
                  <a:srgbClr val="181717"/>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800" b="0" strike="noStrike" spc="-1">
                <a:solidFill>
                  <a:srgbClr val="181717"/>
                </a:solidFill>
                <a:latin typeface="Calibri"/>
              </a:rPr>
              <a:t>Fifth level</a:t>
            </a:r>
            <a:endParaRPr lang="en-US" sz="1800" b="0" strike="noStrike" spc="-1">
              <a:solidFill>
                <a:srgbClr val="000000"/>
              </a:solidFill>
              <a:latin typeface="Arial"/>
            </a:endParaRPr>
          </a:p>
        </p:txBody>
      </p:sp>
      <p:sp>
        <p:nvSpPr>
          <p:cNvPr id="18" name="Rectangle 5"/>
          <p:cNvSpPr/>
          <p:nvPr/>
        </p:nvSpPr>
        <p:spPr>
          <a:xfrm>
            <a:off x="0" y="0"/>
            <a:ext cx="4114800" cy="6858000"/>
          </a:xfrm>
          <a:custGeom>
            <a:avLst/>
            <a:gdLst/>
            <a:ahLst/>
            <a:cxnLst/>
            <a:rect l="l" t="t" r="r" b="b"/>
            <a:pathLst>
              <a:path w="21600" h="21600">
                <a:moveTo>
                  <a:pt x="0" y="0"/>
                </a:moveTo>
                <a:lnTo>
                  <a:pt x="21600" y="0"/>
                </a:lnTo>
                <a:lnTo>
                  <a:pt x="21600" y="21600"/>
                </a:lnTo>
                <a:lnTo>
                  <a:pt x="0" y="21600"/>
                </a:lnTo>
                <a:close/>
              </a:path>
            </a:pathLst>
          </a:custGeom>
          <a:solidFill>
            <a:srgbClr val="1D1B58"/>
          </a:solidFill>
          <a:ln w="12600">
            <a:solidFill>
              <a:srgbClr val="1D1B58"/>
            </a:solidFill>
            <a:miter/>
          </a:ln>
        </p:spPr>
        <p:style>
          <a:lnRef idx="0">
            <a:scrgbClr r="0" g="0" b="0"/>
          </a:lnRef>
          <a:fillRef idx="0">
            <a:scrgbClr r="0" g="0" b="0"/>
          </a:fillRef>
          <a:effectRef idx="0">
            <a:scrgbClr r="0" g="0" b="0"/>
          </a:effectRef>
          <a:fontRef idx="minor"/>
        </p:style>
        <p:txBody>
          <a:bodyPr anchor="ctr" anchorCtr="1">
            <a:noAutofit/>
          </a:bodyPr>
          <a:lstStyle/>
          <a:p>
            <a:endParaRPr lang="en-US" sz="1800" b="0" strike="noStrike" spc="-1">
              <a:solidFill>
                <a:srgbClr val="FFFFFF"/>
              </a:solidFill>
              <a:latin typeface="Arial"/>
            </a:endParaRPr>
          </a:p>
        </p:txBody>
      </p:sp>
      <p:sp>
        <p:nvSpPr>
          <p:cNvPr id="19" name="PlaceHolder 2"/>
          <p:cNvSpPr>
            <a:spLocks noGrp="1"/>
          </p:cNvSpPr>
          <p:nvPr>
            <p:ph type="title"/>
          </p:nvPr>
        </p:nvSpPr>
        <p:spPr>
          <a:xfrm>
            <a:off x="838080" y="2049840"/>
            <a:ext cx="2743200" cy="25621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FFFFFF"/>
                </a:solidFill>
                <a:latin typeface="Calibri"/>
              </a:rPr>
              <a:t>Click to edit Master title style</a:t>
            </a:r>
            <a:endParaRPr lang="en-US" sz="34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678960" y="603720"/>
            <a:ext cx="705528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Click to edit Master title style</a:t>
            </a:r>
            <a:endParaRPr lang="en-US" sz="3400" b="0" strike="noStrike" spc="-1">
              <a:solidFill>
                <a:srgbClr val="000000"/>
              </a:solidFill>
              <a:latin typeface="Arial"/>
            </a:endParaRPr>
          </a:p>
        </p:txBody>
      </p:sp>
      <p:sp>
        <p:nvSpPr>
          <p:cNvPr id="22" name="PlaceHolder 2"/>
          <p:cNvSpPr>
            <a:spLocks noGrp="1"/>
          </p:cNvSpPr>
          <p:nvPr>
            <p:ph type="title"/>
          </p:nvPr>
        </p:nvSpPr>
        <p:spPr>
          <a:xfrm>
            <a:off x="678960" y="1659960"/>
            <a:ext cx="7055280" cy="439812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Font typeface="Arial"/>
              <a:buChar char="•"/>
            </a:pPr>
            <a:r>
              <a:rPr lang="en-US" sz="2800" b="0" strike="noStrike" spc="-1">
                <a:solidFill>
                  <a:srgbClr val="181717"/>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181717"/>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000" b="0" strike="noStrike" spc="-1">
                <a:solidFill>
                  <a:srgbClr val="181717"/>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800" b="0" strike="noStrike" spc="-1">
                <a:solidFill>
                  <a:srgbClr val="181717"/>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800" b="0" strike="noStrike" spc="-1">
                <a:solidFill>
                  <a:srgbClr val="181717"/>
                </a:solidFill>
                <a:latin typeface="Calibri"/>
              </a:rPr>
              <a:t>Fifth level</a:t>
            </a:r>
            <a:endParaRPr lang="en-US" sz="1800" b="0" strike="noStrike" spc="-1">
              <a:solidFill>
                <a:srgbClr val="000000"/>
              </a:solidFill>
              <a:latin typeface="Arial"/>
            </a:endParaRPr>
          </a:p>
        </p:txBody>
      </p:sp>
      <p:sp>
        <p:nvSpPr>
          <p:cNvPr id="23" name="Rectangle 5"/>
          <p:cNvSpPr/>
          <p:nvPr/>
        </p:nvSpPr>
        <p:spPr>
          <a:xfrm>
            <a:off x="8077320" y="0"/>
            <a:ext cx="4114800" cy="6858000"/>
          </a:xfrm>
          <a:custGeom>
            <a:avLst/>
            <a:gdLst/>
            <a:ahLst/>
            <a:cxnLst/>
            <a:rect l="l" t="t" r="r" b="b"/>
            <a:pathLst>
              <a:path w="21600" h="21600">
                <a:moveTo>
                  <a:pt x="0" y="0"/>
                </a:moveTo>
                <a:lnTo>
                  <a:pt x="21600" y="0"/>
                </a:lnTo>
                <a:lnTo>
                  <a:pt x="21600" y="21600"/>
                </a:lnTo>
                <a:lnTo>
                  <a:pt x="0" y="21600"/>
                </a:lnTo>
                <a:close/>
              </a:path>
            </a:pathLst>
          </a:custGeom>
          <a:solidFill>
            <a:srgbClr val="1D1B58"/>
          </a:solidFill>
          <a:ln w="12600">
            <a:solidFill>
              <a:srgbClr val="1D1B58"/>
            </a:solidFill>
            <a:miter/>
          </a:ln>
        </p:spPr>
        <p:style>
          <a:lnRef idx="0">
            <a:scrgbClr r="0" g="0" b="0"/>
          </a:lnRef>
          <a:fillRef idx="0">
            <a:scrgbClr r="0" g="0" b="0"/>
          </a:fillRef>
          <a:effectRef idx="0">
            <a:scrgbClr r="0" g="0" b="0"/>
          </a:effectRef>
          <a:fontRef idx="minor"/>
        </p:style>
        <p:txBody>
          <a:bodyPr anchor="ctr" anchorCtr="1">
            <a:noAutofit/>
          </a:bodyPr>
          <a:lstStyle/>
          <a:p>
            <a:endParaRPr lang="en-US" sz="1800" b="0" strike="noStrike" spc="-1">
              <a:solidFill>
                <a:srgbClr val="FFFFFF"/>
              </a:solidFill>
              <a:latin typeface="Arial"/>
            </a:endParaRPr>
          </a:p>
        </p:txBody>
      </p:sp>
      <p:pic>
        <p:nvPicPr>
          <p:cNvPr id="24" name="Picture 6"/>
          <p:cNvPicPr/>
          <p:nvPr/>
        </p:nvPicPr>
        <p:blipFill>
          <a:blip r:embed="rId3"/>
          <a:stretch/>
        </p:blipFill>
        <p:spPr>
          <a:xfrm>
            <a:off x="9507240" y="6119640"/>
            <a:ext cx="1958040" cy="540360"/>
          </a:xfrm>
          <a:prstGeom prst="rect">
            <a:avLst/>
          </a:prstGeom>
          <a:ln w="12600">
            <a:noFill/>
          </a:ln>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Title 1"/>
          <p:cNvSpPr txBox="1"/>
          <p:nvPr/>
        </p:nvSpPr>
        <p:spPr>
          <a:xfrm>
            <a:off x="838080" y="3122640"/>
            <a:ext cx="2819520" cy="612720"/>
          </a:xfrm>
          <a:prstGeom prst="rect">
            <a:avLst/>
          </a:prstGeom>
          <a:noFill/>
          <a:ln w="0">
            <a:noFill/>
          </a:ln>
        </p:spPr>
        <p:txBody>
          <a:bodyPr anchor="ctr">
            <a:noAutofit/>
          </a:bodyPr>
          <a:lstStyle/>
          <a:p>
            <a:pPr>
              <a:lnSpc>
                <a:spcPct val="90000"/>
              </a:lnSpc>
            </a:pPr>
            <a:r>
              <a:rPr lang="en-US" sz="3400" b="1" strike="noStrike" spc="-1">
                <a:solidFill>
                  <a:srgbClr val="1D1B58"/>
                </a:solidFill>
                <a:latin typeface="Calibri"/>
              </a:rPr>
              <a:t>Click to edit Master title style</a:t>
            </a:r>
            <a:endParaRPr lang="en-US" sz="3400" b="0" strike="noStrike" spc="-1">
              <a:solidFill>
                <a:srgbClr val="000000"/>
              </a:solidFill>
              <a:latin typeface="Arial"/>
            </a:endParaRPr>
          </a:p>
        </p:txBody>
      </p:sp>
      <p:sp>
        <p:nvSpPr>
          <p:cNvPr id="43" name="Freeform: Shape 12"/>
          <p:cNvSpPr/>
          <p:nvPr/>
        </p:nvSpPr>
        <p:spPr>
          <a:xfrm>
            <a:off x="3454560" y="0"/>
            <a:ext cx="8737560" cy="6858000"/>
          </a:xfrm>
          <a:custGeom>
            <a:avLst/>
            <a:gdLst>
              <a:gd name="textAreaLeft" fmla="*/ 0 w 8737560"/>
              <a:gd name="textAreaRight" fmla="*/ 8737920 w 8737560"/>
              <a:gd name="textAreaTop" fmla="*/ 0 h 6858000"/>
              <a:gd name="textAreaBottom" fmla="*/ 6858360 h 6858000"/>
            </a:gdLst>
            <a:ahLst/>
            <a:cxnLst/>
            <a:rect l="textAreaLeft" t="textAreaTop" r="textAreaRight" b="textAreaBottom"/>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w="0">
            <a:noFill/>
          </a:ln>
        </p:spPr>
        <p:style>
          <a:lnRef idx="0">
            <a:scrgbClr r="0" g="0" b="0"/>
          </a:lnRef>
          <a:fillRef idx="0">
            <a:scrgbClr r="0" g="0" b="0"/>
          </a:fillRef>
          <a:effectRef idx="0">
            <a:scrgbClr r="0" g="0" b="0"/>
          </a:effectRef>
          <a:fontRef idx="minor"/>
        </p:style>
        <p:txBody>
          <a:bodyPr anchor="ctr" anchorCtr="1">
            <a:noAutofit/>
          </a:bodyPr>
          <a:lstStyle/>
          <a:p>
            <a:endParaRPr lang="en-US" sz="1800" b="0" strike="noStrike" spc="-1">
              <a:solidFill>
                <a:srgbClr val="FFFFFF"/>
              </a:solidFill>
              <a:latin typeface="Arial"/>
            </a:endParaRPr>
          </a:p>
        </p:txBody>
      </p:sp>
      <p:sp>
        <p:nvSpPr>
          <p:cNvPr id="44" name="PlaceHolder 1"/>
          <p:cNvSpPr>
            <a:spLocks noGrp="1"/>
          </p:cNvSpPr>
          <p:nvPr>
            <p:ph type="title"/>
          </p:nvPr>
        </p:nvSpPr>
        <p:spPr>
          <a:xfrm>
            <a:off x="4455360" y="603720"/>
            <a:ext cx="70578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FFFFFF"/>
                </a:solidFill>
                <a:latin typeface="Calibri"/>
              </a:rPr>
              <a:t>Click to edit Master title style</a:t>
            </a:r>
            <a:endParaRPr lang="en-US" sz="3400" b="0" strike="noStrike" spc="-1">
              <a:solidFill>
                <a:srgbClr val="000000"/>
              </a:solidFill>
              <a:latin typeface="Arial"/>
            </a:endParaRPr>
          </a:p>
        </p:txBody>
      </p:sp>
      <p:sp>
        <p:nvSpPr>
          <p:cNvPr id="45" name="PlaceHolder 2"/>
          <p:cNvSpPr>
            <a:spLocks noGrp="1"/>
          </p:cNvSpPr>
          <p:nvPr>
            <p:ph type="title"/>
          </p:nvPr>
        </p:nvSpPr>
        <p:spPr>
          <a:xfrm>
            <a:off x="4455360" y="1659960"/>
            <a:ext cx="7057800" cy="439812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Font typeface="Arial"/>
              <a:buChar char="•"/>
            </a:pPr>
            <a:r>
              <a:rPr lang="en-US" sz="2800" b="0" strike="noStrike" spc="-1">
                <a:solidFill>
                  <a:srgbClr val="FFFFFF"/>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FFFFFF"/>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000" b="0" strike="noStrike" spc="-1">
                <a:solidFill>
                  <a:srgbClr val="FFFFFF"/>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800" b="0" strike="noStrike" spc="-1">
                <a:solidFill>
                  <a:srgbClr val="FFFFFF"/>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800" b="0" strike="noStrike" spc="-1">
                <a:solidFill>
                  <a:srgbClr val="FFFFFF"/>
                </a:solidFill>
                <a:latin typeface="Calibri"/>
              </a:rPr>
              <a:t>Fifth level</a:t>
            </a:r>
            <a:endParaRPr lang="en-US" sz="1800" b="0" strike="noStrike" spc="-1">
              <a:solidFill>
                <a:srgbClr val="000000"/>
              </a:solidFill>
              <a:latin typeface="Arial"/>
            </a:endParaRPr>
          </a:p>
        </p:txBody>
      </p:sp>
      <p:pic>
        <p:nvPicPr>
          <p:cNvPr id="46" name="Picture 3"/>
          <p:cNvPicPr/>
          <p:nvPr/>
        </p:nvPicPr>
        <p:blipFill>
          <a:blip r:embed="rId3"/>
          <a:stretch/>
        </p:blipFill>
        <p:spPr>
          <a:xfrm>
            <a:off x="9507240" y="6119640"/>
            <a:ext cx="1958040" cy="540360"/>
          </a:xfrm>
          <a:prstGeom prst="rect">
            <a:avLst/>
          </a:prstGeom>
          <a:ln w="12600">
            <a:noFill/>
          </a:ln>
        </p:spPr>
      </p:pic>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678960" y="603720"/>
            <a:ext cx="66870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Click to edit Master title style</a:t>
            </a:r>
            <a:endParaRPr lang="en-US" sz="3400" b="0" strike="noStrike" spc="-1">
              <a:solidFill>
                <a:srgbClr val="000000"/>
              </a:solidFill>
              <a:latin typeface="Arial"/>
            </a:endParaRPr>
          </a:p>
        </p:txBody>
      </p:sp>
      <p:sp>
        <p:nvSpPr>
          <p:cNvPr id="49" name="PlaceHolder 2"/>
          <p:cNvSpPr>
            <a:spLocks noGrp="1"/>
          </p:cNvSpPr>
          <p:nvPr>
            <p:ph type="title"/>
          </p:nvPr>
        </p:nvSpPr>
        <p:spPr>
          <a:xfrm>
            <a:off x="678960" y="1659960"/>
            <a:ext cx="6687000" cy="439812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Font typeface="Arial"/>
              <a:buChar char="•"/>
            </a:pPr>
            <a:r>
              <a:rPr lang="en-US" sz="2800" b="0" strike="noStrike" spc="-1">
                <a:solidFill>
                  <a:srgbClr val="181717"/>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181717"/>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000" b="0" strike="noStrike" spc="-1">
                <a:solidFill>
                  <a:srgbClr val="181717"/>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800" b="0" strike="noStrike" spc="-1">
                <a:solidFill>
                  <a:srgbClr val="181717"/>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800" b="0" strike="noStrike" spc="-1">
                <a:solidFill>
                  <a:srgbClr val="181717"/>
                </a:solidFill>
                <a:latin typeface="Calibri"/>
              </a:rPr>
              <a:t>Fifth level</a:t>
            </a:r>
            <a:endParaRPr lang="en-US" sz="1800" b="0" strike="noStrike" spc="-1">
              <a:solidFill>
                <a:srgbClr val="000000"/>
              </a:solidFill>
              <a:latin typeface="Arial"/>
            </a:endParaRPr>
          </a:p>
        </p:txBody>
      </p:sp>
      <p:sp>
        <p:nvSpPr>
          <p:cNvPr id="50" name="Title 1"/>
          <p:cNvSpPr txBox="1"/>
          <p:nvPr/>
        </p:nvSpPr>
        <p:spPr>
          <a:xfrm>
            <a:off x="8567640" y="3064320"/>
            <a:ext cx="3314520" cy="612720"/>
          </a:xfrm>
          <a:prstGeom prst="rect">
            <a:avLst/>
          </a:prstGeom>
          <a:noFill/>
          <a:ln w="0">
            <a:noFill/>
          </a:ln>
        </p:spPr>
        <p:txBody>
          <a:bodyPr anchor="ctr">
            <a:noAutofit/>
          </a:bodyPr>
          <a:lstStyle/>
          <a:p>
            <a:pPr>
              <a:lnSpc>
                <a:spcPct val="90000"/>
              </a:lnSpc>
            </a:pPr>
            <a:r>
              <a:rPr lang="en-US" sz="3400" b="1" strike="noStrike" spc="-1">
                <a:solidFill>
                  <a:srgbClr val="FFFFFF"/>
                </a:solidFill>
                <a:latin typeface="Calibri"/>
              </a:rPr>
              <a:t>Click to edit Master title style</a:t>
            </a:r>
            <a:endParaRPr lang="en-US" sz="3400" b="0" strike="noStrike" spc="-1">
              <a:solidFill>
                <a:srgbClr val="000000"/>
              </a:solidFill>
              <a:latin typeface="Arial"/>
            </a:endParaRPr>
          </a:p>
        </p:txBody>
      </p:sp>
      <p:sp>
        <p:nvSpPr>
          <p:cNvPr id="51" name="Freeform: Shape 12"/>
          <p:cNvSpPr/>
          <p:nvPr/>
        </p:nvSpPr>
        <p:spPr>
          <a:xfrm>
            <a:off x="7543800" y="0"/>
            <a:ext cx="4648320" cy="6858000"/>
          </a:xfrm>
          <a:custGeom>
            <a:avLst/>
            <a:gdLst>
              <a:gd name="textAreaLeft" fmla="*/ 0 w 4648320"/>
              <a:gd name="textAreaRight" fmla="*/ 4648680 w 4648320"/>
              <a:gd name="textAreaTop" fmla="*/ 0 h 6858000"/>
              <a:gd name="textAreaBottom" fmla="*/ 6858360 h 6858000"/>
            </a:gdLst>
            <a:ahLst/>
            <a:cxnLst/>
            <a:rect l="textAreaLeft" t="textAreaTop" r="textAreaRight" b="textAreaBottom"/>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w="0">
            <a:noFill/>
          </a:ln>
        </p:spPr>
        <p:style>
          <a:lnRef idx="0">
            <a:scrgbClr r="0" g="0" b="0"/>
          </a:lnRef>
          <a:fillRef idx="0">
            <a:scrgbClr r="0" g="0" b="0"/>
          </a:fillRef>
          <a:effectRef idx="0">
            <a:scrgbClr r="0" g="0" b="0"/>
          </a:effectRef>
          <a:fontRef idx="minor"/>
        </p:style>
        <p:txBody>
          <a:bodyPr anchor="ctr" anchorCtr="1">
            <a:noAutofit/>
          </a:bodyPr>
          <a:lstStyle/>
          <a:p>
            <a:endParaRPr lang="en-US" sz="1800" b="0" strike="noStrike" spc="-1">
              <a:solidFill>
                <a:srgbClr val="FFFFFF"/>
              </a:solidFill>
              <a:latin typeface="Arial"/>
            </a:endParaRPr>
          </a:p>
        </p:txBody>
      </p:sp>
      <p:pic>
        <p:nvPicPr>
          <p:cNvPr id="52" name="Picture 3"/>
          <p:cNvPicPr/>
          <p:nvPr/>
        </p:nvPicPr>
        <p:blipFill>
          <a:blip r:embed="rId3"/>
          <a:stretch/>
        </p:blipFill>
        <p:spPr>
          <a:xfrm>
            <a:off x="9507240" y="6119640"/>
            <a:ext cx="1958040" cy="540360"/>
          </a:xfrm>
          <a:prstGeom prst="rect">
            <a:avLst/>
          </a:prstGeom>
          <a:ln w="12600">
            <a:noFill/>
          </a:ln>
        </p:spPr>
      </p:pic>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678960" y="1709640"/>
            <a:ext cx="10834200" cy="2852640"/>
          </a:xfrm>
          <a:prstGeom prst="rect">
            <a:avLst/>
          </a:prstGeom>
          <a:noFill/>
          <a:ln w="12600">
            <a:noFill/>
          </a:ln>
        </p:spPr>
        <p:txBody>
          <a:bodyPr lIns="0" tIns="0" rIns="0" bIns="0" anchor="b">
            <a:normAutofit/>
          </a:bodyPr>
          <a:lstStyle/>
          <a:p>
            <a:pPr indent="0">
              <a:lnSpc>
                <a:spcPct val="90000"/>
              </a:lnSpc>
              <a:buNone/>
            </a:pPr>
            <a:r>
              <a:rPr lang="en-US" sz="6000" b="1" strike="noStrike" spc="-1">
                <a:solidFill>
                  <a:srgbClr val="161A3E"/>
                </a:solidFill>
                <a:latin typeface="Calibri"/>
              </a:rPr>
              <a:t>Click to edit Master title style</a:t>
            </a:r>
            <a:endParaRPr lang="en-US" sz="6000" b="0" strike="noStrike" spc="-1">
              <a:solidFill>
                <a:srgbClr val="000000"/>
              </a:solidFill>
              <a:latin typeface="Arial"/>
            </a:endParaRPr>
          </a:p>
        </p:txBody>
      </p:sp>
      <p:sp>
        <p:nvSpPr>
          <p:cNvPr id="55" name="PlaceHolder 2"/>
          <p:cNvSpPr>
            <a:spLocks noGrp="1"/>
          </p:cNvSpPr>
          <p:nvPr>
            <p:ph type="body"/>
          </p:nvPr>
        </p:nvSpPr>
        <p:spPr>
          <a:xfrm>
            <a:off x="678960" y="4589640"/>
            <a:ext cx="10834200" cy="1500120"/>
          </a:xfrm>
          <a:prstGeom prst="rect">
            <a:avLst/>
          </a:prstGeom>
          <a:noFill/>
          <a:ln w="12600">
            <a:noFill/>
          </a:ln>
        </p:spPr>
        <p:txBody>
          <a:bodyPr lIns="91440" tIns="45720" rIns="91440" bIns="45720" anchor="t">
            <a:normAutofit/>
          </a:bodyPr>
          <a:lstStyle/>
          <a:p>
            <a:pPr marL="432000" indent="-324000">
              <a:lnSpc>
                <a:spcPct val="90000"/>
              </a:lnSpc>
              <a:spcBef>
                <a:spcPts val="1001"/>
              </a:spcBef>
              <a:buClr>
                <a:srgbClr val="000000"/>
              </a:buClr>
              <a:buSzPct val="45000"/>
              <a:buFont typeface="Wingdings" charset="2"/>
              <a:buChar char=""/>
            </a:pPr>
            <a:r>
              <a:rPr lang="en-US" sz="2400" b="0" strike="noStrike" spc="-1">
                <a:solidFill>
                  <a:srgbClr val="8A8B92"/>
                </a:solidFill>
                <a:latin typeface="Calibri"/>
              </a:rPr>
              <a:t>Click to edit Master text styles</a:t>
            </a:r>
            <a:endParaRPr lang="en-US" sz="24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Click to edit Master title style</a:t>
            </a:r>
            <a:endParaRPr lang="en-US" sz="3400" b="0" strike="noStrike" spc="-1">
              <a:solidFill>
                <a:srgbClr val="000000"/>
              </a:solidFill>
              <a:latin typeface="Arial"/>
            </a:endParaRPr>
          </a:p>
        </p:txBody>
      </p:sp>
      <p:sp>
        <p:nvSpPr>
          <p:cNvPr id="60" name="PlaceHolder 2"/>
          <p:cNvSpPr>
            <a:spLocks noGrp="1"/>
          </p:cNvSpPr>
          <p:nvPr>
            <p:ph type="title"/>
          </p:nvPr>
        </p:nvSpPr>
        <p:spPr>
          <a:xfrm>
            <a:off x="678960" y="1659960"/>
            <a:ext cx="5340960" cy="439956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Font typeface="Arial"/>
              <a:buChar char="•"/>
            </a:pPr>
            <a:r>
              <a:rPr lang="en-US" sz="2800" b="0" strike="noStrike" spc="-1">
                <a:solidFill>
                  <a:srgbClr val="181717"/>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181717"/>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000" b="0" strike="noStrike" spc="-1">
                <a:solidFill>
                  <a:srgbClr val="181717"/>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800" b="0" strike="noStrike" spc="-1">
                <a:solidFill>
                  <a:srgbClr val="181717"/>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800" b="0" strike="noStrike" spc="-1">
                <a:solidFill>
                  <a:srgbClr val="181717"/>
                </a:solidFill>
                <a:latin typeface="Calibri"/>
              </a:rPr>
              <a:t>Fifth level</a:t>
            </a:r>
            <a:endParaRPr lang="en-US" sz="1800" b="0" strike="noStrike" spc="-1">
              <a:solidFill>
                <a:srgbClr val="000000"/>
              </a:solidFill>
              <a:latin typeface="Arial"/>
            </a:endParaRPr>
          </a:p>
        </p:txBody>
      </p:sp>
      <p:sp>
        <p:nvSpPr>
          <p:cNvPr id="61" name="PlaceHolder 3"/>
          <p:cNvSpPr>
            <a:spLocks noGrp="1"/>
          </p:cNvSpPr>
          <p:nvPr>
            <p:ph type="title"/>
          </p:nvPr>
        </p:nvSpPr>
        <p:spPr>
          <a:xfrm>
            <a:off x="6172200" y="1659960"/>
            <a:ext cx="5340960" cy="439956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Font typeface="Arial"/>
              <a:buChar char="•"/>
            </a:pPr>
            <a:r>
              <a:rPr lang="en-US" sz="2800" b="0" strike="noStrike" spc="-1">
                <a:solidFill>
                  <a:srgbClr val="181717"/>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181717"/>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000" b="0" strike="noStrike" spc="-1">
                <a:solidFill>
                  <a:srgbClr val="181717"/>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800" b="0" strike="noStrike" spc="-1">
                <a:solidFill>
                  <a:srgbClr val="181717"/>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800" b="0" strike="noStrike" spc="-1">
                <a:solidFill>
                  <a:srgbClr val="181717"/>
                </a:solidFill>
                <a:latin typeface="Calibri"/>
              </a:rPr>
              <a:t>Fifth level</a:t>
            </a:r>
            <a:endParaRPr lang="en-US" sz="18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7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Click to edit Master title style</a:t>
            </a:r>
            <a:endParaRPr lang="en-US" sz="3400" b="0" strike="noStrike" spc="-1">
              <a:solidFill>
                <a:srgbClr val="000000"/>
              </a:solidFill>
              <a:latin typeface="Arial"/>
            </a:endParaRPr>
          </a:p>
        </p:txBody>
      </p:sp>
      <p:sp>
        <p:nvSpPr>
          <p:cNvPr id="64" name="PlaceHolder 2"/>
          <p:cNvSpPr>
            <a:spLocks noGrp="1"/>
          </p:cNvSpPr>
          <p:nvPr>
            <p:ph type="body"/>
          </p:nvPr>
        </p:nvSpPr>
        <p:spPr>
          <a:xfrm>
            <a:off x="678960" y="1659960"/>
            <a:ext cx="5318640" cy="655200"/>
          </a:xfrm>
          <a:prstGeom prst="rect">
            <a:avLst/>
          </a:prstGeom>
          <a:noFill/>
          <a:ln w="12600">
            <a:noFill/>
          </a:ln>
        </p:spPr>
        <p:txBody>
          <a:bodyPr lIns="91440" tIns="45720" rIns="91440" bIns="45720" anchor="b">
            <a:normAutofit/>
          </a:bodyPr>
          <a:lstStyle/>
          <a:p>
            <a:pPr marL="432000" indent="-324000">
              <a:lnSpc>
                <a:spcPct val="90000"/>
              </a:lnSpc>
              <a:spcBef>
                <a:spcPts val="1001"/>
              </a:spcBef>
              <a:buClr>
                <a:srgbClr val="000000"/>
              </a:buClr>
              <a:buSzPct val="45000"/>
              <a:buFont typeface="Wingdings" charset="2"/>
              <a:buChar char=""/>
            </a:pPr>
            <a:r>
              <a:rPr lang="en-US" sz="2400" b="1" strike="noStrike" spc="-1">
                <a:solidFill>
                  <a:srgbClr val="181717"/>
                </a:solidFill>
                <a:latin typeface="Calibri"/>
              </a:rPr>
              <a:t>Click to edit Master text styles</a:t>
            </a:r>
            <a:endParaRPr lang="en-US" sz="2400" b="0" strike="noStrike" spc="-1">
              <a:solidFill>
                <a:srgbClr val="000000"/>
              </a:solidFill>
              <a:latin typeface="Arial"/>
            </a:endParaRPr>
          </a:p>
        </p:txBody>
      </p:sp>
      <p:sp>
        <p:nvSpPr>
          <p:cNvPr id="65" name="PlaceHolder 3"/>
          <p:cNvSpPr>
            <a:spLocks noGrp="1"/>
          </p:cNvSpPr>
          <p:nvPr>
            <p:ph type="title"/>
          </p:nvPr>
        </p:nvSpPr>
        <p:spPr>
          <a:xfrm>
            <a:off x="678960" y="2505240"/>
            <a:ext cx="5318640" cy="355284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Font typeface="Arial"/>
              <a:buChar char="•"/>
            </a:pPr>
            <a:r>
              <a:rPr lang="en-US" sz="2800" b="0" strike="noStrike" spc="-1">
                <a:solidFill>
                  <a:srgbClr val="181717"/>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181717"/>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000" b="0" strike="noStrike" spc="-1">
                <a:solidFill>
                  <a:srgbClr val="181717"/>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800" b="0" strike="noStrike" spc="-1">
                <a:solidFill>
                  <a:srgbClr val="181717"/>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800" b="0" strike="noStrike" spc="-1">
                <a:solidFill>
                  <a:srgbClr val="181717"/>
                </a:solidFill>
                <a:latin typeface="Calibri"/>
              </a:rPr>
              <a:t>Fifth level</a:t>
            </a:r>
            <a:endParaRPr lang="en-US" sz="1800" b="0" strike="noStrike" spc="-1">
              <a:solidFill>
                <a:srgbClr val="000000"/>
              </a:solidFill>
              <a:latin typeface="Arial"/>
            </a:endParaRPr>
          </a:p>
        </p:txBody>
      </p:sp>
      <p:sp>
        <p:nvSpPr>
          <p:cNvPr id="66" name="PlaceHolder 4"/>
          <p:cNvSpPr>
            <a:spLocks noGrp="1"/>
          </p:cNvSpPr>
          <p:nvPr>
            <p:ph type="body"/>
          </p:nvPr>
        </p:nvSpPr>
        <p:spPr>
          <a:xfrm>
            <a:off x="6172200" y="1659960"/>
            <a:ext cx="5340960" cy="655200"/>
          </a:xfrm>
          <a:prstGeom prst="rect">
            <a:avLst/>
          </a:prstGeom>
          <a:noFill/>
          <a:ln w="12600">
            <a:noFill/>
          </a:ln>
        </p:spPr>
        <p:txBody>
          <a:bodyPr lIns="91440" tIns="45720" rIns="91440" bIns="45720" anchor="b">
            <a:normAutofit/>
          </a:bodyPr>
          <a:lstStyle/>
          <a:p>
            <a:pPr indent="0">
              <a:lnSpc>
                <a:spcPct val="90000"/>
              </a:lnSpc>
              <a:spcBef>
                <a:spcPts val="1001"/>
              </a:spcBef>
            </a:pPr>
            <a:r>
              <a:rPr lang="en-US" sz="2400" b="1" strike="noStrike" spc="-1">
                <a:solidFill>
                  <a:srgbClr val="181717"/>
                </a:solidFill>
                <a:latin typeface="Calibri"/>
              </a:rPr>
              <a:t>Click to edit Master text styles</a:t>
            </a:r>
            <a:endParaRPr lang="en-US" sz="2400" b="0" strike="noStrike" spc="-1">
              <a:solidFill>
                <a:srgbClr val="000000"/>
              </a:solidFill>
              <a:latin typeface="Arial"/>
            </a:endParaRPr>
          </a:p>
        </p:txBody>
      </p:sp>
      <p:sp>
        <p:nvSpPr>
          <p:cNvPr id="67" name="PlaceHolder 5"/>
          <p:cNvSpPr>
            <a:spLocks noGrp="1"/>
          </p:cNvSpPr>
          <p:nvPr>
            <p:ph type="title"/>
          </p:nvPr>
        </p:nvSpPr>
        <p:spPr>
          <a:xfrm>
            <a:off x="6172200" y="2505240"/>
            <a:ext cx="5340960" cy="355284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Font typeface="Arial"/>
              <a:buChar char="•"/>
            </a:pPr>
            <a:r>
              <a:rPr lang="en-US" sz="2800" b="0" strike="noStrike" spc="-1">
                <a:solidFill>
                  <a:srgbClr val="181717"/>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181717"/>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000" b="0" strike="noStrike" spc="-1">
                <a:solidFill>
                  <a:srgbClr val="181717"/>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800" b="0" strike="noStrike" spc="-1">
                <a:solidFill>
                  <a:srgbClr val="181717"/>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800" b="0" strike="noStrike" spc="-1">
                <a:solidFill>
                  <a:srgbClr val="181717"/>
                </a:solidFill>
                <a:latin typeface="Calibri"/>
              </a:rPr>
              <a:t>Fifth level</a:t>
            </a:r>
            <a:endParaRPr lang="en-US" sz="18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7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Click to edit Master title style</a:t>
            </a:r>
            <a:endParaRPr lang="en-US" sz="34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7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678960" y="603720"/>
            <a:ext cx="4093200" cy="1453680"/>
          </a:xfrm>
          <a:prstGeom prst="rect">
            <a:avLst/>
          </a:prstGeom>
          <a:noFill/>
          <a:ln w="12600">
            <a:noFill/>
          </a:ln>
        </p:spPr>
        <p:txBody>
          <a:bodyPr lIns="0" tIns="0" rIns="0" bIns="0" anchor="b">
            <a:normAutofit/>
          </a:bodyPr>
          <a:lstStyle/>
          <a:p>
            <a:pPr indent="0">
              <a:lnSpc>
                <a:spcPct val="90000"/>
              </a:lnSpc>
              <a:buNone/>
            </a:pPr>
            <a:r>
              <a:rPr lang="en-US" sz="3200" b="1" strike="noStrike" spc="-1">
                <a:solidFill>
                  <a:srgbClr val="161A3E"/>
                </a:solidFill>
                <a:latin typeface="Calibri"/>
              </a:rPr>
              <a:t>Click to edit Master title style</a:t>
            </a:r>
            <a:endParaRPr lang="en-US" sz="3200" b="0" strike="noStrike" spc="-1">
              <a:solidFill>
                <a:srgbClr val="000000"/>
              </a:solidFill>
              <a:latin typeface="Arial"/>
            </a:endParaRPr>
          </a:p>
        </p:txBody>
      </p:sp>
      <p:sp>
        <p:nvSpPr>
          <p:cNvPr id="73" name="PlaceHolder 2"/>
          <p:cNvSpPr>
            <a:spLocks noGrp="1"/>
          </p:cNvSpPr>
          <p:nvPr>
            <p:ph type="title"/>
          </p:nvPr>
        </p:nvSpPr>
        <p:spPr>
          <a:xfrm>
            <a:off x="5183280" y="1659960"/>
            <a:ext cx="6329880" cy="4201200"/>
          </a:xfrm>
          <a:prstGeom prst="rect">
            <a:avLst/>
          </a:prstGeom>
          <a:noFill/>
          <a:ln w="12600">
            <a:noFill/>
          </a:ln>
        </p:spPr>
        <p:txBody>
          <a:bodyPr lIns="91440" tIns="45720" rIns="91440" bIns="45720" anchor="t">
            <a:normAutofit/>
          </a:bodyPr>
          <a:lstStyle/>
          <a:p>
            <a:pPr marL="228600" indent="-228600">
              <a:lnSpc>
                <a:spcPct val="90000"/>
              </a:lnSpc>
              <a:spcBef>
                <a:spcPts val="1001"/>
              </a:spcBef>
              <a:buClr>
                <a:srgbClr val="000000"/>
              </a:buClr>
              <a:buFont typeface="Arial"/>
              <a:buChar char="•"/>
            </a:pPr>
            <a:r>
              <a:rPr lang="en-US" sz="3200" b="0" strike="noStrike" spc="-1">
                <a:solidFill>
                  <a:srgbClr val="181717"/>
                </a:solidFill>
                <a:latin typeface="Calibri"/>
              </a:rPr>
              <a:t>Click to edit Master text styles</a:t>
            </a:r>
            <a:endParaRPr lang="en-US" sz="32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800" b="0" strike="noStrike" spc="-1">
                <a:solidFill>
                  <a:srgbClr val="181717"/>
                </a:solidFill>
                <a:latin typeface="Calibri"/>
              </a:rPr>
              <a:t>Second level</a:t>
            </a:r>
            <a:endParaRPr lang="en-US" sz="28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400" b="0" strike="noStrike" spc="-1">
                <a:solidFill>
                  <a:srgbClr val="181717"/>
                </a:solidFill>
                <a:latin typeface="Calibri"/>
              </a:rPr>
              <a:t>Third level</a:t>
            </a:r>
            <a:endParaRPr lang="en-US" sz="24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2000" b="0" strike="noStrike" spc="-1">
                <a:solidFill>
                  <a:srgbClr val="181717"/>
                </a:solidFill>
                <a:latin typeface="Calibri"/>
              </a:rPr>
              <a:t>Fourth level</a:t>
            </a:r>
            <a:endParaRPr lang="en-US" sz="20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2000" b="0" strike="noStrike" spc="-1">
                <a:solidFill>
                  <a:srgbClr val="181717"/>
                </a:solidFill>
                <a:latin typeface="Calibri"/>
              </a:rPr>
              <a:t>Fifth level</a:t>
            </a:r>
            <a:endParaRPr lang="en-US" sz="2000" b="0" strike="noStrike" spc="-1">
              <a:solidFill>
                <a:srgbClr val="000000"/>
              </a:solidFill>
              <a:latin typeface="Arial"/>
            </a:endParaRPr>
          </a:p>
        </p:txBody>
      </p:sp>
      <p:sp>
        <p:nvSpPr>
          <p:cNvPr id="74" name="PlaceHolder 3"/>
          <p:cNvSpPr>
            <a:spLocks noGrp="1"/>
          </p:cNvSpPr>
          <p:nvPr>
            <p:ph type="body"/>
          </p:nvPr>
        </p:nvSpPr>
        <p:spPr>
          <a:xfrm>
            <a:off x="678960" y="2315160"/>
            <a:ext cx="4093200" cy="3553920"/>
          </a:xfrm>
          <a:prstGeom prst="rect">
            <a:avLst/>
          </a:prstGeom>
          <a:noFill/>
          <a:ln w="12600">
            <a:noFill/>
          </a:ln>
        </p:spPr>
        <p:txBody>
          <a:bodyPr lIns="91440" tIns="45720" rIns="91440" bIns="45720" anchor="t">
            <a:normAutofit/>
          </a:bodyPr>
          <a:lstStyle/>
          <a:p>
            <a:pPr marL="432000" indent="-324000">
              <a:lnSpc>
                <a:spcPct val="90000"/>
              </a:lnSpc>
              <a:spcBef>
                <a:spcPts val="1001"/>
              </a:spcBef>
              <a:buClr>
                <a:srgbClr val="000000"/>
              </a:buClr>
              <a:buSzPct val="45000"/>
              <a:buFont typeface="Wingdings" charset="2"/>
              <a:buChar char=""/>
            </a:pPr>
            <a:r>
              <a:rPr lang="en-US" sz="1600" b="0" strike="noStrike" spc="-1">
                <a:solidFill>
                  <a:srgbClr val="181717"/>
                </a:solidFill>
                <a:latin typeface="Calibri"/>
              </a:rPr>
              <a:t>Click to edit Master text styles</a:t>
            </a:r>
            <a:endParaRPr lang="en-US" sz="16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8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Click to edit Master title style</a:t>
            </a:r>
            <a:endParaRPr lang="en-US" sz="3400" b="0" strike="noStrike" spc="-1">
              <a:solidFill>
                <a:srgbClr val="000000"/>
              </a:solidFill>
              <a:latin typeface="Arial"/>
            </a:endParaRPr>
          </a:p>
        </p:txBody>
      </p:sp>
      <p:sp>
        <p:nvSpPr>
          <p:cNvPr id="77" name="PlaceHolder 2"/>
          <p:cNvSpPr>
            <a:spLocks noGrp="1"/>
          </p:cNvSpPr>
          <p:nvPr>
            <p:ph type="body"/>
          </p:nvPr>
        </p:nvSpPr>
        <p:spPr>
          <a:xfrm>
            <a:off x="678960" y="1659960"/>
            <a:ext cx="10834200" cy="4167000"/>
          </a:xfrm>
          <a:prstGeom prst="rect">
            <a:avLst/>
          </a:prstGeom>
          <a:noFill/>
          <a:ln w="12600">
            <a:noFill/>
          </a:ln>
        </p:spPr>
        <p:txBody>
          <a:bodyPr vert="eaVert" lIns="45720" tIns="91440" rIns="45720" bIns="91440" anchor="t">
            <a:normAutofit/>
          </a:bodyPr>
          <a:lstStyle/>
          <a:p>
            <a:pPr marL="228600" indent="-228600">
              <a:lnSpc>
                <a:spcPct val="90000"/>
              </a:lnSpc>
              <a:spcBef>
                <a:spcPts val="1001"/>
              </a:spcBef>
              <a:buClr>
                <a:srgbClr val="000000"/>
              </a:buClr>
              <a:buSzPct val="45000"/>
              <a:buFont typeface="Wingdings" charset="2"/>
              <a:buChar char=""/>
            </a:pPr>
            <a:r>
              <a:rPr lang="en-US" sz="2800" b="0" strike="noStrike" spc="-1">
                <a:solidFill>
                  <a:srgbClr val="181717"/>
                </a:solidFill>
                <a:latin typeface="Calibri"/>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SzPct val="75000"/>
              <a:buFont typeface="Symbol" charset="2"/>
              <a:buChar char=""/>
            </a:pPr>
            <a:r>
              <a:rPr lang="en-US" sz="2400" b="0" strike="noStrike" spc="-1">
                <a:solidFill>
                  <a:srgbClr val="181717"/>
                </a:solidFill>
                <a:latin typeface="Calibri"/>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SzPct val="45000"/>
              <a:buFont typeface="Wingdings" charset="2"/>
              <a:buChar char=""/>
            </a:pPr>
            <a:r>
              <a:rPr lang="en-US" sz="2000" b="0" strike="noStrike" spc="-1">
                <a:solidFill>
                  <a:srgbClr val="181717"/>
                </a:solidFill>
                <a:latin typeface="Calibri"/>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SzPct val="75000"/>
              <a:buFont typeface="Symbol" charset="2"/>
              <a:buChar char=""/>
            </a:pPr>
            <a:r>
              <a:rPr lang="en-US" sz="1800" b="0" strike="noStrike" spc="-1">
                <a:solidFill>
                  <a:srgbClr val="181717"/>
                </a:solidFill>
                <a:latin typeface="Calibri"/>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SzPct val="45000"/>
              <a:buFont typeface="Wingdings" charset="2"/>
              <a:buChar char=""/>
            </a:pPr>
            <a:r>
              <a:rPr lang="en-US" sz="1800" b="0" strike="noStrike" spc="-1">
                <a:solidFill>
                  <a:srgbClr val="181717"/>
                </a:solidFill>
                <a:latin typeface="Calibri"/>
              </a:rPr>
              <a:t>Fifth level</a:t>
            </a:r>
            <a:endParaRPr lang="en-US" sz="18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8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3.xml"/><Relationship Id="rId5" Type="http://schemas.microsoft.com/office/2007/relationships/hdphoto" Target="../media/hdphoto3.wdp"/><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4.wdp"/><Relationship Id="rId7" Type="http://schemas.microsoft.com/office/2007/relationships/hdphoto" Target="../media/hdphoto6.wdp"/><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0.png"/><Relationship Id="rId5" Type="http://schemas.microsoft.com/office/2007/relationships/hdphoto" Target="../media/hdphoto5.wdp"/><Relationship Id="rId10" Type="http://schemas.openxmlformats.org/officeDocument/2006/relationships/image" Target="../media/image13.png"/><Relationship Id="rId4" Type="http://schemas.openxmlformats.org/officeDocument/2006/relationships/image" Target="../media/image9.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AF5E5E-7A0A-522B-6C0B-2569C38B4B12}"/>
              </a:ext>
            </a:extLst>
          </p:cNvPr>
          <p:cNvSpPr/>
          <p:nvPr/>
        </p:nvSpPr>
        <p:spPr>
          <a:xfrm>
            <a:off x="0" y="2788289"/>
            <a:ext cx="12191996" cy="81152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400" b="1" i="0" u="none" strike="noStrike" kern="1200" cap="none" spc="0" baseline="0">
                <a:solidFill>
                  <a:srgbClr val="FFFFFF"/>
                </a:solidFill>
                <a:uFillTx/>
                <a:latin typeface="Calibri" pitchFamily="34"/>
              </a:rPr>
              <a:t>Name of Capstone Project</a:t>
            </a:r>
          </a:p>
        </p:txBody>
      </p:sp>
      <p:pic>
        <p:nvPicPr>
          <p:cNvPr id="7" name="Picture 3">
            <a:extLst>
              <a:ext uri="{FF2B5EF4-FFF2-40B4-BE49-F238E27FC236}">
                <a16:creationId xmlns:a16="http://schemas.microsoft.com/office/drawing/2014/main" id="{A767D739-39D3-A4E1-489F-16A895BA01F3}"/>
              </a:ext>
            </a:extLst>
          </p:cNvPr>
          <p:cNvPicPr>
            <a:picLocks noChangeAspect="1"/>
          </p:cNvPicPr>
          <p:nvPr/>
        </p:nvPicPr>
        <p:blipFill>
          <a:blip r:embed="rId2"/>
          <a:stretch>
            <a:fillRect/>
          </a:stretch>
        </p:blipFill>
        <p:spPr>
          <a:xfrm>
            <a:off x="-78659" y="-117987"/>
            <a:ext cx="12368981" cy="7069393"/>
          </a:xfrm>
          <a:prstGeom prst="rect">
            <a:avLst/>
          </a:prstGeom>
          <a:noFill/>
          <a:ln cap="flat">
            <a:noFill/>
          </a:ln>
        </p:spPr>
      </p:pic>
      <p:sp>
        <p:nvSpPr>
          <p:cNvPr id="8" name="TextBox 5">
            <a:extLst>
              <a:ext uri="{FF2B5EF4-FFF2-40B4-BE49-F238E27FC236}">
                <a16:creationId xmlns:a16="http://schemas.microsoft.com/office/drawing/2014/main" id="{ED50137B-4C38-FF0D-9724-0DD19566404F}"/>
              </a:ext>
            </a:extLst>
          </p:cNvPr>
          <p:cNvSpPr txBox="1"/>
          <p:nvPr/>
        </p:nvSpPr>
        <p:spPr>
          <a:xfrm>
            <a:off x="1713302" y="2347667"/>
            <a:ext cx="8755681" cy="1569659"/>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1" baseline="0" dirty="0">
                <a:solidFill>
                  <a:srgbClr val="FFFFFF"/>
                </a:solidFill>
                <a:uFillTx/>
                <a:latin typeface="Calibri"/>
              </a:rPr>
              <a:t>E-commerce Customer Segmentation </a:t>
            </a:r>
            <a:r>
              <a:rPr lang="en-US" sz="4800" b="1" i="0" u="none" strike="noStrike" kern="1200" cap="none" spc="-1" baseline="0" dirty="0">
                <a:solidFill>
                  <a:srgbClr val="2E75B6"/>
                </a:solidFill>
                <a:uFillTx/>
                <a:latin typeface="Calibri"/>
              </a:rPr>
              <a:t>&amp;</a:t>
            </a:r>
            <a:r>
              <a:rPr lang="en-US" sz="4800" b="1" i="0" u="none" strike="noStrike" kern="1200" cap="none" spc="-1" baseline="0" dirty="0">
                <a:solidFill>
                  <a:srgbClr val="FFFFFF"/>
                </a:solidFill>
                <a:uFillTx/>
                <a:latin typeface="Calibri"/>
              </a:rPr>
              <a:t> Prediction</a:t>
            </a:r>
            <a:endParaRPr lang="en-US" sz="4800" b="0" i="0" u="none" strike="noStrike" kern="1200" cap="none" spc="-1" baseline="0" dirty="0">
              <a:solidFill>
                <a:srgbClr val="000000"/>
              </a:solidFill>
              <a:uFillTx/>
              <a:latin typeface="Arial"/>
            </a:endParaRPr>
          </a:p>
        </p:txBody>
      </p:sp>
      <p:sp>
        <p:nvSpPr>
          <p:cNvPr id="9" name="TextBox 7">
            <a:extLst>
              <a:ext uri="{FF2B5EF4-FFF2-40B4-BE49-F238E27FC236}">
                <a16:creationId xmlns:a16="http://schemas.microsoft.com/office/drawing/2014/main" id="{9E0AFCB7-7D61-D778-D3AD-3CA4A4A4CD93}"/>
              </a:ext>
            </a:extLst>
          </p:cNvPr>
          <p:cNvSpPr txBox="1"/>
          <p:nvPr/>
        </p:nvSpPr>
        <p:spPr>
          <a:xfrm>
            <a:off x="9710" y="3917326"/>
            <a:ext cx="12182286" cy="666012"/>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2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10" baseline="0">
                <a:solidFill>
                  <a:srgbClr val="FFFFFF"/>
                </a:solidFill>
                <a:uFillTx/>
                <a:latin typeface="Calibri"/>
              </a:rPr>
              <a:t>A Clustering &amp; Machine Learning Analysis of Online Retail Data</a:t>
            </a:r>
          </a:p>
          <a:p>
            <a:pPr marL="0" marR="0" lvl="0" indent="0" algn="ctr" defTabSz="914400" rtl="0" fontAlgn="auto" hangingPunct="1">
              <a:lnSpc>
                <a:spcPct val="12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10" baseline="0">
                <a:solidFill>
                  <a:srgbClr val="9FB4D1"/>
                </a:solidFill>
                <a:uFillTx/>
                <a:latin typeface="Calibri"/>
              </a:rPr>
              <a:t>Capstone Project — Data Science &amp; Artificial Intelligence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0A1FEE-09F1-3002-DDCE-DAA21D1A75DE}"/>
            </a:ext>
          </a:extLst>
        </p:cNvPr>
        <p:cNvGrpSpPr/>
        <p:nvPr/>
      </p:nvGrpSpPr>
      <p:grpSpPr>
        <a:xfrm>
          <a:off x="0" y="0"/>
          <a:ext cx="0" cy="0"/>
          <a:chOff x="0" y="0"/>
          <a:chExt cx="0" cy="0"/>
        </a:xfrm>
      </p:grpSpPr>
      <p:sp>
        <p:nvSpPr>
          <p:cNvPr id="90" name="PlaceHolder 1">
            <a:extLst>
              <a:ext uri="{FF2B5EF4-FFF2-40B4-BE49-F238E27FC236}">
                <a16:creationId xmlns:a16="http://schemas.microsoft.com/office/drawing/2014/main" id="{D6143019-BAC1-6B7F-4924-6534B90730CA}"/>
              </a:ext>
            </a:extLst>
          </p:cNvPr>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Agenda</a:t>
            </a:r>
            <a:endParaRPr lang="en-US" sz="3400" b="0" strike="noStrike" spc="-1" dirty="0">
              <a:solidFill>
                <a:srgbClr val="000000"/>
              </a:solidFill>
              <a:latin typeface="Arial"/>
            </a:endParaRPr>
          </a:p>
        </p:txBody>
      </p:sp>
      <p:sp>
        <p:nvSpPr>
          <p:cNvPr id="91" name="PlaceHolder 2">
            <a:extLst>
              <a:ext uri="{FF2B5EF4-FFF2-40B4-BE49-F238E27FC236}">
                <a16:creationId xmlns:a16="http://schemas.microsoft.com/office/drawing/2014/main" id="{9405C97C-296D-2CDD-28C0-F1B1AA077BC3}"/>
              </a:ext>
            </a:extLst>
          </p:cNvPr>
          <p:cNvSpPr>
            <a:spLocks noGrp="1"/>
          </p:cNvSpPr>
          <p:nvPr>
            <p:ph/>
          </p:nvPr>
        </p:nvSpPr>
        <p:spPr>
          <a:xfrm>
            <a:off x="678960" y="1301454"/>
            <a:ext cx="10834200" cy="5556546"/>
          </a:xfrm>
          <a:prstGeom prst="rect">
            <a:avLst/>
          </a:prstGeom>
          <a:noFill/>
          <a:ln w="12600">
            <a:noFill/>
          </a:ln>
        </p:spPr>
        <p:txBody>
          <a:bodyPr lIns="91440" tIns="45720" rIns="91440" bIns="45720" anchor="t">
            <a:normAutofit fontScale="92500" lnSpcReduction="20000"/>
          </a:bodyPr>
          <a:lstStyle/>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Introduction</a:t>
            </a: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Dataset Overview</a:t>
            </a: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Data Cleaning </a:t>
            </a: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Exploratory Data Analysis</a:t>
            </a: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Feature Engineering </a:t>
            </a: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Outlier Handling </a:t>
            </a: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Clustering: K-Means, Hierarchical, DBSCAN</a:t>
            </a:r>
          </a:p>
          <a:p>
            <a:pPr marL="228600" indent="-228600">
              <a:lnSpc>
                <a:spcPct val="110000"/>
              </a:lnSpc>
              <a:spcBef>
                <a:spcPts val="900"/>
              </a:spcBef>
              <a:buClr>
                <a:srgbClr val="1D1B58"/>
              </a:buClr>
              <a:buFont typeface="Arial"/>
              <a:buChar char="•"/>
            </a:pPr>
            <a:r>
              <a:rPr lang="en-US" sz="2000" spc="-1" dirty="0">
                <a:solidFill>
                  <a:srgbClr val="181717"/>
                </a:solidFill>
                <a:latin typeface="Calibri"/>
              </a:rPr>
              <a:t>Segment Visualization</a:t>
            </a:r>
          </a:p>
          <a:p>
            <a:pPr marL="228600" indent="-228600">
              <a:lnSpc>
                <a:spcPct val="110000"/>
              </a:lnSpc>
              <a:spcBef>
                <a:spcPts val="900"/>
              </a:spcBef>
              <a:buClr>
                <a:srgbClr val="1D1B58"/>
              </a:buClr>
              <a:buFont typeface="Arial"/>
              <a:buChar char="•"/>
            </a:pPr>
            <a:r>
              <a:rPr lang="en-US" sz="2000" spc="-1" dirty="0">
                <a:solidFill>
                  <a:srgbClr val="181717"/>
                </a:solidFill>
                <a:latin typeface="Calibri"/>
              </a:rPr>
              <a:t>Segment Profiles</a:t>
            </a:r>
            <a:endParaRPr lang="en-US" sz="2000" b="0" strike="noStrike" spc="-1" dirty="0">
              <a:solidFill>
                <a:srgbClr val="181717"/>
              </a:solidFill>
              <a:latin typeface="Calibri"/>
            </a:endParaRP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Segment Table</a:t>
            </a: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Predictive Modeling: Logistic Regression, Random Forest, </a:t>
            </a:r>
            <a:r>
              <a:rPr lang="en-US" sz="2000" b="0" strike="noStrike" spc="-1" dirty="0" err="1">
                <a:solidFill>
                  <a:srgbClr val="181717"/>
                </a:solidFill>
                <a:latin typeface="Calibri"/>
              </a:rPr>
              <a:t>XGBoost</a:t>
            </a:r>
            <a:endParaRPr lang="en-US" sz="2000" b="0" strike="noStrike" spc="-1" dirty="0">
              <a:solidFill>
                <a:srgbClr val="181717"/>
              </a:solidFill>
              <a:latin typeface="Calibri"/>
            </a:endParaRP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Feature Importance with SHAP</a:t>
            </a: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Business Recommendations </a:t>
            </a:r>
          </a:p>
          <a:p>
            <a:pPr marL="228600" indent="-228600">
              <a:lnSpc>
                <a:spcPct val="110000"/>
              </a:lnSpc>
              <a:spcBef>
                <a:spcPts val="900"/>
              </a:spcBef>
              <a:buClr>
                <a:srgbClr val="1D1B58"/>
              </a:buClr>
              <a:buFont typeface="Arial"/>
              <a:buChar char="•"/>
            </a:pPr>
            <a:r>
              <a:rPr lang="en-US" sz="2000" b="0" strike="noStrike" spc="-1" dirty="0">
                <a:solidFill>
                  <a:srgbClr val="181717"/>
                </a:solidFill>
                <a:latin typeface="Calibri"/>
              </a:rPr>
              <a:t>Conclusion</a:t>
            </a:r>
          </a:p>
        </p:txBody>
      </p:sp>
    </p:spTree>
    <p:extLst>
      <p:ext uri="{BB962C8B-B14F-4D97-AF65-F5344CB8AC3E}">
        <p14:creationId xmlns:p14="http://schemas.microsoft.com/office/powerpoint/2010/main" val="2150764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EB18CF3-6F95-A62A-FF7F-CAC597A75038}"/>
            </a:ext>
          </a:extLst>
        </p:cNvPr>
        <p:cNvGrpSpPr/>
        <p:nvPr/>
      </p:nvGrpSpPr>
      <p:grpSpPr>
        <a:xfrm>
          <a:off x="0" y="0"/>
          <a:ext cx="0" cy="0"/>
          <a:chOff x="0" y="0"/>
          <a:chExt cx="0" cy="0"/>
        </a:xfrm>
      </p:grpSpPr>
      <p:sp>
        <p:nvSpPr>
          <p:cNvPr id="90" name="PlaceHolder 1">
            <a:extLst>
              <a:ext uri="{FF2B5EF4-FFF2-40B4-BE49-F238E27FC236}">
                <a16:creationId xmlns:a16="http://schemas.microsoft.com/office/drawing/2014/main" id="{65598E86-9231-7551-214B-155A200D5A4F}"/>
              </a:ext>
            </a:extLst>
          </p:cNvPr>
          <p:cNvSpPr>
            <a:spLocks noGrp="1"/>
          </p:cNvSpPr>
          <p:nvPr>
            <p:ph type="title"/>
          </p:nvPr>
        </p:nvSpPr>
        <p:spPr>
          <a:xfrm>
            <a:off x="678900" y="185249"/>
            <a:ext cx="10834200" cy="612720"/>
          </a:xfrm>
          <a:prstGeom prst="rect">
            <a:avLst/>
          </a:prstGeom>
          <a:noFill/>
          <a:ln w="12600">
            <a:noFill/>
          </a:ln>
        </p:spPr>
        <p:txBody>
          <a:bodyPr lIns="0" tIns="0" rIns="0" bIns="0" anchor="ctr">
            <a:normAutofit/>
          </a:bodyPr>
          <a:lstStyle/>
          <a:p>
            <a:pPr indent="0" algn="ctr">
              <a:lnSpc>
                <a:spcPct val="90000"/>
              </a:lnSpc>
              <a:buNone/>
            </a:pPr>
            <a:r>
              <a:rPr lang="en-US" sz="3400" b="1" strike="noStrike" spc="-1" dirty="0">
                <a:solidFill>
                  <a:srgbClr val="161A3E"/>
                </a:solidFill>
                <a:latin typeface="Calibri"/>
              </a:rPr>
              <a:t>Introduction</a:t>
            </a:r>
            <a:endParaRPr lang="en-US" sz="3400" b="0" strike="noStrike" spc="-1" dirty="0">
              <a:solidFill>
                <a:srgbClr val="000000"/>
              </a:solidFill>
              <a:latin typeface="Arial"/>
            </a:endParaRPr>
          </a:p>
        </p:txBody>
      </p:sp>
      <p:sp>
        <p:nvSpPr>
          <p:cNvPr id="91" name="PlaceHolder 2">
            <a:extLst>
              <a:ext uri="{FF2B5EF4-FFF2-40B4-BE49-F238E27FC236}">
                <a16:creationId xmlns:a16="http://schemas.microsoft.com/office/drawing/2014/main" id="{C5464E40-288A-2331-AF16-C43925933D35}"/>
              </a:ext>
            </a:extLst>
          </p:cNvPr>
          <p:cNvSpPr>
            <a:spLocks noGrp="1"/>
          </p:cNvSpPr>
          <p:nvPr>
            <p:ph/>
          </p:nvPr>
        </p:nvSpPr>
        <p:spPr>
          <a:xfrm>
            <a:off x="262390" y="789693"/>
            <a:ext cx="11667219" cy="5556546"/>
          </a:xfrm>
          <a:prstGeom prst="rect">
            <a:avLst/>
          </a:prstGeom>
          <a:noFill/>
          <a:ln w="12600">
            <a:noFill/>
          </a:ln>
        </p:spPr>
        <p:txBody>
          <a:bodyPr lIns="91440" tIns="45720" rIns="91440" bIns="45720" anchor="t">
            <a:normAutofit/>
          </a:bodyPr>
          <a:lstStyle/>
          <a:p>
            <a:pPr algn="ctr">
              <a:lnSpc>
                <a:spcPct val="110000"/>
              </a:lnSpc>
              <a:spcBef>
                <a:spcPts val="900"/>
              </a:spcBef>
              <a:buClr>
                <a:srgbClr val="1D1B58"/>
              </a:buClr>
            </a:pPr>
            <a:r>
              <a:rPr lang="en-US" sz="1800" dirty="0">
                <a:latin typeface="Calibri" panose="020F0502020204030204" pitchFamily="34" charset="0"/>
                <a:ea typeface="Calibri" panose="020F0502020204030204" pitchFamily="34" charset="0"/>
                <a:cs typeface="Calibri" panose="020F0502020204030204" pitchFamily="34" charset="0"/>
              </a:rPr>
              <a:t>E-commerce businesses struggle to decode diverse customer purchasing behaviors, resulting in generic marketing, decreased retention, and inefficient inventory management. A data-driven segmentation approach is needed to classify customers by their purchasing patterns, enabling personalized marketing, maximized retention, and optimized resource allocation.</a:t>
            </a:r>
          </a:p>
          <a:p>
            <a:pPr marL="228600" indent="-228600">
              <a:lnSpc>
                <a:spcPct val="115000"/>
              </a:lnSpc>
              <a:spcBef>
                <a:spcPts val="1000"/>
              </a:spcBef>
              <a:buClr>
                <a:srgbClr val="1D1B58"/>
              </a:buClr>
              <a:buFont typeface="Arial"/>
              <a:buChar char="•"/>
            </a:pPr>
            <a:r>
              <a:rPr lang="en-US" sz="1800" b="1"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The business challenge</a:t>
            </a:r>
          </a:p>
          <a:p>
            <a:pPr marL="685800" indent="-228600">
              <a:lnSpc>
                <a:spcPct val="115000"/>
              </a:lnSpc>
              <a:spcBef>
                <a:spcPts val="1000"/>
              </a:spcBef>
              <a:buClr>
                <a:srgbClr val="1D1B58"/>
              </a:buClr>
              <a:buFont typeface="Arial"/>
              <a:buChar char="–"/>
            </a:pPr>
            <a:r>
              <a:rPr lang="en-US" sz="1800" dirty="0">
                <a:latin typeface="Calibri" panose="020F0502020204030204" pitchFamily="34" charset="0"/>
                <a:ea typeface="Calibri" panose="020F0502020204030204" pitchFamily="34" charset="0"/>
                <a:cs typeface="Calibri" panose="020F0502020204030204" pitchFamily="34" charset="0"/>
              </a:rPr>
              <a:t>Different customers have different needs. Understanding these differences helps businesses spend marketing money wisely and keep valuable customers.</a:t>
            </a:r>
            <a:endParaRPr lang="en-US" sz="18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endParaRPr>
          </a:p>
          <a:p>
            <a:pPr marL="228600" indent="-228600">
              <a:lnSpc>
                <a:spcPct val="115000"/>
              </a:lnSpc>
              <a:spcBef>
                <a:spcPts val="1000"/>
              </a:spcBef>
              <a:buClr>
                <a:srgbClr val="1D1B58"/>
              </a:buClr>
              <a:buFont typeface="Arial"/>
              <a:buChar char="•"/>
            </a:pPr>
            <a:r>
              <a:rPr lang="en-US" sz="1800" b="1"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Project objective</a:t>
            </a:r>
          </a:p>
          <a:p>
            <a:pPr marL="685800" indent="-228600">
              <a:lnSpc>
                <a:spcPct val="115000"/>
              </a:lnSpc>
              <a:spcBef>
                <a:spcPts val="1000"/>
              </a:spcBef>
              <a:buClr>
                <a:srgbClr val="1D1B58"/>
              </a:buClr>
              <a:buFont typeface="Arial"/>
              <a:buChar char="–"/>
            </a:pPr>
            <a:r>
              <a:rPr lang="en-US" sz="18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Segment customers by real purchasing behavior, then build a model that can classify any customer into the right segment.</a:t>
            </a:r>
          </a:p>
          <a:p>
            <a:pPr marL="228600" indent="-228600">
              <a:lnSpc>
                <a:spcPct val="115000"/>
              </a:lnSpc>
              <a:spcBef>
                <a:spcPts val="1000"/>
              </a:spcBef>
              <a:buClr>
                <a:srgbClr val="1D1B58"/>
              </a:buClr>
              <a:buFont typeface="Arial"/>
              <a:buChar char="•"/>
            </a:pPr>
            <a:r>
              <a:rPr lang="en-US" sz="1800" b="1"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Approach</a:t>
            </a:r>
          </a:p>
          <a:p>
            <a:pPr marL="685800" indent="-228600">
              <a:lnSpc>
                <a:spcPct val="115000"/>
              </a:lnSpc>
              <a:spcBef>
                <a:spcPts val="1000"/>
              </a:spcBef>
              <a:buClr>
                <a:srgbClr val="1D1B58"/>
              </a:buClr>
              <a:buFont typeface="Arial"/>
              <a:buChar char="–"/>
            </a:pPr>
            <a:r>
              <a:rPr lang="en-US" sz="1800" spc="-1" dirty="0">
                <a:solidFill>
                  <a:srgbClr val="181717"/>
                </a:solidFill>
                <a:latin typeface="Calibri" panose="020F0502020204030204" pitchFamily="34" charset="0"/>
                <a:ea typeface="Calibri" panose="020F0502020204030204" pitchFamily="34" charset="0"/>
                <a:cs typeface="Calibri" panose="020F0502020204030204" pitchFamily="34" charset="0"/>
              </a:rPr>
              <a:t>F</a:t>
            </a:r>
            <a:r>
              <a:rPr lang="en-US" sz="18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eature engineering → </a:t>
            </a:r>
            <a:r>
              <a:rPr lang="en-US" sz="1800" spc="-1" dirty="0">
                <a:solidFill>
                  <a:srgbClr val="181717"/>
                </a:solidFill>
                <a:latin typeface="Calibri" panose="020F0502020204030204" pitchFamily="34" charset="0"/>
                <a:ea typeface="Calibri" panose="020F0502020204030204" pitchFamily="34" charset="0"/>
                <a:cs typeface="Calibri" panose="020F0502020204030204" pitchFamily="34" charset="0"/>
              </a:rPr>
              <a:t>C</a:t>
            </a:r>
            <a:r>
              <a:rPr lang="en-US" sz="18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lustering → Segment </a:t>
            </a:r>
            <a:r>
              <a:rPr lang="en-US" sz="1800" spc="-1" dirty="0">
                <a:solidFill>
                  <a:srgbClr val="181717"/>
                </a:solidFill>
                <a:latin typeface="Calibri" panose="020F0502020204030204" pitchFamily="34" charset="0"/>
                <a:ea typeface="Calibri" panose="020F0502020204030204" pitchFamily="34" charset="0"/>
                <a:cs typeface="Calibri" panose="020F0502020204030204" pitchFamily="34" charset="0"/>
              </a:rPr>
              <a:t>P</a:t>
            </a:r>
            <a:r>
              <a:rPr lang="en-US" sz="18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rofiling → Supervised </a:t>
            </a:r>
            <a:r>
              <a:rPr lang="en-US" sz="1800" spc="-1" dirty="0">
                <a:solidFill>
                  <a:srgbClr val="181717"/>
                </a:solidFill>
                <a:latin typeface="Calibri" panose="020F0502020204030204" pitchFamily="34" charset="0"/>
                <a:ea typeface="Calibri" panose="020F0502020204030204" pitchFamily="34" charset="0"/>
                <a:cs typeface="Calibri" panose="020F0502020204030204" pitchFamily="34" charset="0"/>
              </a:rPr>
              <a:t>P</a:t>
            </a:r>
            <a:r>
              <a:rPr lang="en-US" sz="18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rediction → SHAP explainability</a:t>
            </a:r>
          </a:p>
          <a:p>
            <a:pPr marL="228600" indent="-228600">
              <a:lnSpc>
                <a:spcPct val="115000"/>
              </a:lnSpc>
              <a:spcBef>
                <a:spcPts val="1000"/>
              </a:spcBef>
              <a:buClr>
                <a:srgbClr val="1D1B58"/>
              </a:buClr>
              <a:buFont typeface="Arial"/>
              <a:buChar char="•"/>
            </a:pPr>
            <a:r>
              <a:rPr lang="en-US" sz="1800" b="1"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Deliverable</a:t>
            </a:r>
          </a:p>
          <a:p>
            <a:pPr marL="685800" indent="-228600">
              <a:lnSpc>
                <a:spcPct val="115000"/>
              </a:lnSpc>
              <a:spcBef>
                <a:spcPts val="1000"/>
              </a:spcBef>
              <a:buClr>
                <a:srgbClr val="1D1B58"/>
              </a:buClr>
              <a:buFont typeface="Arial"/>
              <a:buChar char="–"/>
            </a:pPr>
            <a:r>
              <a:rPr lang="en-US" sz="18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Actionable, data-driven customer segments with targeted marketing and retention strategies</a:t>
            </a:r>
          </a:p>
          <a:p>
            <a:pPr>
              <a:lnSpc>
                <a:spcPct val="110000"/>
              </a:lnSpc>
              <a:spcBef>
                <a:spcPts val="900"/>
              </a:spcBef>
              <a:buClr>
                <a:srgbClr val="1D1B58"/>
              </a:buClr>
            </a:pPr>
            <a:endParaRPr lang="en-US" sz="18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1927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panose="020F0502020204030204" pitchFamily="34" charset="0"/>
                <a:ea typeface="Calibri" panose="020F0502020204030204" pitchFamily="34" charset="0"/>
                <a:cs typeface="Calibri" panose="020F0502020204030204" pitchFamily="34" charset="0"/>
              </a:rPr>
              <a:t>Dataset Overview</a:t>
            </a:r>
            <a:endParaRPr lang="en-US" sz="3400" b="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500" name="Body"/>
          <p:cNvSpPr>
            <a:spLocks noGrp="1"/>
          </p:cNvSpPr>
          <p:nvPr/>
        </p:nvSpPr>
        <p:spPr>
          <a:xfrm>
            <a:off x="678840" y="1445760"/>
            <a:ext cx="10834200" cy="1520404"/>
          </a:xfrm>
          <a:prstGeom prst="rect">
            <a:avLst/>
          </a:prstGeom>
          <a:noFill/>
          <a:ln w="12600">
            <a:noFill/>
          </a:ln>
        </p:spPr>
        <p:txBody>
          <a:bodyPr lIns="0" tIns="0" rIns="0" bIns="0" anchor="t">
            <a:normAutofit fontScale="85000" lnSpcReduction="20000"/>
          </a:bodyPr>
          <a:lstStyle/>
          <a:p>
            <a:pPr marL="228600" indent="-228600">
              <a:lnSpc>
                <a:spcPct val="115000"/>
              </a:lnSpc>
              <a:spcBef>
                <a:spcPts val="1000"/>
              </a:spcBef>
              <a:buClr>
                <a:srgbClr val="1D1B58"/>
              </a:buClr>
              <a:buFont typeface="Arial"/>
              <a:buChar char="•"/>
            </a:pPr>
            <a:r>
              <a:rPr lang="en-US" sz="22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541,909 raw transaction line items</a:t>
            </a:r>
          </a:p>
          <a:p>
            <a:pPr marL="228600" indent="-228600">
              <a:lnSpc>
                <a:spcPct val="115000"/>
              </a:lnSpc>
              <a:spcBef>
                <a:spcPts val="1000"/>
              </a:spcBef>
              <a:buClr>
                <a:srgbClr val="1D1B58"/>
              </a:buClr>
              <a:buFont typeface="Arial"/>
              <a:buChar char="•"/>
            </a:pPr>
            <a:r>
              <a:rPr lang="en-US" sz="22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4,372 unique customers across 38 countries</a:t>
            </a:r>
          </a:p>
          <a:p>
            <a:pPr marL="228600" indent="-228600">
              <a:lnSpc>
                <a:spcPct val="115000"/>
              </a:lnSpc>
              <a:spcBef>
                <a:spcPts val="1000"/>
              </a:spcBef>
              <a:buClr>
                <a:srgbClr val="1D1B58"/>
              </a:buClr>
              <a:buFont typeface="Arial"/>
              <a:buChar char="•"/>
            </a:pPr>
            <a:r>
              <a:rPr lang="en-US" sz="22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rPr>
              <a:t>Date range: December 1, 2010 – December 9, 2011 (~1 year of activity)</a:t>
            </a:r>
          </a:p>
          <a:p>
            <a:pPr marL="228600" indent="-228600">
              <a:lnSpc>
                <a:spcPct val="115000"/>
              </a:lnSpc>
              <a:spcBef>
                <a:spcPts val="1000"/>
              </a:spcBef>
              <a:buClr>
                <a:srgbClr val="1D1B58"/>
              </a:buClr>
              <a:buFont typeface="Arial"/>
              <a:buChar char="•"/>
            </a:pPr>
            <a:r>
              <a:rPr lang="en-US" sz="2200" spc="-1" dirty="0">
                <a:solidFill>
                  <a:srgbClr val="181717"/>
                </a:solidFill>
                <a:latin typeface="Calibri" panose="020F0502020204030204" pitchFamily="34" charset="0"/>
                <a:ea typeface="Calibri" panose="020F0502020204030204" pitchFamily="34" charset="0"/>
                <a:cs typeface="Calibri" panose="020F0502020204030204" pitchFamily="34" charset="0"/>
              </a:rPr>
              <a:t>Key Fields:</a:t>
            </a:r>
            <a:endParaRPr lang="en-US" sz="2200" b="0"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893B68C8-0926-441D-56DC-85C32831C0D2}"/>
              </a:ext>
            </a:extLst>
          </p:cNvPr>
          <p:cNvGraphicFramePr>
            <a:graphicFrameLocks noGrp="1"/>
          </p:cNvGraphicFramePr>
          <p:nvPr>
            <p:extLst>
              <p:ext uri="{D42A27DB-BD31-4B8C-83A1-F6EECF244321}">
                <p14:modId xmlns:p14="http://schemas.microsoft.com/office/powerpoint/2010/main" val="998336736"/>
              </p:ext>
            </p:extLst>
          </p:nvPr>
        </p:nvGraphicFramePr>
        <p:xfrm>
          <a:off x="678840" y="2966164"/>
          <a:ext cx="7491765" cy="3375659"/>
        </p:xfrm>
        <a:graphic>
          <a:graphicData uri="http://schemas.openxmlformats.org/drawingml/2006/table">
            <a:tbl>
              <a:tblPr>
                <a:tableStyleId>{2D5ABB26-0587-4C30-8999-92F81FD0307C}</a:tableStyleId>
              </a:tblPr>
              <a:tblGrid>
                <a:gridCol w="1393783">
                  <a:extLst>
                    <a:ext uri="{9D8B030D-6E8A-4147-A177-3AD203B41FA5}">
                      <a16:colId xmlns:a16="http://schemas.microsoft.com/office/drawing/2014/main" val="3198403845"/>
                    </a:ext>
                  </a:extLst>
                </a:gridCol>
                <a:gridCol w="4238674">
                  <a:extLst>
                    <a:ext uri="{9D8B030D-6E8A-4147-A177-3AD203B41FA5}">
                      <a16:colId xmlns:a16="http://schemas.microsoft.com/office/drawing/2014/main" val="3694855944"/>
                    </a:ext>
                  </a:extLst>
                </a:gridCol>
                <a:gridCol w="1859308">
                  <a:extLst>
                    <a:ext uri="{9D8B030D-6E8A-4147-A177-3AD203B41FA5}">
                      <a16:colId xmlns:a16="http://schemas.microsoft.com/office/drawing/2014/main" val="1046417418"/>
                    </a:ext>
                  </a:extLst>
                </a:gridCol>
              </a:tblGrid>
              <a:tr h="278916">
                <a:tc>
                  <a:txBody>
                    <a:bodyPr/>
                    <a:lstStyle/>
                    <a:p>
                      <a:pPr algn="ctr">
                        <a:buNone/>
                      </a:pPr>
                      <a:r>
                        <a:rPr lang="en-US" sz="1600" b="1" dirty="0">
                          <a:latin typeface="Calibri" panose="020F0502020204030204" pitchFamily="34" charset="0"/>
                          <a:ea typeface="Calibri" panose="020F0502020204030204" pitchFamily="34" charset="0"/>
                          <a:cs typeface="Calibri" panose="020F0502020204030204" pitchFamily="34" charset="0"/>
                        </a:rPr>
                        <a:t>Column</a:t>
                      </a:r>
                    </a:p>
                  </a:txBody>
                  <a:tcPr marL="88371" marR="88371" marT="44185" marB="44185" anchor="ctr"/>
                </a:tc>
                <a:tc>
                  <a:txBody>
                    <a:bodyPr/>
                    <a:lstStyle/>
                    <a:p>
                      <a:pPr algn="ctr">
                        <a:buNone/>
                      </a:pPr>
                      <a:r>
                        <a:rPr lang="en-US" sz="1600" b="1" dirty="0">
                          <a:latin typeface="Calibri" panose="020F0502020204030204" pitchFamily="34" charset="0"/>
                          <a:ea typeface="Calibri" panose="020F0502020204030204" pitchFamily="34" charset="0"/>
                          <a:cs typeface="Calibri" panose="020F0502020204030204" pitchFamily="34" charset="0"/>
                        </a:rPr>
                        <a:t>Description</a:t>
                      </a:r>
                    </a:p>
                  </a:txBody>
                  <a:tcPr marL="88371" marR="88371" marT="44185" marB="44185" anchor="ctr"/>
                </a:tc>
                <a:tc>
                  <a:txBody>
                    <a:bodyPr/>
                    <a:lstStyle/>
                    <a:p>
                      <a:pPr algn="ctr">
                        <a:buNone/>
                      </a:pPr>
                      <a:r>
                        <a:rPr lang="en-US" sz="1600" b="1" dirty="0">
                          <a:latin typeface="Calibri" panose="020F0502020204030204" pitchFamily="34" charset="0"/>
                          <a:ea typeface="Calibri" panose="020F0502020204030204" pitchFamily="34" charset="0"/>
                          <a:cs typeface="Calibri" panose="020F0502020204030204" pitchFamily="34" charset="0"/>
                        </a:rPr>
                        <a:t>Data Type</a:t>
                      </a:r>
                    </a:p>
                  </a:txBody>
                  <a:tcPr marL="88371" marR="88371" marT="44185" marB="44185" anchor="ctr"/>
                </a:tc>
                <a:extLst>
                  <a:ext uri="{0D108BD9-81ED-4DB2-BD59-A6C34878D82A}">
                    <a16:rowId xmlns:a16="http://schemas.microsoft.com/office/drawing/2014/main" val="3234869865"/>
                  </a:ext>
                </a:extLst>
              </a:tr>
              <a:tr h="406191">
                <a:tc>
                  <a:txBody>
                    <a:bodyPr/>
                    <a:lstStyle/>
                    <a:p>
                      <a:pPr algn="ctr">
                        <a:buNone/>
                      </a:pPr>
                      <a:r>
                        <a:rPr lang="en-US" sz="1600" dirty="0" err="1">
                          <a:latin typeface="Calibri" panose="020F0502020204030204" pitchFamily="34" charset="0"/>
                          <a:ea typeface="Calibri" panose="020F0502020204030204" pitchFamily="34" charset="0"/>
                          <a:cs typeface="Calibri" panose="020F0502020204030204" pitchFamily="34" charset="0"/>
                        </a:rPr>
                        <a:t>InvoiceNo</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marL="88371" marR="88371" marT="44185" marB="44185" anchor="ctr"/>
                </a:tc>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Unique identifier for each invoice/transaction</a:t>
                      </a:r>
                    </a:p>
                  </a:txBody>
                  <a:tcPr marL="88371" marR="88371" marT="44185" marB="44185" anchor="ctr"/>
                </a:tc>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Object</a:t>
                      </a:r>
                    </a:p>
                  </a:txBody>
                  <a:tcPr marL="88371" marR="88371" marT="44185" marB="44185" anchor="ctr"/>
                </a:tc>
                <a:extLst>
                  <a:ext uri="{0D108BD9-81ED-4DB2-BD59-A6C34878D82A}">
                    <a16:rowId xmlns:a16="http://schemas.microsoft.com/office/drawing/2014/main" val="100356197"/>
                  </a:ext>
                </a:extLst>
              </a:tr>
              <a:tr h="278916">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StockCode</a:t>
                      </a:r>
                    </a:p>
                  </a:txBody>
                  <a:tcPr marL="88371" marR="88371" marT="44185" marB="44185" anchor="ctr"/>
                </a:tc>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Unique product code</a:t>
                      </a:r>
                    </a:p>
                  </a:txBody>
                  <a:tcPr marL="88371" marR="88371" marT="44185" marB="44185" anchor="ctr"/>
                </a:tc>
                <a:tc>
                  <a:txBody>
                    <a:bodyPr/>
                    <a:lstStyle/>
                    <a:p>
                      <a:pPr algn="ctr">
                        <a:buNone/>
                      </a:pPr>
                      <a:r>
                        <a:rPr lang="en-US" sz="1600" dirty="0">
                          <a:latin typeface="Calibri" panose="020F0502020204030204" pitchFamily="34" charset="0"/>
                          <a:ea typeface="Calibri" panose="020F0502020204030204" pitchFamily="34" charset="0"/>
                          <a:cs typeface="Calibri" panose="020F0502020204030204" pitchFamily="34" charset="0"/>
                        </a:rPr>
                        <a:t>Object</a:t>
                      </a:r>
                    </a:p>
                  </a:txBody>
                  <a:tcPr marL="88371" marR="88371" marT="44185" marB="44185" anchor="ctr"/>
                </a:tc>
                <a:extLst>
                  <a:ext uri="{0D108BD9-81ED-4DB2-BD59-A6C34878D82A}">
                    <a16:rowId xmlns:a16="http://schemas.microsoft.com/office/drawing/2014/main" val="2560847202"/>
                  </a:ext>
                </a:extLst>
              </a:tr>
              <a:tr h="278916">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Description</a:t>
                      </a:r>
                    </a:p>
                  </a:txBody>
                  <a:tcPr marL="88371" marR="88371" marT="44185" marB="44185" anchor="ctr"/>
                </a:tc>
                <a:tc>
                  <a:txBody>
                    <a:bodyPr/>
                    <a:lstStyle/>
                    <a:p>
                      <a:pPr algn="ctr">
                        <a:buNone/>
                      </a:pPr>
                      <a:r>
                        <a:rPr lang="en-US" sz="1600" dirty="0">
                          <a:latin typeface="Calibri" panose="020F0502020204030204" pitchFamily="34" charset="0"/>
                          <a:ea typeface="Calibri" panose="020F0502020204030204" pitchFamily="34" charset="0"/>
                          <a:cs typeface="Calibri" panose="020F0502020204030204" pitchFamily="34" charset="0"/>
                        </a:rPr>
                        <a:t>Name/description of the product</a:t>
                      </a:r>
                    </a:p>
                  </a:txBody>
                  <a:tcPr marL="88371" marR="88371" marT="44185" marB="44185" anchor="ctr"/>
                </a:tc>
                <a:tc>
                  <a:txBody>
                    <a:bodyPr/>
                    <a:lstStyle/>
                    <a:p>
                      <a:pPr algn="ctr">
                        <a:buNone/>
                      </a:pPr>
                      <a:r>
                        <a:rPr lang="en-US" sz="1600" dirty="0">
                          <a:latin typeface="Calibri" panose="020F0502020204030204" pitchFamily="34" charset="0"/>
                          <a:ea typeface="Calibri" panose="020F0502020204030204" pitchFamily="34" charset="0"/>
                          <a:cs typeface="Calibri" panose="020F0502020204030204" pitchFamily="34" charset="0"/>
                        </a:rPr>
                        <a:t>Object</a:t>
                      </a:r>
                    </a:p>
                  </a:txBody>
                  <a:tcPr marL="88371" marR="88371" marT="44185" marB="44185" anchor="ctr"/>
                </a:tc>
                <a:extLst>
                  <a:ext uri="{0D108BD9-81ED-4DB2-BD59-A6C34878D82A}">
                    <a16:rowId xmlns:a16="http://schemas.microsoft.com/office/drawing/2014/main" val="2037036084"/>
                  </a:ext>
                </a:extLst>
              </a:tr>
              <a:tr h="278916">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Quantity</a:t>
                      </a:r>
                    </a:p>
                  </a:txBody>
                  <a:tcPr marL="88371" marR="88371" marT="44185" marB="44185" anchor="ctr"/>
                </a:tc>
                <a:tc>
                  <a:txBody>
                    <a:bodyPr/>
                    <a:lstStyle/>
                    <a:p>
                      <a:pPr algn="ctr">
                        <a:buNone/>
                      </a:pPr>
                      <a:r>
                        <a:rPr lang="en-US" sz="1600" dirty="0">
                          <a:latin typeface="Calibri" panose="020F0502020204030204" pitchFamily="34" charset="0"/>
                          <a:ea typeface="Calibri" panose="020F0502020204030204" pitchFamily="34" charset="0"/>
                          <a:cs typeface="Calibri" panose="020F0502020204030204" pitchFamily="34" charset="0"/>
                        </a:rPr>
                        <a:t>Number of items purchased</a:t>
                      </a:r>
                    </a:p>
                  </a:txBody>
                  <a:tcPr marL="88371" marR="88371" marT="44185" marB="44185" anchor="ctr"/>
                </a:tc>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Integer</a:t>
                      </a:r>
                    </a:p>
                  </a:txBody>
                  <a:tcPr marL="88371" marR="88371" marT="44185" marB="44185" anchor="ctr"/>
                </a:tc>
                <a:extLst>
                  <a:ext uri="{0D108BD9-81ED-4DB2-BD59-A6C34878D82A}">
                    <a16:rowId xmlns:a16="http://schemas.microsoft.com/office/drawing/2014/main" val="1944138430"/>
                  </a:ext>
                </a:extLst>
              </a:tr>
              <a:tr h="278916">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InvoiceDate</a:t>
                      </a:r>
                    </a:p>
                  </a:txBody>
                  <a:tcPr marL="88371" marR="88371" marT="44185" marB="44185" anchor="ctr"/>
                </a:tc>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Date and time of the transaction</a:t>
                      </a:r>
                    </a:p>
                  </a:txBody>
                  <a:tcPr marL="88371" marR="88371" marT="44185" marB="44185" anchor="ctr"/>
                </a:tc>
                <a:tc>
                  <a:txBody>
                    <a:bodyPr/>
                    <a:lstStyle/>
                    <a:p>
                      <a:pPr algn="ctr">
                        <a:buNone/>
                      </a:pPr>
                      <a:r>
                        <a:rPr lang="en-US" sz="1600" dirty="0">
                          <a:latin typeface="Calibri" panose="020F0502020204030204" pitchFamily="34" charset="0"/>
                          <a:ea typeface="Calibri" panose="020F0502020204030204" pitchFamily="34" charset="0"/>
                          <a:cs typeface="Calibri" panose="020F0502020204030204" pitchFamily="34" charset="0"/>
                        </a:rPr>
                        <a:t>Object</a:t>
                      </a:r>
                    </a:p>
                  </a:txBody>
                  <a:tcPr marL="88371" marR="88371" marT="44185" marB="44185" anchor="ctr"/>
                </a:tc>
                <a:extLst>
                  <a:ext uri="{0D108BD9-81ED-4DB2-BD59-A6C34878D82A}">
                    <a16:rowId xmlns:a16="http://schemas.microsoft.com/office/drawing/2014/main" val="644612654"/>
                  </a:ext>
                </a:extLst>
              </a:tr>
              <a:tr h="278916">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UnitPrice</a:t>
                      </a:r>
                    </a:p>
                  </a:txBody>
                  <a:tcPr marL="88371" marR="88371" marT="44185" marB="44185" anchor="ctr"/>
                </a:tc>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Price per unit of the product</a:t>
                      </a:r>
                    </a:p>
                  </a:txBody>
                  <a:tcPr marL="88371" marR="88371" marT="44185" marB="44185" anchor="ctr"/>
                </a:tc>
                <a:tc>
                  <a:txBody>
                    <a:bodyPr/>
                    <a:lstStyle/>
                    <a:p>
                      <a:pPr algn="ctr">
                        <a:buNone/>
                      </a:pPr>
                      <a:r>
                        <a:rPr lang="en-US" sz="1600" dirty="0">
                          <a:latin typeface="Calibri" panose="020F0502020204030204" pitchFamily="34" charset="0"/>
                          <a:ea typeface="Calibri" panose="020F0502020204030204" pitchFamily="34" charset="0"/>
                          <a:cs typeface="Calibri" panose="020F0502020204030204" pitchFamily="34" charset="0"/>
                        </a:rPr>
                        <a:t>Float</a:t>
                      </a:r>
                    </a:p>
                  </a:txBody>
                  <a:tcPr marL="88371" marR="88371" marT="44185" marB="44185" anchor="ctr"/>
                </a:tc>
                <a:extLst>
                  <a:ext uri="{0D108BD9-81ED-4DB2-BD59-A6C34878D82A}">
                    <a16:rowId xmlns:a16="http://schemas.microsoft.com/office/drawing/2014/main" val="2925324264"/>
                  </a:ext>
                </a:extLst>
              </a:tr>
              <a:tr h="488104">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CustomerID</a:t>
                      </a:r>
                    </a:p>
                  </a:txBody>
                  <a:tcPr marL="88371" marR="88371" marT="44185" marB="44185" anchor="ctr"/>
                </a:tc>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Unique identifier for each customer</a:t>
                      </a:r>
                    </a:p>
                  </a:txBody>
                  <a:tcPr marL="88371" marR="88371" marT="44185" marB="44185" anchor="ctr"/>
                </a:tc>
                <a:tc>
                  <a:txBody>
                    <a:bodyPr/>
                    <a:lstStyle/>
                    <a:p>
                      <a:pPr algn="ctr">
                        <a:buNone/>
                      </a:pPr>
                      <a:r>
                        <a:rPr lang="en-US" sz="1600" dirty="0">
                          <a:latin typeface="Calibri" panose="020F0502020204030204" pitchFamily="34" charset="0"/>
                          <a:ea typeface="Calibri" panose="020F0502020204030204" pitchFamily="34" charset="0"/>
                          <a:cs typeface="Calibri" panose="020F0502020204030204" pitchFamily="34" charset="0"/>
                        </a:rPr>
                        <a:t>Float</a:t>
                      </a:r>
                    </a:p>
                  </a:txBody>
                  <a:tcPr marL="88371" marR="88371" marT="44185" marB="44185" anchor="ctr"/>
                </a:tc>
                <a:extLst>
                  <a:ext uri="{0D108BD9-81ED-4DB2-BD59-A6C34878D82A}">
                    <a16:rowId xmlns:a16="http://schemas.microsoft.com/office/drawing/2014/main" val="2607800889"/>
                  </a:ext>
                </a:extLst>
              </a:tr>
              <a:tr h="488104">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Country</a:t>
                      </a:r>
                    </a:p>
                  </a:txBody>
                  <a:tcPr marL="88371" marR="88371" marT="44185" marB="44185" anchor="ctr"/>
                </a:tc>
                <a:tc>
                  <a:txBody>
                    <a:bodyPr/>
                    <a:lstStyle/>
                    <a:p>
                      <a:pPr algn="ctr">
                        <a:buNone/>
                      </a:pPr>
                      <a:r>
                        <a:rPr lang="en-US" sz="1600">
                          <a:latin typeface="Calibri" panose="020F0502020204030204" pitchFamily="34" charset="0"/>
                          <a:ea typeface="Calibri" panose="020F0502020204030204" pitchFamily="34" charset="0"/>
                          <a:cs typeface="Calibri" panose="020F0502020204030204" pitchFamily="34" charset="0"/>
                        </a:rPr>
                        <a:t>Country where the transaction occurred</a:t>
                      </a:r>
                    </a:p>
                  </a:txBody>
                  <a:tcPr marL="88371" marR="88371" marT="44185" marB="44185" anchor="ctr"/>
                </a:tc>
                <a:tc>
                  <a:txBody>
                    <a:bodyPr/>
                    <a:lstStyle/>
                    <a:p>
                      <a:pPr algn="ctr">
                        <a:buNone/>
                      </a:pPr>
                      <a:r>
                        <a:rPr lang="en-US" sz="1600" dirty="0">
                          <a:latin typeface="Calibri" panose="020F0502020204030204" pitchFamily="34" charset="0"/>
                          <a:ea typeface="Calibri" panose="020F0502020204030204" pitchFamily="34" charset="0"/>
                          <a:cs typeface="Calibri" panose="020F0502020204030204" pitchFamily="34" charset="0"/>
                        </a:rPr>
                        <a:t>Object</a:t>
                      </a:r>
                    </a:p>
                  </a:txBody>
                  <a:tcPr marL="88371" marR="88371" marT="44185" marB="44185" anchor="ctr"/>
                </a:tc>
                <a:extLst>
                  <a:ext uri="{0D108BD9-81ED-4DB2-BD59-A6C34878D82A}">
                    <a16:rowId xmlns:a16="http://schemas.microsoft.com/office/drawing/2014/main" val="37149336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Data Cleaning</a:t>
            </a:r>
            <a:endParaRPr lang="en-US" sz="3400" b="0" strike="noStrike" spc="-1" dirty="0">
              <a:solidFill>
                <a:srgbClr val="000000"/>
              </a:solidFill>
              <a:latin typeface="Arial"/>
            </a:endParaRPr>
          </a:p>
        </p:txBody>
      </p:sp>
      <p:sp>
        <p:nvSpPr>
          <p:cNvPr id="500" name="Body"/>
          <p:cNvSpPr>
            <a:spLocks noGrp="1"/>
          </p:cNvSpPr>
          <p:nvPr/>
        </p:nvSpPr>
        <p:spPr>
          <a:xfrm>
            <a:off x="678900" y="1459720"/>
            <a:ext cx="10834200" cy="4794559"/>
          </a:xfrm>
          <a:prstGeom prst="rect">
            <a:avLst/>
          </a:prstGeom>
          <a:noFill/>
          <a:ln w="12600">
            <a:noFill/>
          </a:ln>
        </p:spPr>
        <p:txBody>
          <a:bodyPr lIns="0" tIns="0" rIns="0" bIns="0" anchor="t">
            <a:noAutofit/>
          </a:bodyPr>
          <a:lstStyle/>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Parse </a:t>
            </a:r>
            <a:r>
              <a:rPr lang="en-US" dirty="0" err="1">
                <a:latin typeface="Calibri" panose="020F0502020204030204" pitchFamily="34" charset="0"/>
                <a:ea typeface="Calibri" panose="020F0502020204030204" pitchFamily="34" charset="0"/>
                <a:cs typeface="Calibri" panose="020F0502020204030204" pitchFamily="34" charset="0"/>
              </a:rPr>
              <a:t>InvoiceDate</a:t>
            </a:r>
            <a:r>
              <a:rPr lang="en-US" dirty="0">
                <a:latin typeface="Calibri" panose="020F0502020204030204" pitchFamily="34" charset="0"/>
                <a:ea typeface="Calibri" panose="020F0502020204030204" pitchFamily="34" charset="0"/>
                <a:cs typeface="Calibri" panose="020F0502020204030204" pitchFamily="34" charset="0"/>
              </a:rPr>
              <a:t> properly, handled both with a small helper function.</a:t>
            </a:r>
          </a:p>
          <a:p>
            <a:pPr marL="285750" lvl="0" indent="-285750">
              <a:buFont typeface="Arial" panose="020B0604020202020204" pitchFamily="34" charset="0"/>
              <a:buChar char="•"/>
            </a:pPr>
            <a:endParaRPr lang="en-US" b="1"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Removed rows with missing </a:t>
            </a:r>
            <a:r>
              <a:rPr lang="en-US" dirty="0" err="1">
                <a:latin typeface="Calibri" panose="020F0502020204030204" pitchFamily="34" charset="0"/>
                <a:ea typeface="Calibri" panose="020F0502020204030204" pitchFamily="34" charset="0"/>
                <a:cs typeface="Calibri" panose="020F0502020204030204" pitchFamily="34" charset="0"/>
              </a:rPr>
              <a:t>CustomerID</a:t>
            </a:r>
            <a:r>
              <a:rPr lang="en-US" dirty="0">
                <a:latin typeface="Calibri" panose="020F0502020204030204" pitchFamily="34" charset="0"/>
                <a:ea typeface="Calibri" panose="020F0502020204030204" pitchFamily="34" charset="0"/>
                <a:cs typeface="Calibri" panose="020F0502020204030204" pitchFamily="34" charset="0"/>
              </a:rPr>
              <a:t>. We can't assign a segment to an unknown customer, and these rows can't be fixed.</a:t>
            </a:r>
          </a:p>
          <a:p>
            <a:pPr marL="285750" lvl="0" indent="-285750">
              <a:buFont typeface="Arial" panose="020B0604020202020204" pitchFamily="34" charset="0"/>
              <a:buChar char="•"/>
            </a:pPr>
            <a:endParaRPr lang="en-US" b="1"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Removed cancelled orders (</a:t>
            </a:r>
            <a:r>
              <a:rPr lang="en-US" b="1" dirty="0" err="1">
                <a:latin typeface="Calibri" panose="020F0502020204030204" pitchFamily="34" charset="0"/>
                <a:ea typeface="Calibri" panose="020F0502020204030204" pitchFamily="34" charset="0"/>
                <a:cs typeface="Calibri" panose="020F0502020204030204" pitchFamily="34" charset="0"/>
              </a:rPr>
              <a:t>InvoiceNo</a:t>
            </a:r>
            <a:r>
              <a:rPr lang="en-US" dirty="0">
                <a:latin typeface="Calibri" panose="020F0502020204030204" pitchFamily="34" charset="0"/>
                <a:ea typeface="Calibri" panose="020F0502020204030204" pitchFamily="34" charset="0"/>
                <a:cs typeface="Calibri" panose="020F0502020204030204" pitchFamily="34" charset="0"/>
              </a:rPr>
              <a:t> starting with </a:t>
            </a:r>
            <a:r>
              <a:rPr lang="en-US" b="1" dirty="0">
                <a:latin typeface="Calibri" panose="020F0502020204030204" pitchFamily="34" charset="0"/>
                <a:ea typeface="Calibri" panose="020F0502020204030204" pitchFamily="34" charset="0"/>
                <a:cs typeface="Calibri" panose="020F0502020204030204" pitchFamily="34" charset="0"/>
              </a:rPr>
              <a:t>"C"</a:t>
            </a:r>
            <a:r>
              <a:rPr lang="en-US" dirty="0">
                <a:latin typeface="Calibri" panose="020F0502020204030204" pitchFamily="34" charset="0"/>
                <a:ea typeface="Calibri" panose="020F0502020204030204" pitchFamily="34" charset="0"/>
                <a:cs typeface="Calibri" panose="020F0502020204030204" pitchFamily="34" charset="0"/>
              </a:rPr>
              <a:t>), as they represent cancelled or returns rather than purchases and would distort spending and frequency calculations.</a:t>
            </a:r>
          </a:p>
          <a:p>
            <a:pPr marL="285750" lvl="0" indent="-285750">
              <a:buFont typeface="Arial" panose="020B0604020202020204" pitchFamily="34" charset="0"/>
              <a:buChar char="•"/>
            </a:pPr>
            <a:endParaRPr lang="en-US" b="1"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Removed rows with non-positive </a:t>
            </a:r>
            <a:r>
              <a:rPr lang="en-US" b="1" dirty="0">
                <a:latin typeface="Calibri" panose="020F0502020204030204" pitchFamily="34" charset="0"/>
                <a:ea typeface="Calibri" panose="020F0502020204030204" pitchFamily="34" charset="0"/>
                <a:cs typeface="Calibri" panose="020F0502020204030204" pitchFamily="34" charset="0"/>
              </a:rPr>
              <a:t>Quantity</a:t>
            </a:r>
            <a:r>
              <a:rPr lang="en-US" dirty="0">
                <a:latin typeface="Calibri" panose="020F0502020204030204" pitchFamily="34" charset="0"/>
                <a:ea typeface="Calibri" panose="020F0502020204030204" pitchFamily="34" charset="0"/>
                <a:cs typeface="Calibri" panose="020F0502020204030204" pitchFamily="34" charset="0"/>
              </a:rPr>
              <a:t> or </a:t>
            </a:r>
            <a:r>
              <a:rPr lang="en-US" b="1" dirty="0" err="1">
                <a:latin typeface="Calibri" panose="020F0502020204030204" pitchFamily="34" charset="0"/>
                <a:ea typeface="Calibri" panose="020F0502020204030204" pitchFamily="34" charset="0"/>
                <a:cs typeface="Calibri" panose="020F0502020204030204" pitchFamily="34" charset="0"/>
              </a:rPr>
              <a:t>UnitPrice</a:t>
            </a:r>
            <a:r>
              <a:rPr lang="en-US" dirty="0">
                <a:latin typeface="Calibri" panose="020F0502020204030204" pitchFamily="34" charset="0"/>
                <a:ea typeface="Calibri" panose="020F0502020204030204" pitchFamily="34" charset="0"/>
                <a:cs typeface="Calibri" panose="020F0502020204030204" pitchFamily="34" charset="0"/>
              </a:rPr>
              <a:t> values, as these typically represent returns or free/zero-value items.</a:t>
            </a:r>
          </a:p>
          <a:p>
            <a:pPr marL="285750" lvl="0" indent="-285750">
              <a:buFont typeface="Arial" panose="020B0604020202020204" pitchFamily="34" charset="0"/>
              <a:buChar char="•"/>
            </a:pPr>
            <a:endParaRPr lang="en-US" b="1"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Removed </a:t>
            </a:r>
            <a:r>
              <a:rPr lang="en-US" b="1" dirty="0">
                <a:latin typeface="Calibri" panose="020F0502020204030204" pitchFamily="34" charset="0"/>
                <a:ea typeface="Calibri" panose="020F0502020204030204" pitchFamily="34" charset="0"/>
                <a:cs typeface="Calibri" panose="020F0502020204030204" pitchFamily="34" charset="0"/>
              </a:rPr>
              <a:t>duplicate</a:t>
            </a:r>
            <a:r>
              <a:rPr lang="en-US" dirty="0">
                <a:latin typeface="Calibri" panose="020F0502020204030204" pitchFamily="34" charset="0"/>
                <a:ea typeface="Calibri" panose="020F0502020204030204" pitchFamily="34" charset="0"/>
                <a:cs typeface="Calibri" panose="020F0502020204030204" pitchFamily="34" charset="0"/>
              </a:rPr>
              <a:t> rows.</a:t>
            </a:r>
          </a:p>
          <a:p>
            <a:pPr marL="285750" lvl="0" indent="-285750">
              <a:buFont typeface="Arial" panose="020B0604020202020204" pitchFamily="34" charset="0"/>
              <a:buChar char="•"/>
            </a:pPr>
            <a:endParaRPr lang="en-US" b="1"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Created a </a:t>
            </a:r>
            <a:r>
              <a:rPr lang="en-US" b="1" dirty="0" err="1">
                <a:latin typeface="Calibri" panose="020F0502020204030204" pitchFamily="34" charset="0"/>
                <a:ea typeface="Calibri" panose="020F0502020204030204" pitchFamily="34" charset="0"/>
                <a:cs typeface="Calibri" panose="020F0502020204030204" pitchFamily="34" charset="0"/>
              </a:rPr>
              <a:t>TotalPrice</a:t>
            </a:r>
            <a:r>
              <a:rPr lang="en-US" dirty="0">
                <a:latin typeface="Calibri" panose="020F0502020204030204" pitchFamily="34" charset="0"/>
                <a:ea typeface="Calibri" panose="020F0502020204030204" pitchFamily="34" charset="0"/>
                <a:cs typeface="Calibri" panose="020F0502020204030204" pitchFamily="34" charset="0"/>
              </a:rPr>
              <a:t> column (</a:t>
            </a:r>
            <a:r>
              <a:rPr lang="en-US" b="1" dirty="0">
                <a:latin typeface="Calibri" panose="020F0502020204030204" pitchFamily="34" charset="0"/>
                <a:ea typeface="Calibri" panose="020F0502020204030204" pitchFamily="34" charset="0"/>
                <a:cs typeface="Calibri" panose="020F0502020204030204" pitchFamily="34" charset="0"/>
              </a:rPr>
              <a:t>Quantity × </a:t>
            </a:r>
            <a:r>
              <a:rPr lang="en-US" b="1" dirty="0" err="1">
                <a:latin typeface="Calibri" panose="020F0502020204030204" pitchFamily="34" charset="0"/>
                <a:ea typeface="Calibri" panose="020F0502020204030204" pitchFamily="34" charset="0"/>
                <a:cs typeface="Calibri" panose="020F0502020204030204" pitchFamily="34" charset="0"/>
              </a:rPr>
              <a:t>UnitPrice</a:t>
            </a:r>
            <a:r>
              <a:rPr lang="en-US" dirty="0">
                <a:latin typeface="Calibri" panose="020F0502020204030204" pitchFamily="34" charset="0"/>
                <a:ea typeface="Calibri" panose="020F0502020204030204" pitchFamily="34" charset="0"/>
                <a:cs typeface="Calibri" panose="020F0502020204030204" pitchFamily="34" charset="0"/>
              </a:rPr>
              <a:t>) to calculate the actual amount spent on each transaction line.</a:t>
            </a:r>
          </a:p>
          <a:p>
            <a:pPr marL="285750" lvl="0" indent="-285750">
              <a:buFont typeface="Arial" panose="020B0604020202020204" pitchFamily="34" charset="0"/>
              <a:buChar char="•"/>
            </a:pPr>
            <a:endParaRPr lang="en-US" b="1"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endParaRPr>
          </a:p>
          <a:p>
            <a:pPr lvl="0"/>
            <a:r>
              <a:rPr lang="en-US" b="1" dirty="0">
                <a:latin typeface="Calibri" panose="020F0502020204030204" pitchFamily="34" charset="0"/>
                <a:ea typeface="Calibri" panose="020F0502020204030204" pitchFamily="34" charset="0"/>
                <a:cs typeface="Calibri" panose="020F0502020204030204" pitchFamily="34" charset="0"/>
              </a:rPr>
              <a:t>Result:</a:t>
            </a:r>
            <a:r>
              <a:rPr lang="en-US" dirty="0">
                <a:latin typeface="Calibri" panose="020F0502020204030204" pitchFamily="34" charset="0"/>
                <a:ea typeface="Calibri" panose="020F0502020204030204" pitchFamily="34" charset="0"/>
                <a:cs typeface="Calibri" panose="020F0502020204030204" pitchFamily="34" charset="0"/>
              </a:rPr>
              <a:t> Dataset reduced from </a:t>
            </a:r>
            <a:r>
              <a:rPr lang="en-US" b="1" dirty="0">
                <a:latin typeface="Calibri" panose="020F0502020204030204" pitchFamily="34" charset="0"/>
                <a:ea typeface="Calibri" panose="020F0502020204030204" pitchFamily="34" charset="0"/>
                <a:cs typeface="Calibri" panose="020F0502020204030204" pitchFamily="34" charset="0"/>
              </a:rPr>
              <a:t>541,909</a:t>
            </a:r>
            <a:r>
              <a:rPr lang="en-US" dirty="0">
                <a:latin typeface="Calibri" panose="020F0502020204030204" pitchFamily="34" charset="0"/>
                <a:ea typeface="Calibri" panose="020F0502020204030204" pitchFamily="34" charset="0"/>
                <a:cs typeface="Calibri" panose="020F0502020204030204" pitchFamily="34" charset="0"/>
              </a:rPr>
              <a:t> transaction lines to </a:t>
            </a:r>
            <a:r>
              <a:rPr lang="en-US" b="1" dirty="0">
                <a:latin typeface="Calibri" panose="020F0502020204030204" pitchFamily="34" charset="0"/>
                <a:ea typeface="Calibri" panose="020F0502020204030204" pitchFamily="34" charset="0"/>
                <a:cs typeface="Calibri" panose="020F0502020204030204" pitchFamily="34" charset="0"/>
              </a:rPr>
              <a:t>392,692</a:t>
            </a:r>
            <a:r>
              <a:rPr lang="en-US" dirty="0">
                <a:latin typeface="Calibri" panose="020F0502020204030204" pitchFamily="34" charset="0"/>
                <a:ea typeface="Calibri" panose="020F0502020204030204" pitchFamily="34" charset="0"/>
                <a:cs typeface="Calibri" panose="020F0502020204030204" pitchFamily="34" charset="0"/>
              </a:rPr>
              <a:t> clean transaction lines and </a:t>
            </a:r>
            <a:r>
              <a:rPr lang="en-US" b="1" dirty="0">
                <a:latin typeface="Calibri" panose="020F0502020204030204" pitchFamily="34" charset="0"/>
                <a:ea typeface="Calibri" panose="020F0502020204030204" pitchFamily="34" charset="0"/>
                <a:cs typeface="Calibri" panose="020F0502020204030204" pitchFamily="34" charset="0"/>
              </a:rPr>
              <a:t>4,372</a:t>
            </a:r>
            <a:r>
              <a:rPr lang="en-US" dirty="0">
                <a:latin typeface="Calibri" panose="020F0502020204030204" pitchFamily="34" charset="0"/>
                <a:ea typeface="Calibri" panose="020F0502020204030204" pitchFamily="34" charset="0"/>
                <a:cs typeface="Calibri" panose="020F0502020204030204" pitchFamily="34" charset="0"/>
              </a:rPr>
              <a:t> customers to </a:t>
            </a:r>
            <a:r>
              <a:rPr lang="en-US" b="1" dirty="0">
                <a:latin typeface="Calibri" panose="020F0502020204030204" pitchFamily="34" charset="0"/>
                <a:ea typeface="Calibri" panose="020F0502020204030204" pitchFamily="34" charset="0"/>
                <a:cs typeface="Calibri" panose="020F0502020204030204" pitchFamily="34" charset="0"/>
              </a:rPr>
              <a:t>4,338</a:t>
            </a:r>
            <a:r>
              <a:rPr lang="en-US" dirty="0">
                <a:latin typeface="Calibri" panose="020F0502020204030204" pitchFamily="34" charset="0"/>
                <a:ea typeface="Calibri" panose="020F0502020204030204" pitchFamily="34" charset="0"/>
                <a:cs typeface="Calibri" panose="020F0502020204030204" pitchFamily="34" charset="0"/>
              </a:rPr>
              <a:t> unique customer.</a:t>
            </a:r>
            <a:endParaRPr lang="en-US" b="1" strike="noStrike" spc="-1" dirty="0">
              <a:solidFill>
                <a:srgbClr val="181717"/>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Exploratory Data Analysis</a:t>
            </a:r>
            <a:endParaRPr lang="en-US" sz="3400" b="0" strike="noStrike" spc="-1" dirty="0">
              <a:solidFill>
                <a:srgbClr val="000000"/>
              </a:solidFill>
              <a:latin typeface="Arial"/>
            </a:endParaRPr>
          </a:p>
        </p:txBody>
      </p:sp>
      <p:sp>
        <p:nvSpPr>
          <p:cNvPr id="700" name="Caption"/>
          <p:cNvSpPr/>
          <p:nvPr/>
        </p:nvSpPr>
        <p:spPr>
          <a:xfrm>
            <a:off x="1091795" y="5773019"/>
            <a:ext cx="5417160" cy="403157"/>
          </a:xfrm>
          <a:prstGeom prst="rect">
            <a:avLst/>
          </a:prstGeom>
          <a:noFill/>
          <a:ln w="0">
            <a:noFill/>
          </a:ln>
        </p:spPr>
        <p:txBody>
          <a:bodyPr lIns="0" tIns="0" rIns="0" bIns="0" anchor="t">
            <a:noAutofit/>
          </a:bodyPr>
          <a:lstStyle/>
          <a:p>
            <a:pPr algn="ctr"/>
            <a:r>
              <a:rPr lang="en-US" sz="1400" b="1" i="1" strike="noStrike" spc="-1" dirty="0">
                <a:solidFill>
                  <a:srgbClr val="555555"/>
                </a:solidFill>
                <a:latin typeface="Calibri"/>
              </a:rPr>
              <a:t>The UK accounts for the large majority of transactions </a:t>
            </a:r>
          </a:p>
        </p:txBody>
      </p:sp>
      <p:sp>
        <p:nvSpPr>
          <p:cNvPr id="5" name="TextBox 4">
            <a:extLst>
              <a:ext uri="{FF2B5EF4-FFF2-40B4-BE49-F238E27FC236}">
                <a16:creationId xmlns:a16="http://schemas.microsoft.com/office/drawing/2014/main" id="{0C473971-5B4B-9BD9-63FB-B23F73A45B79}"/>
              </a:ext>
            </a:extLst>
          </p:cNvPr>
          <p:cNvSpPr txBox="1"/>
          <p:nvPr/>
        </p:nvSpPr>
        <p:spPr>
          <a:xfrm>
            <a:off x="678840" y="1208247"/>
            <a:ext cx="6096000" cy="400110"/>
          </a:xfrm>
          <a:prstGeom prst="rect">
            <a:avLst/>
          </a:prstGeom>
          <a:noFill/>
        </p:spPr>
        <p:txBody>
          <a:bodyPr wrap="square">
            <a:spAutoFit/>
          </a:bodyPr>
          <a:lstStyle/>
          <a:p>
            <a:r>
              <a:rPr lang="en-US" sz="2000" b="1" strike="noStrike" spc="-1" dirty="0">
                <a:solidFill>
                  <a:srgbClr val="161A3E"/>
                </a:solidFill>
                <a:latin typeface="Calibri"/>
              </a:rPr>
              <a:t>Where &amp; When Customers Buy? </a:t>
            </a:r>
            <a:endParaRPr lang="en-US" sz="2000" dirty="0"/>
          </a:p>
        </p:txBody>
      </p:sp>
      <p:pic>
        <p:nvPicPr>
          <p:cNvPr id="7" name="Picture 6">
            <a:extLst>
              <a:ext uri="{FF2B5EF4-FFF2-40B4-BE49-F238E27FC236}">
                <a16:creationId xmlns:a16="http://schemas.microsoft.com/office/drawing/2014/main" id="{62588E31-FB9E-F755-93BD-A1957A57B0A4}"/>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a:stretch/>
        </p:blipFill>
        <p:spPr>
          <a:xfrm>
            <a:off x="365263" y="1895480"/>
            <a:ext cx="5730737" cy="3215644"/>
          </a:xfrm>
          <a:prstGeom prst="rect">
            <a:avLst/>
          </a:prstGeom>
        </p:spPr>
      </p:pic>
      <p:pic>
        <p:nvPicPr>
          <p:cNvPr id="9" name="Picture 8">
            <a:extLst>
              <a:ext uri="{FF2B5EF4-FFF2-40B4-BE49-F238E27FC236}">
                <a16:creationId xmlns:a16="http://schemas.microsoft.com/office/drawing/2014/main" id="{8106CB12-C682-A22F-4E16-1DD3D10938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8955" y="1356852"/>
            <a:ext cx="5154769" cy="4292901"/>
          </a:xfrm>
          <a:prstGeom prst="rect">
            <a:avLst/>
          </a:prstGeom>
        </p:spPr>
      </p:pic>
      <p:sp>
        <p:nvSpPr>
          <p:cNvPr id="11" name="TextBox 10">
            <a:extLst>
              <a:ext uri="{FF2B5EF4-FFF2-40B4-BE49-F238E27FC236}">
                <a16:creationId xmlns:a16="http://schemas.microsoft.com/office/drawing/2014/main" id="{5A2F1F1E-FCE3-C6DB-E13F-E974D749A757}"/>
              </a:ext>
            </a:extLst>
          </p:cNvPr>
          <p:cNvSpPr txBox="1"/>
          <p:nvPr/>
        </p:nvSpPr>
        <p:spPr>
          <a:xfrm>
            <a:off x="5833609" y="5716121"/>
            <a:ext cx="6096000" cy="307777"/>
          </a:xfrm>
          <a:prstGeom prst="rect">
            <a:avLst/>
          </a:prstGeom>
          <a:noFill/>
        </p:spPr>
        <p:txBody>
          <a:bodyPr wrap="square">
            <a:spAutoFit/>
          </a:bodyPr>
          <a:lstStyle/>
          <a:p>
            <a:pPr algn="ctr"/>
            <a:r>
              <a:rPr lang="en-US" sz="1400" b="1" i="1" spc="-1" dirty="0">
                <a:solidFill>
                  <a:srgbClr val="555555"/>
                </a:solidFill>
                <a:latin typeface="Calibri"/>
              </a:rPr>
              <a:t>R</a:t>
            </a:r>
            <a:r>
              <a:rPr lang="en-US" sz="1400" b="1" i="1" strike="noStrike" spc="-1" dirty="0">
                <a:solidFill>
                  <a:srgbClr val="555555"/>
                </a:solidFill>
                <a:latin typeface="Calibri"/>
              </a:rPr>
              <a:t>evenue peaks Sep–Nov ahead of the holiday season.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r>
              <a:rPr lang="en-US" sz="3400" b="1" strike="noStrike" spc="-1" dirty="0">
                <a:solidFill>
                  <a:srgbClr val="161A3E"/>
                </a:solidFill>
                <a:latin typeface="Calibri"/>
              </a:rPr>
              <a:t>Exploratory Data Analysis</a:t>
            </a:r>
            <a:endParaRPr lang="en-US" sz="3400" b="0" strike="noStrike" spc="-1" dirty="0">
              <a:solidFill>
                <a:srgbClr val="000000"/>
              </a:solidFill>
              <a:latin typeface="Arial"/>
            </a:endParaRPr>
          </a:p>
        </p:txBody>
      </p:sp>
      <p:pic>
        <p:nvPicPr>
          <p:cNvPr id="603" name="Top Products"/>
          <p:cNvPicPr>
            <a:picLocks noChangeAspect="1"/>
          </p:cNvPicPr>
          <p:nvPr/>
        </p:nvPicPr>
        <p:blipFill>
          <a:blip r:embed="rId2">
            <a:extLst>
              <a:ext uri="{BEBA8EAE-BF5A-486C-A8C5-ECC9F3942E4B}">
                <a14:imgProps xmlns:a14="http://schemas.microsoft.com/office/drawing/2010/main">
                  <a14:imgLayer r:embed="rId3">
                    <a14:imgEffect>
                      <a14:saturation sat="300000"/>
                    </a14:imgEffect>
                  </a14:imgLayer>
                </a14:imgProps>
              </a:ext>
            </a:extLst>
          </a:blip>
          <a:stretch>
            <a:fillRect/>
          </a:stretch>
        </p:blipFill>
        <p:spPr>
          <a:xfrm>
            <a:off x="6208458" y="2132951"/>
            <a:ext cx="4708096" cy="2592098"/>
          </a:xfrm>
          <a:prstGeom prst="rect">
            <a:avLst/>
          </a:prstGeom>
        </p:spPr>
      </p:pic>
      <p:pic>
        <p:nvPicPr>
          <p:cNvPr id="604" name="Value Distribution"/>
          <p:cNvPicPr>
            <a:picLocks noChangeAspect="1"/>
          </p:cNvPicPr>
          <p:nvPr/>
        </p:nvPicPr>
        <p:blipFill>
          <a:blip r:embed="rId4">
            <a:extLst>
              <a:ext uri="{BEBA8EAE-BF5A-486C-A8C5-ECC9F3942E4B}">
                <a14:imgProps xmlns:a14="http://schemas.microsoft.com/office/drawing/2010/main">
                  <a14:imgLayer r:embed="rId5">
                    <a14:imgEffect>
                      <a14:saturation sat="200000"/>
                    </a14:imgEffect>
                  </a14:imgLayer>
                </a14:imgProps>
              </a:ext>
            </a:extLst>
          </a:blip>
          <a:stretch>
            <a:fillRect/>
          </a:stretch>
        </p:blipFill>
        <p:spPr>
          <a:xfrm>
            <a:off x="678840" y="2028930"/>
            <a:ext cx="4702806" cy="2592098"/>
          </a:xfrm>
          <a:prstGeom prst="rect">
            <a:avLst/>
          </a:prstGeom>
        </p:spPr>
      </p:pic>
      <p:sp>
        <p:nvSpPr>
          <p:cNvPr id="700" name="Caption"/>
          <p:cNvSpPr/>
          <p:nvPr/>
        </p:nvSpPr>
        <p:spPr>
          <a:xfrm>
            <a:off x="908175" y="5183518"/>
            <a:ext cx="8946941" cy="500000"/>
          </a:xfrm>
          <a:prstGeom prst="rect">
            <a:avLst/>
          </a:prstGeom>
          <a:noFill/>
          <a:ln w="0">
            <a:noFill/>
          </a:ln>
        </p:spPr>
        <p:txBody>
          <a:bodyPr lIns="0" tIns="0" rIns="0" bIns="0" anchor="t">
            <a:noAutofit/>
          </a:bodyPr>
          <a:lstStyle/>
          <a:p>
            <a:pPr algn="ctr">
              <a:buNone/>
            </a:pPr>
            <a:r>
              <a:rPr lang="en-US" sz="1400" b="1" i="1" strike="noStrike" spc="-1" dirty="0">
                <a:solidFill>
                  <a:srgbClr val="555555"/>
                </a:solidFill>
                <a:latin typeface="Calibri"/>
              </a:rPr>
              <a:t>Order values are heavily right-skewed — a small number of very large orders motivate outlier capping before clustering.</a:t>
            </a:r>
          </a:p>
        </p:txBody>
      </p:sp>
      <p:sp>
        <p:nvSpPr>
          <p:cNvPr id="5" name="TextBox 4">
            <a:extLst>
              <a:ext uri="{FF2B5EF4-FFF2-40B4-BE49-F238E27FC236}">
                <a16:creationId xmlns:a16="http://schemas.microsoft.com/office/drawing/2014/main" id="{65208273-5BB1-607E-351F-BC69E7DA503F}"/>
              </a:ext>
            </a:extLst>
          </p:cNvPr>
          <p:cNvSpPr txBox="1"/>
          <p:nvPr/>
        </p:nvSpPr>
        <p:spPr>
          <a:xfrm>
            <a:off x="678840" y="1191036"/>
            <a:ext cx="3342554" cy="400110"/>
          </a:xfrm>
          <a:prstGeom prst="rect">
            <a:avLst/>
          </a:prstGeom>
          <a:noFill/>
        </p:spPr>
        <p:txBody>
          <a:bodyPr wrap="square">
            <a:spAutoFit/>
          </a:bodyPr>
          <a:lstStyle/>
          <a:p>
            <a:r>
              <a:rPr lang="en-US" sz="2000" b="1" strike="noStrike" spc="-1" dirty="0">
                <a:solidFill>
                  <a:srgbClr val="161A3E"/>
                </a:solidFill>
                <a:latin typeface="Calibri"/>
              </a:rPr>
              <a:t>What &amp; How Much They Buy?</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CD50195-80B5-D326-8727-80B84E2400F5}"/>
            </a:ext>
          </a:extLst>
        </p:cNvPr>
        <p:cNvGrpSpPr/>
        <p:nvPr/>
      </p:nvGrpSpPr>
      <p:grpSpPr>
        <a:xfrm>
          <a:off x="0" y="0"/>
          <a:ext cx="0" cy="0"/>
          <a:chOff x="0" y="0"/>
          <a:chExt cx="0" cy="0"/>
        </a:xfrm>
      </p:grpSpPr>
      <p:sp>
        <p:nvSpPr>
          <p:cNvPr id="98" name="PlaceHolder 1">
            <a:extLst>
              <a:ext uri="{FF2B5EF4-FFF2-40B4-BE49-F238E27FC236}">
                <a16:creationId xmlns:a16="http://schemas.microsoft.com/office/drawing/2014/main" id="{D2AB838D-EDF5-1AA7-45FD-1A82DA037DB2}"/>
              </a:ext>
            </a:extLst>
          </p:cNvPr>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Feature Engineering</a:t>
            </a:r>
            <a:endParaRPr lang="en-US" sz="3400" b="0" strike="noStrike" spc="-1" dirty="0">
              <a:solidFill>
                <a:srgbClr val="000000"/>
              </a:solidFill>
              <a:latin typeface="Arial"/>
            </a:endParaRPr>
          </a:p>
        </p:txBody>
      </p:sp>
      <p:sp>
        <p:nvSpPr>
          <p:cNvPr id="4" name="TextBox 3">
            <a:extLst>
              <a:ext uri="{FF2B5EF4-FFF2-40B4-BE49-F238E27FC236}">
                <a16:creationId xmlns:a16="http://schemas.microsoft.com/office/drawing/2014/main" id="{EEBF2F65-6374-43C2-6698-5866B0CD6D20}"/>
              </a:ext>
            </a:extLst>
          </p:cNvPr>
          <p:cNvSpPr txBox="1"/>
          <p:nvPr/>
        </p:nvSpPr>
        <p:spPr>
          <a:xfrm>
            <a:off x="678961" y="1331969"/>
            <a:ext cx="10834199" cy="1477328"/>
          </a:xfrm>
          <a:prstGeom prst="rect">
            <a:avLst/>
          </a:prstGeom>
          <a:noFill/>
        </p:spPr>
        <p:txBody>
          <a:bodyPr wrap="square">
            <a:spAutoFit/>
          </a:bodyPr>
          <a:lstStyle/>
          <a:p>
            <a:r>
              <a:rPr lang="en-US" spc="-1" dirty="0">
                <a:solidFill>
                  <a:srgbClr val="181717"/>
                </a:solidFill>
                <a:latin typeface="Calibri" panose="020F0502020204030204" pitchFamily="34" charset="0"/>
                <a:ea typeface="Calibri" panose="020F0502020204030204" pitchFamily="34" charset="0"/>
                <a:cs typeface="Calibri" panose="020F0502020204030204" pitchFamily="34" charset="0"/>
              </a:rPr>
              <a:t>Engineered an RFM Table.</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RFM</a:t>
            </a:r>
            <a:r>
              <a:rPr lang="en-US" dirty="0">
                <a:latin typeface="Calibri" panose="020F0502020204030204" pitchFamily="34" charset="0"/>
                <a:ea typeface="Calibri" panose="020F0502020204030204" pitchFamily="34" charset="0"/>
                <a:cs typeface="Calibri" panose="020F0502020204030204" pitchFamily="34" charset="0"/>
              </a:rPr>
              <a:t> stands for </a:t>
            </a:r>
            <a:r>
              <a:rPr lang="en-US" b="1" dirty="0">
                <a:latin typeface="Calibri" panose="020F0502020204030204" pitchFamily="34" charset="0"/>
                <a:ea typeface="Calibri" panose="020F0502020204030204" pitchFamily="34" charset="0"/>
                <a:cs typeface="Calibri" panose="020F0502020204030204" pitchFamily="34" charset="0"/>
              </a:rPr>
              <a:t>Recency, Frequency, Monetary </a:t>
            </a:r>
            <a:r>
              <a:rPr lang="en-US" dirty="0">
                <a:latin typeface="Calibri" panose="020F0502020204030204" pitchFamily="34" charset="0"/>
                <a:ea typeface="Calibri" panose="020F0502020204030204" pitchFamily="34" charset="0"/>
                <a:cs typeface="Calibri" panose="020F0502020204030204" pitchFamily="34" charset="0"/>
              </a:rPr>
              <a:t>is a customer segmentation technique used to analyze customer purchasing behavior based on three key metrics:</a:t>
            </a:r>
          </a:p>
          <a:p>
            <a:pPr lvl="0"/>
            <a:endParaRPr lang="en-US" b="1" dirty="0">
              <a:latin typeface="Calibri" panose="020F0502020204030204" pitchFamily="34" charset="0"/>
              <a:ea typeface="Calibri" panose="020F0502020204030204" pitchFamily="34" charset="0"/>
              <a:cs typeface="Calibri" panose="020F0502020204030204" pitchFamily="34" charset="0"/>
            </a:endParaRPr>
          </a:p>
        </p:txBody>
      </p:sp>
      <p:pic>
        <p:nvPicPr>
          <p:cNvPr id="44" name="Picture 43" descr="image.png">
            <a:extLst>
              <a:ext uri="{FF2B5EF4-FFF2-40B4-BE49-F238E27FC236}">
                <a16:creationId xmlns:a16="http://schemas.microsoft.com/office/drawing/2014/main" id="{93C1513C-5EA0-C2A3-3E60-1AC3B35842CF}"/>
              </a:ext>
            </a:extLst>
          </p:cNvPr>
          <p:cNvPicPr>
            <a:picLocks noChangeAspect="1"/>
          </p:cNvPicPr>
          <p:nvPr/>
        </p:nvPicPr>
        <p:blipFill>
          <a:blip r:embed="rId2">
            <a:extLst>
              <a:ext uri="{BEBA8EAE-BF5A-486C-A8C5-ECC9F3942E4B}">
                <a14:imgProps xmlns:a14="http://schemas.microsoft.com/office/drawing/2010/main">
                  <a14:imgLayer r:embed="rId3">
                    <a14:imgEffect>
                      <a14:saturation sat="33000"/>
                    </a14:imgEffect>
                  </a14:imgLayer>
                </a14:imgProps>
              </a:ext>
            </a:extLst>
          </a:blip>
          <a:stretch>
            <a:fillRect/>
          </a:stretch>
        </p:blipFill>
        <p:spPr>
          <a:xfrm>
            <a:off x="571500" y="2989957"/>
            <a:ext cx="3492549" cy="2788741"/>
          </a:xfrm>
          <a:prstGeom prst="rect">
            <a:avLst/>
          </a:prstGeom>
        </p:spPr>
      </p:pic>
      <p:pic>
        <p:nvPicPr>
          <p:cNvPr id="46" name="Picture 45" descr="image.png">
            <a:extLst>
              <a:ext uri="{FF2B5EF4-FFF2-40B4-BE49-F238E27FC236}">
                <a16:creationId xmlns:a16="http://schemas.microsoft.com/office/drawing/2014/main" id="{83CC6003-EFBB-8B57-1015-EE3AF140CA57}"/>
              </a:ext>
            </a:extLst>
          </p:cNvPr>
          <p:cNvPicPr>
            <a:picLocks noChangeAspect="1"/>
          </p:cNvPicPr>
          <p:nvPr/>
        </p:nvPicPr>
        <p:blipFill>
          <a:blip r:embed="rId4">
            <a:extLst>
              <a:ext uri="{BEBA8EAE-BF5A-486C-A8C5-ECC9F3942E4B}">
                <a14:imgProps xmlns:a14="http://schemas.microsoft.com/office/drawing/2010/main">
                  <a14:imgLayer r:embed="rId5">
                    <a14:imgEffect>
                      <a14:saturation sat="33000"/>
                    </a14:imgEffect>
                  </a14:imgLayer>
                </a14:imgProps>
              </a:ext>
            </a:extLst>
          </a:blip>
          <a:stretch>
            <a:fillRect/>
          </a:stretch>
        </p:blipFill>
        <p:spPr>
          <a:xfrm>
            <a:off x="4349799" y="2989957"/>
            <a:ext cx="3492549" cy="2788741"/>
          </a:xfrm>
          <a:prstGeom prst="rect">
            <a:avLst/>
          </a:prstGeom>
        </p:spPr>
      </p:pic>
      <p:pic>
        <p:nvPicPr>
          <p:cNvPr id="48" name="Picture 47" descr="image.png">
            <a:extLst>
              <a:ext uri="{FF2B5EF4-FFF2-40B4-BE49-F238E27FC236}">
                <a16:creationId xmlns:a16="http://schemas.microsoft.com/office/drawing/2014/main" id="{84253BD8-CD4B-9FD8-9688-93F1FB3692C2}"/>
              </a:ext>
            </a:extLst>
          </p:cNvPr>
          <p:cNvPicPr>
            <a:picLocks noChangeAspect="1"/>
          </p:cNvPicPr>
          <p:nvPr/>
        </p:nvPicPr>
        <p:blipFill>
          <a:blip r:embed="rId6">
            <a:extLst>
              <a:ext uri="{BEBA8EAE-BF5A-486C-A8C5-ECC9F3942E4B}">
                <a14:imgProps xmlns:a14="http://schemas.microsoft.com/office/drawing/2010/main">
                  <a14:imgLayer r:embed="rId7">
                    <a14:imgEffect>
                      <a14:saturation sat="33000"/>
                    </a14:imgEffect>
                  </a14:imgLayer>
                </a14:imgProps>
              </a:ext>
            </a:extLst>
          </a:blip>
          <a:stretch>
            <a:fillRect/>
          </a:stretch>
        </p:blipFill>
        <p:spPr>
          <a:xfrm>
            <a:off x="8128099" y="2989957"/>
            <a:ext cx="3492549" cy="2788741"/>
          </a:xfrm>
          <a:prstGeom prst="rect">
            <a:avLst/>
          </a:prstGeom>
        </p:spPr>
      </p:pic>
      <p:sp>
        <p:nvSpPr>
          <p:cNvPr id="50" name="TextBox 49">
            <a:extLst>
              <a:ext uri="{FF2B5EF4-FFF2-40B4-BE49-F238E27FC236}">
                <a16:creationId xmlns:a16="http://schemas.microsoft.com/office/drawing/2014/main" id="{38BE18BE-8D62-1E94-DC9B-F027D4037B1E}"/>
              </a:ext>
            </a:extLst>
          </p:cNvPr>
          <p:cNvSpPr txBox="1"/>
          <p:nvPr/>
        </p:nvSpPr>
        <p:spPr>
          <a:xfrm>
            <a:off x="744218" y="4047232"/>
            <a:ext cx="3147112" cy="276225"/>
          </a:xfrm>
          <a:prstGeom prst="rect">
            <a:avLst/>
          </a:prstGeom>
          <a:noFill/>
        </p:spPr>
        <p:txBody>
          <a:bodyPr wrap="square" lIns="0" tIns="0" rIns="0" bIns="0" anchor="t">
            <a:spAutoFit/>
          </a:bodyPr>
          <a:lstStyle/>
          <a:p>
            <a:pPr algn="ctr"/>
            <a:r>
              <a:rPr sz="1800" b="1" i="0" u="none" dirty="0">
                <a:solidFill>
                  <a:schemeClr val="bg1"/>
                </a:solidFill>
                <a:latin typeface="Urbanist Medium"/>
              </a:rPr>
              <a:t>Recency</a:t>
            </a:r>
          </a:p>
        </p:txBody>
      </p:sp>
      <p:sp>
        <p:nvSpPr>
          <p:cNvPr id="52" name="TextBox 51">
            <a:extLst>
              <a:ext uri="{FF2B5EF4-FFF2-40B4-BE49-F238E27FC236}">
                <a16:creationId xmlns:a16="http://schemas.microsoft.com/office/drawing/2014/main" id="{CCE0B9F3-AC5A-9193-8239-8AD1358FFDFD}"/>
              </a:ext>
            </a:extLst>
          </p:cNvPr>
          <p:cNvSpPr txBox="1"/>
          <p:nvPr/>
        </p:nvSpPr>
        <p:spPr>
          <a:xfrm>
            <a:off x="819150" y="4466332"/>
            <a:ext cx="2997249" cy="473784"/>
          </a:xfrm>
          <a:prstGeom prst="rect">
            <a:avLst/>
          </a:prstGeom>
          <a:noFill/>
        </p:spPr>
        <p:txBody>
          <a:bodyPr wrap="square" lIns="0" tIns="0" rIns="0" bIns="0" anchor="t">
            <a:spAutoFit/>
          </a:bodyPr>
          <a:lstStyle/>
          <a:p>
            <a:pPr algn="ctr">
              <a:lnSpc>
                <a:spcPts val="1920"/>
              </a:lnSpc>
            </a:pPr>
            <a:r>
              <a:rPr sz="1400" i="0" u="none" dirty="0">
                <a:solidFill>
                  <a:schemeClr val="bg1"/>
                </a:solidFill>
                <a:latin typeface="Urbanist"/>
              </a:rPr>
              <a:t>Days since the customer's last purchase. Lower is better (more recently active).</a:t>
            </a:r>
          </a:p>
        </p:txBody>
      </p:sp>
      <p:sp>
        <p:nvSpPr>
          <p:cNvPr id="54" name="TextBox 53">
            <a:extLst>
              <a:ext uri="{FF2B5EF4-FFF2-40B4-BE49-F238E27FC236}">
                <a16:creationId xmlns:a16="http://schemas.microsoft.com/office/drawing/2014/main" id="{6C89F5C2-335F-ED6B-9792-26FE6447EF2E}"/>
              </a:ext>
            </a:extLst>
          </p:cNvPr>
          <p:cNvSpPr txBox="1"/>
          <p:nvPr/>
        </p:nvSpPr>
        <p:spPr>
          <a:xfrm>
            <a:off x="819150" y="5096767"/>
            <a:ext cx="2997249" cy="223394"/>
          </a:xfrm>
          <a:prstGeom prst="rect">
            <a:avLst/>
          </a:prstGeom>
          <a:noFill/>
        </p:spPr>
        <p:txBody>
          <a:bodyPr wrap="square" lIns="0" tIns="0" rIns="0" bIns="0" anchor="t">
            <a:spAutoFit/>
          </a:bodyPr>
          <a:lstStyle/>
          <a:p>
            <a:pPr algn="ctr">
              <a:lnSpc>
                <a:spcPts val="1920"/>
              </a:lnSpc>
            </a:pPr>
            <a:r>
              <a:rPr sz="1200" b="1" i="0" u="none" dirty="0">
                <a:solidFill>
                  <a:schemeClr val="bg1"/>
                </a:solidFill>
                <a:latin typeface="Urbanist"/>
              </a:rPr>
              <a:t>Avg: 93 days</a:t>
            </a:r>
          </a:p>
        </p:txBody>
      </p:sp>
      <p:sp>
        <p:nvSpPr>
          <p:cNvPr id="56" name="TextBox 55">
            <a:extLst>
              <a:ext uri="{FF2B5EF4-FFF2-40B4-BE49-F238E27FC236}">
                <a16:creationId xmlns:a16="http://schemas.microsoft.com/office/drawing/2014/main" id="{BCC3925A-B5EF-632D-9B20-482F9F4F5E79}"/>
              </a:ext>
            </a:extLst>
          </p:cNvPr>
          <p:cNvSpPr txBox="1"/>
          <p:nvPr/>
        </p:nvSpPr>
        <p:spPr>
          <a:xfrm>
            <a:off x="4522518" y="4047232"/>
            <a:ext cx="3147112" cy="276225"/>
          </a:xfrm>
          <a:prstGeom prst="rect">
            <a:avLst/>
          </a:prstGeom>
          <a:noFill/>
        </p:spPr>
        <p:txBody>
          <a:bodyPr wrap="square" lIns="0" tIns="0" rIns="0" bIns="0" anchor="t">
            <a:spAutoFit/>
          </a:bodyPr>
          <a:lstStyle/>
          <a:p>
            <a:pPr algn="ctr"/>
            <a:r>
              <a:rPr sz="1800" b="1" i="0" u="none" dirty="0">
                <a:solidFill>
                  <a:schemeClr val="bg1"/>
                </a:solidFill>
                <a:latin typeface="Urbanist Medium"/>
              </a:rPr>
              <a:t>Frequency</a:t>
            </a:r>
          </a:p>
        </p:txBody>
      </p:sp>
      <p:sp>
        <p:nvSpPr>
          <p:cNvPr id="58" name="TextBox 57">
            <a:extLst>
              <a:ext uri="{FF2B5EF4-FFF2-40B4-BE49-F238E27FC236}">
                <a16:creationId xmlns:a16="http://schemas.microsoft.com/office/drawing/2014/main" id="{6330C449-217E-B667-2828-B1FFC546B5C8}"/>
              </a:ext>
            </a:extLst>
          </p:cNvPr>
          <p:cNvSpPr txBox="1"/>
          <p:nvPr/>
        </p:nvSpPr>
        <p:spPr>
          <a:xfrm>
            <a:off x="4597449" y="4466332"/>
            <a:ext cx="2997249" cy="473784"/>
          </a:xfrm>
          <a:prstGeom prst="rect">
            <a:avLst/>
          </a:prstGeom>
          <a:noFill/>
        </p:spPr>
        <p:txBody>
          <a:bodyPr wrap="square" lIns="0" tIns="0" rIns="0" bIns="0" anchor="t">
            <a:spAutoFit/>
          </a:bodyPr>
          <a:lstStyle/>
          <a:p>
            <a:pPr algn="ctr">
              <a:lnSpc>
                <a:spcPts val="1920"/>
              </a:lnSpc>
            </a:pPr>
            <a:r>
              <a:rPr sz="1400" b="0" i="0" u="none" dirty="0">
                <a:solidFill>
                  <a:schemeClr val="bg1"/>
                </a:solidFill>
                <a:latin typeface="Urbanist"/>
              </a:rPr>
              <a:t>Total number of distinct orders placed. Higher indicates greater loyalty.</a:t>
            </a:r>
          </a:p>
        </p:txBody>
      </p:sp>
      <p:sp>
        <p:nvSpPr>
          <p:cNvPr id="60" name="TextBox 59">
            <a:extLst>
              <a:ext uri="{FF2B5EF4-FFF2-40B4-BE49-F238E27FC236}">
                <a16:creationId xmlns:a16="http://schemas.microsoft.com/office/drawing/2014/main" id="{0B37C585-43B0-20EB-BA0B-2BDBBB6717A7}"/>
              </a:ext>
            </a:extLst>
          </p:cNvPr>
          <p:cNvSpPr txBox="1"/>
          <p:nvPr/>
        </p:nvSpPr>
        <p:spPr>
          <a:xfrm>
            <a:off x="4597449" y="5096767"/>
            <a:ext cx="2997249" cy="223394"/>
          </a:xfrm>
          <a:prstGeom prst="rect">
            <a:avLst/>
          </a:prstGeom>
          <a:noFill/>
        </p:spPr>
        <p:txBody>
          <a:bodyPr wrap="square" lIns="0" tIns="0" rIns="0" bIns="0" anchor="t">
            <a:spAutoFit/>
          </a:bodyPr>
          <a:lstStyle/>
          <a:p>
            <a:pPr algn="ctr">
              <a:lnSpc>
                <a:spcPts val="1920"/>
              </a:lnSpc>
            </a:pPr>
            <a:r>
              <a:rPr sz="1200" b="1" i="0" u="none" dirty="0">
                <a:solidFill>
                  <a:schemeClr val="bg1"/>
                </a:solidFill>
                <a:latin typeface="Urbanist"/>
              </a:rPr>
              <a:t>Avg: 4 orders</a:t>
            </a:r>
          </a:p>
        </p:txBody>
      </p:sp>
      <p:sp>
        <p:nvSpPr>
          <p:cNvPr id="62" name="TextBox 61">
            <a:extLst>
              <a:ext uri="{FF2B5EF4-FFF2-40B4-BE49-F238E27FC236}">
                <a16:creationId xmlns:a16="http://schemas.microsoft.com/office/drawing/2014/main" id="{9356EB79-A4EB-4AD9-FF8C-20A3A5538A9E}"/>
              </a:ext>
            </a:extLst>
          </p:cNvPr>
          <p:cNvSpPr txBox="1"/>
          <p:nvPr/>
        </p:nvSpPr>
        <p:spPr>
          <a:xfrm>
            <a:off x="8300817" y="4047232"/>
            <a:ext cx="3147112" cy="276225"/>
          </a:xfrm>
          <a:prstGeom prst="rect">
            <a:avLst/>
          </a:prstGeom>
          <a:noFill/>
        </p:spPr>
        <p:txBody>
          <a:bodyPr wrap="square" lIns="0" tIns="0" rIns="0" bIns="0" anchor="t">
            <a:spAutoFit/>
          </a:bodyPr>
          <a:lstStyle/>
          <a:p>
            <a:pPr algn="ctr"/>
            <a:r>
              <a:rPr sz="1800" b="1" i="0" u="none" dirty="0">
                <a:solidFill>
                  <a:schemeClr val="bg1"/>
                </a:solidFill>
                <a:latin typeface="Urbanist Medium"/>
              </a:rPr>
              <a:t>Monetary</a:t>
            </a:r>
          </a:p>
        </p:txBody>
      </p:sp>
      <p:sp>
        <p:nvSpPr>
          <p:cNvPr id="64" name="TextBox 63">
            <a:extLst>
              <a:ext uri="{FF2B5EF4-FFF2-40B4-BE49-F238E27FC236}">
                <a16:creationId xmlns:a16="http://schemas.microsoft.com/office/drawing/2014/main" id="{BA3A1FAC-4285-84E5-BEA9-1DA481D79A73}"/>
              </a:ext>
            </a:extLst>
          </p:cNvPr>
          <p:cNvSpPr txBox="1"/>
          <p:nvPr/>
        </p:nvSpPr>
        <p:spPr>
          <a:xfrm>
            <a:off x="8225887" y="4466332"/>
            <a:ext cx="3222042" cy="473784"/>
          </a:xfrm>
          <a:prstGeom prst="rect">
            <a:avLst/>
          </a:prstGeom>
          <a:noFill/>
        </p:spPr>
        <p:txBody>
          <a:bodyPr wrap="square" lIns="0" tIns="0" rIns="0" bIns="0" anchor="t">
            <a:spAutoFit/>
          </a:bodyPr>
          <a:lstStyle/>
          <a:p>
            <a:pPr algn="ctr">
              <a:lnSpc>
                <a:spcPts val="1920"/>
              </a:lnSpc>
            </a:pPr>
            <a:r>
              <a:rPr sz="1400" b="0" i="0" u="none" dirty="0">
                <a:solidFill>
                  <a:schemeClr val="bg1"/>
                </a:solidFill>
                <a:latin typeface="Urbanist"/>
              </a:rPr>
              <a:t>Total amount spent across all transactions. Higher means more valuable.</a:t>
            </a:r>
          </a:p>
        </p:txBody>
      </p:sp>
      <p:sp>
        <p:nvSpPr>
          <p:cNvPr id="66" name="TextBox 65">
            <a:extLst>
              <a:ext uri="{FF2B5EF4-FFF2-40B4-BE49-F238E27FC236}">
                <a16:creationId xmlns:a16="http://schemas.microsoft.com/office/drawing/2014/main" id="{0A3D343D-EB7D-76E1-707E-436D0A2F7A3E}"/>
              </a:ext>
            </a:extLst>
          </p:cNvPr>
          <p:cNvSpPr txBox="1"/>
          <p:nvPr/>
        </p:nvSpPr>
        <p:spPr>
          <a:xfrm>
            <a:off x="8375749" y="5096767"/>
            <a:ext cx="2997249" cy="223394"/>
          </a:xfrm>
          <a:prstGeom prst="rect">
            <a:avLst/>
          </a:prstGeom>
          <a:noFill/>
        </p:spPr>
        <p:txBody>
          <a:bodyPr wrap="square" lIns="0" tIns="0" rIns="0" bIns="0" anchor="t">
            <a:spAutoFit/>
          </a:bodyPr>
          <a:lstStyle/>
          <a:p>
            <a:pPr algn="ctr">
              <a:lnSpc>
                <a:spcPts val="1920"/>
              </a:lnSpc>
            </a:pPr>
            <a:r>
              <a:rPr sz="1200" b="1" i="0" u="none" dirty="0">
                <a:solidFill>
                  <a:schemeClr val="bg1"/>
                </a:solidFill>
                <a:latin typeface="Urbanist"/>
              </a:rPr>
              <a:t>Avg: £2,049</a:t>
            </a:r>
          </a:p>
        </p:txBody>
      </p:sp>
      <p:pic>
        <p:nvPicPr>
          <p:cNvPr id="68" name="Picture 67" descr="image.png">
            <a:extLst>
              <a:ext uri="{FF2B5EF4-FFF2-40B4-BE49-F238E27FC236}">
                <a16:creationId xmlns:a16="http://schemas.microsoft.com/office/drawing/2014/main" id="{0F7E046C-100B-F8BD-C8ED-282D991D9D26}"/>
              </a:ext>
            </a:extLst>
          </p:cNvPr>
          <p:cNvPicPr>
            <a:picLocks noChangeAspect="1"/>
          </p:cNvPicPr>
          <p:nvPr/>
        </p:nvPicPr>
        <p:blipFill>
          <a:blip r:embed="rId8">
            <a:biLevel thresh="50000"/>
          </a:blip>
          <a:stretch>
            <a:fillRect/>
          </a:stretch>
        </p:blipFill>
        <p:spPr>
          <a:xfrm>
            <a:off x="2079575" y="3332857"/>
            <a:ext cx="476250" cy="476250"/>
          </a:xfrm>
          <a:prstGeom prst="rect">
            <a:avLst/>
          </a:prstGeom>
        </p:spPr>
      </p:pic>
      <p:pic>
        <p:nvPicPr>
          <p:cNvPr id="70" name="Picture 69" descr="image.png">
            <a:extLst>
              <a:ext uri="{FF2B5EF4-FFF2-40B4-BE49-F238E27FC236}">
                <a16:creationId xmlns:a16="http://schemas.microsoft.com/office/drawing/2014/main" id="{2818E864-D289-F33D-9CC0-2125E3BDF8EF}"/>
              </a:ext>
            </a:extLst>
          </p:cNvPr>
          <p:cNvPicPr>
            <a:picLocks noChangeAspect="1"/>
          </p:cNvPicPr>
          <p:nvPr/>
        </p:nvPicPr>
        <p:blipFill>
          <a:blip r:embed="rId9">
            <a:biLevel thresh="50000"/>
          </a:blip>
          <a:stretch>
            <a:fillRect/>
          </a:stretch>
        </p:blipFill>
        <p:spPr>
          <a:xfrm>
            <a:off x="5857875" y="3332857"/>
            <a:ext cx="476250" cy="476250"/>
          </a:xfrm>
          <a:prstGeom prst="rect">
            <a:avLst/>
          </a:prstGeom>
        </p:spPr>
      </p:pic>
      <p:pic>
        <p:nvPicPr>
          <p:cNvPr id="72" name="Picture 71" descr="image.png">
            <a:extLst>
              <a:ext uri="{FF2B5EF4-FFF2-40B4-BE49-F238E27FC236}">
                <a16:creationId xmlns:a16="http://schemas.microsoft.com/office/drawing/2014/main" id="{D0B108FC-D6A2-E2E6-DA08-62188C88CDB2}"/>
              </a:ext>
            </a:extLst>
          </p:cNvPr>
          <p:cNvPicPr>
            <a:picLocks noChangeAspect="1"/>
          </p:cNvPicPr>
          <p:nvPr/>
        </p:nvPicPr>
        <p:blipFill>
          <a:blip r:embed="rId10">
            <a:biLevel thresh="50000"/>
          </a:blip>
          <a:stretch>
            <a:fillRect/>
          </a:stretch>
        </p:blipFill>
        <p:spPr>
          <a:xfrm>
            <a:off x="9636174" y="3332857"/>
            <a:ext cx="476250" cy="476250"/>
          </a:xfrm>
          <a:prstGeom prst="rect">
            <a:avLst/>
          </a:prstGeom>
        </p:spPr>
      </p:pic>
    </p:spTree>
    <p:extLst>
      <p:ext uri="{BB962C8B-B14F-4D97-AF65-F5344CB8AC3E}">
        <p14:creationId xmlns:p14="http://schemas.microsoft.com/office/powerpoint/2010/main" val="1538094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38F42FD-E56B-1521-406E-0A1BE8AE25AE}"/>
            </a:ext>
          </a:extLst>
        </p:cNvPr>
        <p:cNvGrpSpPr/>
        <p:nvPr/>
      </p:nvGrpSpPr>
      <p:grpSpPr>
        <a:xfrm>
          <a:off x="0" y="0"/>
          <a:ext cx="0" cy="0"/>
          <a:chOff x="0" y="0"/>
          <a:chExt cx="0" cy="0"/>
        </a:xfrm>
      </p:grpSpPr>
      <p:sp>
        <p:nvSpPr>
          <p:cNvPr id="98" name="PlaceHolder 1">
            <a:extLst>
              <a:ext uri="{FF2B5EF4-FFF2-40B4-BE49-F238E27FC236}">
                <a16:creationId xmlns:a16="http://schemas.microsoft.com/office/drawing/2014/main" id="{AEC7174A-FBB8-0594-CDDC-88C8D2F6CEDF}"/>
              </a:ext>
            </a:extLst>
          </p:cNvPr>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Outlier Handling</a:t>
            </a:r>
            <a:endParaRPr lang="en-US" sz="3400" b="0" strike="noStrike" spc="-1" dirty="0">
              <a:solidFill>
                <a:srgbClr val="000000"/>
              </a:solidFill>
              <a:latin typeface="Arial"/>
            </a:endParaRPr>
          </a:p>
        </p:txBody>
      </p:sp>
      <p:pic>
        <p:nvPicPr>
          <p:cNvPr id="605" name="Boxplots Before">
            <a:extLst>
              <a:ext uri="{FF2B5EF4-FFF2-40B4-BE49-F238E27FC236}">
                <a16:creationId xmlns:a16="http://schemas.microsoft.com/office/drawing/2014/main" id="{6C77AE21-EDE4-112D-5E65-0B6C275749FC}"/>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760547" y="2647827"/>
            <a:ext cx="10670906" cy="2794932"/>
          </a:xfrm>
          <a:prstGeom prst="rect">
            <a:avLst/>
          </a:prstGeom>
        </p:spPr>
      </p:pic>
      <p:sp>
        <p:nvSpPr>
          <p:cNvPr id="4" name="TextBox 3">
            <a:extLst>
              <a:ext uri="{FF2B5EF4-FFF2-40B4-BE49-F238E27FC236}">
                <a16:creationId xmlns:a16="http://schemas.microsoft.com/office/drawing/2014/main" id="{622F3975-C10B-35FD-B494-CA516A3253EE}"/>
              </a:ext>
            </a:extLst>
          </p:cNvPr>
          <p:cNvSpPr txBox="1"/>
          <p:nvPr/>
        </p:nvSpPr>
        <p:spPr>
          <a:xfrm>
            <a:off x="678961" y="1331969"/>
            <a:ext cx="10834199" cy="923330"/>
          </a:xfrm>
          <a:prstGeom prst="rect">
            <a:avLst/>
          </a:prstGeom>
          <a:noFill/>
        </p:spPr>
        <p:txBody>
          <a:bodyPr wrap="square">
            <a:spAutoFit/>
          </a:bodyPr>
          <a:lstStyle/>
          <a:p>
            <a:pPr algn="l"/>
            <a:r>
              <a:rPr lang="en-US" b="1" i="0" u="none" dirty="0">
                <a:latin typeface="Calibri" panose="020F0502020204030204" pitchFamily="34" charset="0"/>
                <a:ea typeface="Calibri" panose="020F0502020204030204" pitchFamily="34" charset="0"/>
                <a:cs typeface="Calibri" panose="020F0502020204030204" pitchFamily="34" charset="0"/>
              </a:rPr>
              <a:t>The Outlier Problem</a:t>
            </a:r>
          </a:p>
          <a:p>
            <a:r>
              <a:rPr lang="en-US" b="0" i="0" u="none" dirty="0">
                <a:latin typeface="Calibri" panose="020F0502020204030204" pitchFamily="34" charset="0"/>
                <a:ea typeface="Calibri" panose="020F0502020204030204" pitchFamily="34" charset="0"/>
                <a:cs typeface="Calibri" panose="020F0502020204030204" pitchFamily="34" charset="0"/>
              </a:rPr>
              <a:t>Retail data typically features severe right-skewness (e.g., wholesalers). Deleting these removes valuable business data, but leaving them distorts distance-based clustering algorithms.</a:t>
            </a:r>
          </a:p>
        </p:txBody>
      </p:sp>
    </p:spTree>
    <p:extLst>
      <p:ext uri="{BB962C8B-B14F-4D97-AF65-F5344CB8AC3E}">
        <p14:creationId xmlns:p14="http://schemas.microsoft.com/office/powerpoint/2010/main" val="548795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7CD064-BAF0-5A57-09AB-18A150ED5DBE}"/>
            </a:ext>
          </a:extLst>
        </p:cNvPr>
        <p:cNvGrpSpPr/>
        <p:nvPr/>
      </p:nvGrpSpPr>
      <p:grpSpPr>
        <a:xfrm>
          <a:off x="0" y="0"/>
          <a:ext cx="0" cy="0"/>
          <a:chOff x="0" y="0"/>
          <a:chExt cx="0" cy="0"/>
        </a:xfrm>
      </p:grpSpPr>
      <p:sp>
        <p:nvSpPr>
          <p:cNvPr id="98" name="PlaceHolder 1">
            <a:extLst>
              <a:ext uri="{FF2B5EF4-FFF2-40B4-BE49-F238E27FC236}">
                <a16:creationId xmlns:a16="http://schemas.microsoft.com/office/drawing/2014/main" id="{2E1E2D16-7DEA-2098-ADEB-CF5DE8BEEA83}"/>
              </a:ext>
            </a:extLst>
          </p:cNvPr>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Outlier Handling</a:t>
            </a:r>
            <a:endParaRPr lang="en-US" sz="3400" b="0" strike="noStrike" spc="-1" dirty="0">
              <a:solidFill>
                <a:srgbClr val="000000"/>
              </a:solidFill>
              <a:latin typeface="Arial"/>
            </a:endParaRPr>
          </a:p>
        </p:txBody>
      </p:sp>
      <p:sp>
        <p:nvSpPr>
          <p:cNvPr id="4" name="TextBox 3">
            <a:extLst>
              <a:ext uri="{FF2B5EF4-FFF2-40B4-BE49-F238E27FC236}">
                <a16:creationId xmlns:a16="http://schemas.microsoft.com/office/drawing/2014/main" id="{BFDED2B9-D851-A8F2-22D6-EC0A36B1D180}"/>
              </a:ext>
            </a:extLst>
          </p:cNvPr>
          <p:cNvSpPr txBox="1"/>
          <p:nvPr/>
        </p:nvSpPr>
        <p:spPr>
          <a:xfrm>
            <a:off x="678961" y="1331969"/>
            <a:ext cx="10834199" cy="659283"/>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Solution: IQR Capping</a:t>
            </a:r>
          </a:p>
          <a:p>
            <a:pPr>
              <a:lnSpc>
                <a:spcPts val="2400"/>
              </a:lnSpc>
            </a:pPr>
            <a:r>
              <a:rPr lang="en-US" dirty="0">
                <a:latin typeface="Calibri" panose="020F0502020204030204" pitchFamily="34" charset="0"/>
                <a:ea typeface="Calibri" panose="020F0502020204030204" pitchFamily="34" charset="0"/>
                <a:cs typeface="Calibri" panose="020F0502020204030204" pitchFamily="34" charset="0"/>
              </a:rPr>
              <a:t>Instead of deletion, we capped extreme values at the Interquartile Range (IQR) bounds.</a:t>
            </a:r>
            <a:endParaRPr lang="en-US" b="0" i="0" u="none" dirty="0">
              <a:latin typeface="Calibri" panose="020F0502020204030204" pitchFamily="34" charset="0"/>
              <a:ea typeface="Calibri" panose="020F0502020204030204" pitchFamily="34" charset="0"/>
              <a:cs typeface="Calibri" panose="020F0502020204030204" pitchFamily="34" charset="0"/>
            </a:endParaRPr>
          </a:p>
        </p:txBody>
      </p:sp>
      <p:pic>
        <p:nvPicPr>
          <p:cNvPr id="5" name="Boxplots After">
            <a:extLst>
              <a:ext uri="{FF2B5EF4-FFF2-40B4-BE49-F238E27FC236}">
                <a16:creationId xmlns:a16="http://schemas.microsoft.com/office/drawing/2014/main" id="{A398F965-2264-E71C-9D09-07738F68B516}"/>
              </a:ext>
            </a:extLst>
          </p:cNvPr>
          <p:cNvPicPr>
            <a:picLocks noChangeAspect="1"/>
          </p:cNvPicPr>
          <p:nvPr/>
        </p:nvPicPr>
        <p:blipFill>
          <a:blip r:embed="rId2"/>
          <a:stretch>
            <a:fillRect/>
          </a:stretch>
        </p:blipFill>
        <p:spPr>
          <a:xfrm>
            <a:off x="695487" y="2141641"/>
            <a:ext cx="10801026" cy="2829013"/>
          </a:xfrm>
          <a:prstGeom prst="rect">
            <a:avLst/>
          </a:prstGeom>
        </p:spPr>
      </p:pic>
      <p:sp>
        <p:nvSpPr>
          <p:cNvPr id="6" name="Rectangle: Rounded Corners 5">
            <a:extLst>
              <a:ext uri="{FF2B5EF4-FFF2-40B4-BE49-F238E27FC236}">
                <a16:creationId xmlns:a16="http://schemas.microsoft.com/office/drawing/2014/main" id="{359FC45E-E1F6-3FE0-7DA3-975F9E08B927}"/>
              </a:ext>
            </a:extLst>
          </p:cNvPr>
          <p:cNvSpPr/>
          <p:nvPr/>
        </p:nvSpPr>
        <p:spPr>
          <a:xfrm>
            <a:off x="8954584" y="1407163"/>
            <a:ext cx="3067664" cy="659283"/>
          </a:xfrm>
          <a:prstGeom prst="roundRect">
            <a:avLst/>
          </a:prstGeom>
          <a:solidFill>
            <a:srgbClr val="9CE2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Lower = Q1 – 1.5 * IQR</a:t>
            </a:r>
          </a:p>
          <a:p>
            <a:pPr algn="ctr"/>
            <a:r>
              <a:rPr lang="en-US" dirty="0">
                <a:solidFill>
                  <a:schemeClr val="tx1"/>
                </a:solidFill>
              </a:rPr>
              <a:t>Upper = Q3 + 1.5 * IQR</a:t>
            </a:r>
          </a:p>
        </p:txBody>
      </p:sp>
      <p:graphicFrame>
        <p:nvGraphicFramePr>
          <p:cNvPr id="8" name="Table 7">
            <a:extLst>
              <a:ext uri="{FF2B5EF4-FFF2-40B4-BE49-F238E27FC236}">
                <a16:creationId xmlns:a16="http://schemas.microsoft.com/office/drawing/2014/main" id="{304C4731-E3F5-D6B9-6F05-9BB1FE64C108}"/>
              </a:ext>
            </a:extLst>
          </p:cNvPr>
          <p:cNvGraphicFramePr>
            <a:graphicFrameLocks noGrp="1"/>
          </p:cNvGraphicFramePr>
          <p:nvPr>
            <p:extLst>
              <p:ext uri="{D42A27DB-BD31-4B8C-83A1-F6EECF244321}">
                <p14:modId xmlns:p14="http://schemas.microsoft.com/office/powerpoint/2010/main" val="4230650886"/>
              </p:ext>
            </p:extLst>
          </p:nvPr>
        </p:nvGraphicFramePr>
        <p:xfrm>
          <a:off x="4416601" y="5121043"/>
          <a:ext cx="3358798" cy="1574728"/>
        </p:xfrm>
        <a:graphic>
          <a:graphicData uri="http://schemas.openxmlformats.org/drawingml/2006/table">
            <a:tbl>
              <a:tblPr firstRow="1" bandRow="1">
                <a:tableStyleId>{5C22544A-7EE6-4342-B048-85BDC9FD1C3A}</a:tableStyleId>
              </a:tblPr>
              <a:tblGrid>
                <a:gridCol w="1236949">
                  <a:extLst>
                    <a:ext uri="{9D8B030D-6E8A-4147-A177-3AD203B41FA5}">
                      <a16:colId xmlns:a16="http://schemas.microsoft.com/office/drawing/2014/main" val="20000"/>
                    </a:ext>
                  </a:extLst>
                </a:gridCol>
                <a:gridCol w="2121849">
                  <a:extLst>
                    <a:ext uri="{9D8B030D-6E8A-4147-A177-3AD203B41FA5}">
                      <a16:colId xmlns:a16="http://schemas.microsoft.com/office/drawing/2014/main" val="20001"/>
                    </a:ext>
                  </a:extLst>
                </a:gridCol>
              </a:tblGrid>
              <a:tr h="393682">
                <a:tc>
                  <a:txBody>
                    <a:bodyPr/>
                    <a:lstStyle/>
                    <a:p>
                      <a:pPr algn="ctr"/>
                      <a:r>
                        <a:rPr sz="1500" b="1" u="none" dirty="0">
                          <a:solidFill>
                            <a:schemeClr val="tx1"/>
                          </a:solidFill>
                        </a:rPr>
                        <a:t>Feature</a:t>
                      </a:r>
                      <a:endParaRPr sz="1500" b="1" i="0" u="none" dirty="0">
                        <a:solidFill>
                          <a:schemeClr val="tx1"/>
                        </a:solidFill>
                        <a:latin typeface="Urbanist"/>
                      </a:endParaRPr>
                    </a:p>
                  </a:txBody>
                  <a:tcPr marL="63500" marR="63500" marT="25400" marB="25400" anchor="ctr">
                    <a:solidFill>
                      <a:srgbClr val="9CE29C"/>
                    </a:solidFill>
                  </a:tcPr>
                </a:tc>
                <a:tc>
                  <a:txBody>
                    <a:bodyPr/>
                    <a:lstStyle/>
                    <a:p>
                      <a:pPr algn="ctr"/>
                      <a:r>
                        <a:rPr sz="1500" b="1" u="none" dirty="0">
                          <a:solidFill>
                            <a:schemeClr val="tx1"/>
                          </a:solidFill>
                        </a:rPr>
                        <a:t>Capped Customers</a:t>
                      </a:r>
                      <a:endParaRPr sz="1500" b="1" i="0" u="none" dirty="0">
                        <a:solidFill>
                          <a:schemeClr val="tx1"/>
                        </a:solidFill>
                        <a:latin typeface="Urbanist"/>
                      </a:endParaRPr>
                    </a:p>
                  </a:txBody>
                  <a:tcPr marL="63500" marR="63500" marT="25400" marB="25400" anchor="ctr">
                    <a:solidFill>
                      <a:srgbClr val="9CE29C"/>
                    </a:solidFill>
                  </a:tcPr>
                </a:tc>
                <a:extLst>
                  <a:ext uri="{0D108BD9-81ED-4DB2-BD59-A6C34878D82A}">
                    <a16:rowId xmlns:a16="http://schemas.microsoft.com/office/drawing/2014/main" val="10000"/>
                  </a:ext>
                </a:extLst>
              </a:tr>
              <a:tr h="393682">
                <a:tc>
                  <a:txBody>
                    <a:bodyPr/>
                    <a:lstStyle/>
                    <a:p>
                      <a:pPr algn="ctr"/>
                      <a:r>
                        <a:rPr sz="1350" b="0" u="none" dirty="0">
                          <a:solidFill>
                            <a:schemeClr val="tx1"/>
                          </a:solidFill>
                        </a:rPr>
                        <a:t>Recency</a:t>
                      </a:r>
                      <a:endParaRPr sz="1350" b="0" i="0" u="none" dirty="0">
                        <a:solidFill>
                          <a:schemeClr val="tx1"/>
                        </a:solidFill>
                        <a:latin typeface="Urbanist"/>
                      </a:endParaRPr>
                    </a:p>
                  </a:txBody>
                  <a:tcPr marL="63500" marR="63500" marT="25400" marB="25400" anchor="ctr"/>
                </a:tc>
                <a:tc>
                  <a:txBody>
                    <a:bodyPr/>
                    <a:lstStyle/>
                    <a:p>
                      <a:pPr algn="ctr"/>
                      <a:r>
                        <a:rPr sz="1350" b="0" u="none" dirty="0">
                          <a:solidFill>
                            <a:schemeClr val="tx1"/>
                          </a:solidFill>
                        </a:rPr>
                        <a:t>155</a:t>
                      </a:r>
                      <a:endParaRPr sz="1350" b="0" i="0" u="none" dirty="0">
                        <a:solidFill>
                          <a:schemeClr val="tx1"/>
                        </a:solidFill>
                        <a:latin typeface="Urbanist"/>
                      </a:endParaRPr>
                    </a:p>
                  </a:txBody>
                  <a:tcPr marL="63500" marR="63500" marT="25400" marB="25400" anchor="ctr"/>
                </a:tc>
                <a:extLst>
                  <a:ext uri="{0D108BD9-81ED-4DB2-BD59-A6C34878D82A}">
                    <a16:rowId xmlns:a16="http://schemas.microsoft.com/office/drawing/2014/main" val="10001"/>
                  </a:ext>
                </a:extLst>
              </a:tr>
              <a:tr h="393682">
                <a:tc>
                  <a:txBody>
                    <a:bodyPr/>
                    <a:lstStyle/>
                    <a:p>
                      <a:pPr algn="ctr"/>
                      <a:r>
                        <a:rPr sz="1350" b="0" u="none">
                          <a:solidFill>
                            <a:schemeClr val="tx1"/>
                          </a:solidFill>
                        </a:rPr>
                        <a:t>Frequency</a:t>
                      </a:r>
                      <a:endParaRPr sz="1350" b="0" i="0" u="none">
                        <a:solidFill>
                          <a:schemeClr val="tx1"/>
                        </a:solidFill>
                        <a:latin typeface="Urbanist"/>
                      </a:endParaRPr>
                    </a:p>
                  </a:txBody>
                  <a:tcPr marL="63500" marR="63500" marT="25400" marB="25400" anchor="ctr"/>
                </a:tc>
                <a:tc>
                  <a:txBody>
                    <a:bodyPr/>
                    <a:lstStyle/>
                    <a:p>
                      <a:pPr algn="ctr"/>
                      <a:r>
                        <a:rPr sz="1350" b="0" u="none" dirty="0">
                          <a:solidFill>
                            <a:schemeClr val="tx1"/>
                          </a:solidFill>
                        </a:rPr>
                        <a:t>285</a:t>
                      </a:r>
                      <a:endParaRPr sz="1350" b="0" i="0" u="none" dirty="0">
                        <a:solidFill>
                          <a:schemeClr val="tx1"/>
                        </a:solidFill>
                        <a:latin typeface="Urbanist"/>
                      </a:endParaRPr>
                    </a:p>
                  </a:txBody>
                  <a:tcPr marL="63500" marR="63500" marT="25400" marB="25400" anchor="ctr"/>
                </a:tc>
                <a:extLst>
                  <a:ext uri="{0D108BD9-81ED-4DB2-BD59-A6C34878D82A}">
                    <a16:rowId xmlns:a16="http://schemas.microsoft.com/office/drawing/2014/main" val="10002"/>
                  </a:ext>
                </a:extLst>
              </a:tr>
              <a:tr h="393682">
                <a:tc>
                  <a:txBody>
                    <a:bodyPr/>
                    <a:lstStyle/>
                    <a:p>
                      <a:pPr algn="ctr"/>
                      <a:r>
                        <a:rPr sz="1350" b="0" u="none" dirty="0">
                          <a:solidFill>
                            <a:schemeClr val="tx1"/>
                          </a:solidFill>
                        </a:rPr>
                        <a:t>Monetary</a:t>
                      </a:r>
                      <a:endParaRPr sz="1350" b="0" i="0" u="none" dirty="0">
                        <a:solidFill>
                          <a:schemeClr val="tx1"/>
                        </a:solidFill>
                        <a:latin typeface="Urbanist"/>
                      </a:endParaRPr>
                    </a:p>
                  </a:txBody>
                  <a:tcPr marL="63500" marR="63500" marT="25400" marB="25400" anchor="ctr"/>
                </a:tc>
                <a:tc>
                  <a:txBody>
                    <a:bodyPr/>
                    <a:lstStyle/>
                    <a:p>
                      <a:pPr algn="ctr"/>
                      <a:r>
                        <a:rPr sz="1350" b="0" u="none" dirty="0">
                          <a:solidFill>
                            <a:schemeClr val="tx1"/>
                          </a:solidFill>
                        </a:rPr>
                        <a:t>425</a:t>
                      </a:r>
                      <a:endParaRPr sz="1350" b="0" i="0" u="none" dirty="0">
                        <a:solidFill>
                          <a:schemeClr val="tx1"/>
                        </a:solidFill>
                        <a:latin typeface="Urbanist"/>
                      </a:endParaRPr>
                    </a:p>
                  </a:txBody>
                  <a:tcPr marL="63500" marR="63500" marT="25400" marB="2540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73744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9898171-F141-6BBF-E1FD-299A7AC29FD3}"/>
            </a:ext>
          </a:extLst>
        </p:cNvPr>
        <p:cNvGrpSpPr/>
        <p:nvPr/>
      </p:nvGrpSpPr>
      <p:grpSpPr>
        <a:xfrm>
          <a:off x="0" y="0"/>
          <a:ext cx="0" cy="0"/>
          <a:chOff x="0" y="0"/>
          <a:chExt cx="0" cy="0"/>
        </a:xfrm>
      </p:grpSpPr>
      <p:sp>
        <p:nvSpPr>
          <p:cNvPr id="98" name="PlaceHolder 1">
            <a:extLst>
              <a:ext uri="{FF2B5EF4-FFF2-40B4-BE49-F238E27FC236}">
                <a16:creationId xmlns:a16="http://schemas.microsoft.com/office/drawing/2014/main" id="{0B95ED7C-EE6D-CA0D-F8AC-33C73C40AF83}"/>
              </a:ext>
            </a:extLst>
          </p:cNvPr>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Clustering</a:t>
            </a:r>
            <a:endParaRPr lang="en-US" sz="3400" b="0" strike="noStrike" spc="-1" dirty="0">
              <a:solidFill>
                <a:srgbClr val="000000"/>
              </a:solidFill>
              <a:latin typeface="Arial"/>
            </a:endParaRPr>
          </a:p>
        </p:txBody>
      </p:sp>
      <p:sp>
        <p:nvSpPr>
          <p:cNvPr id="4" name="TextBox 3">
            <a:extLst>
              <a:ext uri="{FF2B5EF4-FFF2-40B4-BE49-F238E27FC236}">
                <a16:creationId xmlns:a16="http://schemas.microsoft.com/office/drawing/2014/main" id="{F1CA1DD4-6BF6-A0CB-3EA0-5B302728B7E8}"/>
              </a:ext>
            </a:extLst>
          </p:cNvPr>
          <p:cNvSpPr txBox="1"/>
          <p:nvPr/>
        </p:nvSpPr>
        <p:spPr>
          <a:xfrm>
            <a:off x="678840" y="1216440"/>
            <a:ext cx="10834199" cy="369332"/>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K-Means: Selecting the Optimal Number of Clusters</a:t>
            </a:r>
          </a:p>
        </p:txBody>
      </p:sp>
      <p:sp>
        <p:nvSpPr>
          <p:cNvPr id="2" name="TextBox 1">
            <a:extLst>
              <a:ext uri="{FF2B5EF4-FFF2-40B4-BE49-F238E27FC236}">
                <a16:creationId xmlns:a16="http://schemas.microsoft.com/office/drawing/2014/main" id="{1A5369AC-487C-CD8F-5B1C-90B8EF457534}"/>
              </a:ext>
            </a:extLst>
          </p:cNvPr>
          <p:cNvSpPr txBox="1"/>
          <p:nvPr/>
        </p:nvSpPr>
        <p:spPr>
          <a:xfrm>
            <a:off x="998059" y="4395063"/>
            <a:ext cx="5063441" cy="646331"/>
          </a:xfrm>
          <a:prstGeom prst="rect">
            <a:avLst/>
          </a:prstGeom>
          <a:noFill/>
        </p:spPr>
        <p:txBody>
          <a:bodyPr wrap="square" rtlCol="0">
            <a:spAutoFit/>
          </a:bodyPr>
          <a:lstStyle/>
          <a:p>
            <a:pPr lvl="0" algn="ctr"/>
            <a:r>
              <a:rPr lang="en-US" b="1" dirty="0">
                <a:latin typeface="Calibri" panose="020F0502020204030204" pitchFamily="34" charset="0"/>
                <a:ea typeface="Calibri" panose="020F0502020204030204" pitchFamily="34" charset="0"/>
                <a:cs typeface="Calibri" panose="020F0502020204030204" pitchFamily="34" charset="0"/>
              </a:rPr>
              <a:t>Elbow Method:</a:t>
            </a:r>
            <a:r>
              <a:rPr lang="en-US" dirty="0">
                <a:latin typeface="Calibri" panose="020F0502020204030204" pitchFamily="34" charset="0"/>
                <a:ea typeface="Calibri" panose="020F0502020204030204" pitchFamily="34" charset="0"/>
                <a:cs typeface="Calibri" panose="020F0502020204030204" pitchFamily="34" charset="0"/>
              </a:rPr>
              <a:t> Inertia decreases sharply from </a:t>
            </a:r>
            <a:r>
              <a:rPr lang="en-US" b="1" dirty="0">
                <a:latin typeface="Calibri" panose="020F0502020204030204" pitchFamily="34" charset="0"/>
                <a:ea typeface="Calibri" panose="020F0502020204030204" pitchFamily="34" charset="0"/>
                <a:cs typeface="Calibri" panose="020F0502020204030204" pitchFamily="34" charset="0"/>
              </a:rPr>
              <a:t>k = 2 to k = 3</a:t>
            </a:r>
            <a:r>
              <a:rPr lang="en-US" dirty="0">
                <a:latin typeface="Calibri" panose="020F0502020204030204" pitchFamily="34" charset="0"/>
                <a:ea typeface="Calibri" panose="020F0502020204030204" pitchFamily="34" charset="0"/>
                <a:cs typeface="Calibri" panose="020F0502020204030204" pitchFamily="34" charset="0"/>
              </a:rPr>
              <a:t>, then the reduction becomes more gradual. </a:t>
            </a:r>
          </a:p>
        </p:txBody>
      </p:sp>
      <p:pic>
        <p:nvPicPr>
          <p:cNvPr id="9" name="Picture 8">
            <a:extLst>
              <a:ext uri="{FF2B5EF4-FFF2-40B4-BE49-F238E27FC236}">
                <a16:creationId xmlns:a16="http://schemas.microsoft.com/office/drawing/2014/main" id="{62FB8D54-D7EC-D583-DA61-E697574E39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719" y="1585772"/>
            <a:ext cx="10834199" cy="2809293"/>
          </a:xfrm>
          <a:prstGeom prst="rect">
            <a:avLst/>
          </a:prstGeom>
        </p:spPr>
      </p:pic>
      <p:sp>
        <p:nvSpPr>
          <p:cNvPr id="12" name="TextBox 11">
            <a:extLst>
              <a:ext uri="{FF2B5EF4-FFF2-40B4-BE49-F238E27FC236}">
                <a16:creationId xmlns:a16="http://schemas.microsoft.com/office/drawing/2014/main" id="{9D8DD0E1-7BB4-2DD2-381B-86C796A781C9}"/>
              </a:ext>
            </a:extLst>
          </p:cNvPr>
          <p:cNvSpPr txBox="1"/>
          <p:nvPr/>
        </p:nvSpPr>
        <p:spPr>
          <a:xfrm>
            <a:off x="678719" y="5179895"/>
            <a:ext cx="9556662" cy="1295868"/>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Final Selection:</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k = 3</a:t>
            </a:r>
            <a:r>
              <a:rPr lang="en-US" sz="1800" dirty="0">
                <a:latin typeface="Calibri" panose="020F0502020204030204" pitchFamily="34" charset="0"/>
                <a:ea typeface="Calibri" panose="020F0502020204030204" pitchFamily="34" charset="0"/>
                <a:cs typeface="Calibri" panose="020F0502020204030204" pitchFamily="34" charset="0"/>
              </a:rPr>
              <a:t> was selected as the optimal number of clusters.</a:t>
            </a:r>
          </a:p>
          <a:p>
            <a:pPr marL="285750" lvl="0" indent="-285750">
              <a:lnSpc>
                <a:spcPct val="150000"/>
              </a:lnSpc>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Validation:</a:t>
            </a:r>
            <a:r>
              <a:rPr lang="en-US" sz="1800" dirty="0">
                <a:latin typeface="Calibri" panose="020F0502020204030204" pitchFamily="34" charset="0"/>
                <a:ea typeface="Calibri" panose="020F0502020204030204" pitchFamily="34" charset="0"/>
                <a:cs typeface="Calibri" panose="020F0502020204030204" pitchFamily="34" charset="0"/>
              </a:rPr>
              <a:t> Both the </a:t>
            </a:r>
            <a:r>
              <a:rPr lang="en-US" sz="1800" b="1" dirty="0">
                <a:latin typeface="Calibri" panose="020F0502020204030204" pitchFamily="34" charset="0"/>
                <a:ea typeface="Calibri" panose="020F0502020204030204" pitchFamily="34" charset="0"/>
                <a:cs typeface="Calibri" panose="020F0502020204030204" pitchFamily="34" charset="0"/>
              </a:rPr>
              <a:t>Elbow Method and Silhouette Score</a:t>
            </a:r>
            <a:r>
              <a:rPr lang="en-US" sz="1800" dirty="0">
                <a:latin typeface="Calibri" panose="020F0502020204030204" pitchFamily="34" charset="0"/>
                <a:ea typeface="Calibri" panose="020F0502020204030204" pitchFamily="34" charset="0"/>
                <a:cs typeface="Calibri" panose="020F0502020204030204" pitchFamily="34" charset="0"/>
              </a:rPr>
              <a:t> support the choice of </a:t>
            </a:r>
            <a:r>
              <a:rPr lang="en-US" sz="1800" b="1" dirty="0">
                <a:latin typeface="Calibri" panose="020F0502020204030204" pitchFamily="34" charset="0"/>
                <a:ea typeface="Calibri" panose="020F0502020204030204" pitchFamily="34" charset="0"/>
                <a:cs typeface="Calibri" panose="020F0502020204030204" pitchFamily="34" charset="0"/>
              </a:rPr>
              <a:t>3 clusters</a:t>
            </a:r>
            <a:r>
              <a:rPr lang="en-US" sz="1800" dirty="0">
                <a:latin typeface="Calibri" panose="020F0502020204030204" pitchFamily="34" charset="0"/>
                <a:ea typeface="Calibri" panose="020F0502020204030204" pitchFamily="34" charset="0"/>
                <a:cs typeface="Calibri" panose="020F0502020204030204" pitchFamily="34" charset="0"/>
              </a:rPr>
              <a:t>. </a:t>
            </a:r>
          </a:p>
          <a:p>
            <a:pPr marL="285750" lvl="0" indent="-285750">
              <a:lnSpc>
                <a:spcPct val="150000"/>
              </a:lnSpc>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Business Fit:</a:t>
            </a:r>
            <a:r>
              <a:rPr lang="en-US" sz="1800" dirty="0">
                <a:latin typeface="Calibri" panose="020F0502020204030204" pitchFamily="34" charset="0"/>
                <a:ea typeface="Calibri" panose="020F0502020204030204" pitchFamily="34" charset="0"/>
                <a:cs typeface="Calibri" panose="020F0502020204030204" pitchFamily="34" charset="0"/>
              </a:rPr>
              <a:t> Three clusters provide a </a:t>
            </a:r>
            <a:r>
              <a:rPr lang="en-US" sz="1800" b="1" dirty="0">
                <a:latin typeface="Calibri" panose="020F0502020204030204" pitchFamily="34" charset="0"/>
                <a:ea typeface="Calibri" panose="020F0502020204030204" pitchFamily="34" charset="0"/>
                <a:cs typeface="Calibri" panose="020F0502020204030204" pitchFamily="34" charset="0"/>
              </a:rPr>
              <a:t>clear and interpretable customer segmentation</a:t>
            </a:r>
            <a:r>
              <a:rPr lang="en-US" sz="1800" dirty="0">
                <a:latin typeface="Calibri" panose="020F0502020204030204" pitchFamily="34" charset="0"/>
                <a:ea typeface="Calibri" panose="020F0502020204030204" pitchFamily="34" charset="0"/>
                <a:cs typeface="Calibri" panose="020F0502020204030204" pitchFamily="34" charset="0"/>
              </a:rPr>
              <a:t>.</a:t>
            </a:r>
          </a:p>
        </p:txBody>
      </p:sp>
      <p:sp>
        <p:nvSpPr>
          <p:cNvPr id="15" name="TextBox 14">
            <a:extLst>
              <a:ext uri="{FF2B5EF4-FFF2-40B4-BE49-F238E27FC236}">
                <a16:creationId xmlns:a16="http://schemas.microsoft.com/office/drawing/2014/main" id="{121AD075-5FB6-5725-58D5-BBAD55E1808A}"/>
              </a:ext>
            </a:extLst>
          </p:cNvPr>
          <p:cNvSpPr txBox="1"/>
          <p:nvPr/>
        </p:nvSpPr>
        <p:spPr>
          <a:xfrm>
            <a:off x="6130501" y="4395064"/>
            <a:ext cx="5594555" cy="646331"/>
          </a:xfrm>
          <a:prstGeom prst="rect">
            <a:avLst/>
          </a:prstGeom>
          <a:noFill/>
        </p:spPr>
        <p:txBody>
          <a:bodyPr wrap="square">
            <a:spAutoFit/>
          </a:bodyPr>
          <a:lstStyle/>
          <a:p>
            <a:pPr lvl="0" algn="ctr"/>
            <a:r>
              <a:rPr lang="en-US" sz="1800" b="1" dirty="0">
                <a:latin typeface="Calibri" panose="020F0502020204030204" pitchFamily="34" charset="0"/>
                <a:ea typeface="Calibri" panose="020F0502020204030204" pitchFamily="34" charset="0"/>
                <a:cs typeface="Calibri" panose="020F0502020204030204" pitchFamily="34" charset="0"/>
              </a:rPr>
              <a:t>Silhouette Score:</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k = 3 </a:t>
            </a:r>
            <a:r>
              <a:rPr lang="en-US" sz="1800" dirty="0">
                <a:latin typeface="Calibri" panose="020F0502020204030204" pitchFamily="34" charset="0"/>
                <a:ea typeface="Calibri" panose="020F0502020204030204" pitchFamily="34" charset="0"/>
                <a:cs typeface="Calibri" panose="020F0502020204030204" pitchFamily="34" charset="0"/>
              </a:rPr>
              <a:t>achieves the </a:t>
            </a:r>
            <a:r>
              <a:rPr lang="en-US" sz="1800" b="1" dirty="0">
                <a:latin typeface="Calibri" panose="020F0502020204030204" pitchFamily="34" charset="0"/>
                <a:ea typeface="Calibri" panose="020F0502020204030204" pitchFamily="34" charset="0"/>
                <a:cs typeface="Calibri" panose="020F0502020204030204" pitchFamily="34" charset="0"/>
              </a:rPr>
              <a:t>highest</a:t>
            </a:r>
            <a:r>
              <a:rPr lang="en-US" sz="1800" dirty="0">
                <a:latin typeface="Calibri" panose="020F0502020204030204" pitchFamily="34" charset="0"/>
                <a:ea typeface="Calibri" panose="020F0502020204030204" pitchFamily="34" charset="0"/>
                <a:cs typeface="Calibri" panose="020F0502020204030204" pitchFamily="34" charset="0"/>
              </a:rPr>
              <a:t> score (~</a:t>
            </a:r>
            <a:r>
              <a:rPr lang="en-US" sz="1800" b="1" dirty="0">
                <a:latin typeface="Calibri" panose="020F0502020204030204" pitchFamily="34" charset="0"/>
                <a:ea typeface="Calibri" panose="020F0502020204030204" pitchFamily="34" charset="0"/>
                <a:cs typeface="Calibri" panose="020F0502020204030204" pitchFamily="34" charset="0"/>
              </a:rPr>
              <a:t>0.51</a:t>
            </a:r>
            <a:r>
              <a:rPr lang="en-US" sz="1800" dirty="0">
                <a:latin typeface="Calibri" panose="020F0502020204030204" pitchFamily="34" charset="0"/>
                <a:ea typeface="Calibri" panose="020F0502020204030204" pitchFamily="34" charset="0"/>
                <a:cs typeface="Calibri" panose="020F0502020204030204" pitchFamily="34" charset="0"/>
              </a:rPr>
              <a:t>), indicating the best cluster separation and cohesion. </a:t>
            </a:r>
          </a:p>
        </p:txBody>
      </p:sp>
    </p:spTree>
    <p:extLst>
      <p:ext uri="{BB962C8B-B14F-4D97-AF65-F5344CB8AC3E}">
        <p14:creationId xmlns:p14="http://schemas.microsoft.com/office/powerpoint/2010/main" val="426174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EB63F7-2BCB-DAEE-5A27-175F5F0F1805}"/>
            </a:ext>
          </a:extLst>
        </p:cNvPr>
        <p:cNvGrpSpPr/>
        <p:nvPr/>
      </p:nvGrpSpPr>
      <p:grpSpPr>
        <a:xfrm>
          <a:off x="0" y="0"/>
          <a:ext cx="0" cy="0"/>
          <a:chOff x="0" y="0"/>
          <a:chExt cx="0" cy="0"/>
        </a:xfrm>
      </p:grpSpPr>
      <p:sp>
        <p:nvSpPr>
          <p:cNvPr id="98" name="PlaceHolder 1">
            <a:extLst>
              <a:ext uri="{FF2B5EF4-FFF2-40B4-BE49-F238E27FC236}">
                <a16:creationId xmlns:a16="http://schemas.microsoft.com/office/drawing/2014/main" id="{14A4EBFC-71DF-2CCA-6621-166E7A0A999E}"/>
              </a:ext>
            </a:extLst>
          </p:cNvPr>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Clustering</a:t>
            </a:r>
            <a:endParaRPr lang="en-US" sz="3400" b="0" strike="noStrike" spc="-1" dirty="0">
              <a:solidFill>
                <a:srgbClr val="000000"/>
              </a:solidFill>
              <a:latin typeface="Arial"/>
            </a:endParaRPr>
          </a:p>
        </p:txBody>
      </p:sp>
      <p:sp>
        <p:nvSpPr>
          <p:cNvPr id="4" name="TextBox 3">
            <a:extLst>
              <a:ext uri="{FF2B5EF4-FFF2-40B4-BE49-F238E27FC236}">
                <a16:creationId xmlns:a16="http://schemas.microsoft.com/office/drawing/2014/main" id="{76E55715-BAD1-F301-63BE-1654D39158BE}"/>
              </a:ext>
            </a:extLst>
          </p:cNvPr>
          <p:cNvSpPr txBox="1"/>
          <p:nvPr/>
        </p:nvSpPr>
        <p:spPr>
          <a:xfrm>
            <a:off x="678900" y="1437222"/>
            <a:ext cx="10834199" cy="2114938"/>
          </a:xfrm>
          <a:prstGeom prst="rect">
            <a:avLst/>
          </a:prstGeom>
          <a:noFill/>
        </p:spPr>
        <p:txBody>
          <a:bodyPr wrap="square">
            <a:spAutoFit/>
          </a:bodyPr>
          <a:lstStyle/>
          <a:p>
            <a:pPr>
              <a:spcBef>
                <a:spcPts val="1000"/>
              </a:spcBef>
              <a:buClr>
                <a:srgbClr val="1D1B58"/>
              </a:buClr>
            </a:pPr>
            <a:r>
              <a:rPr lang="en-US" spc="-1" dirty="0">
                <a:solidFill>
                  <a:srgbClr val="181717"/>
                </a:solidFill>
                <a:latin typeface="Calibri" panose="020F0502020204030204" pitchFamily="34" charset="0"/>
                <a:ea typeface="Calibri" panose="020F0502020204030204" pitchFamily="34" charset="0"/>
                <a:cs typeface="Calibri" panose="020F0502020204030204" pitchFamily="34" charset="0"/>
              </a:rPr>
              <a:t>Three clustering algorithms were tested and compared using the Silhouette Score(-1 to 1, higher = better clusters)</a:t>
            </a:r>
          </a:p>
          <a:p>
            <a:pPr marL="742950" indent="-285750">
              <a:lnSpc>
                <a:spcPct val="115000"/>
              </a:lnSpc>
              <a:spcBef>
                <a:spcPts val="1000"/>
              </a:spcBef>
              <a:buClr>
                <a:srgbClr val="1D1B58"/>
              </a:buClr>
              <a:buFont typeface="Arial" panose="020B0604020202020204" pitchFamily="34" charset="0"/>
              <a:buChar char="•"/>
            </a:pPr>
            <a:r>
              <a:rPr lang="en-US" spc="-1" dirty="0">
                <a:solidFill>
                  <a:srgbClr val="181717"/>
                </a:solidFill>
                <a:latin typeface="Calibri" panose="020F0502020204030204" pitchFamily="34" charset="0"/>
                <a:ea typeface="Calibri" panose="020F0502020204030204" pitchFamily="34" charset="0"/>
                <a:cs typeface="Calibri" panose="020F0502020204030204" pitchFamily="34" charset="0"/>
              </a:rPr>
              <a:t>K-Means — Partitions customers into k compact groups</a:t>
            </a:r>
          </a:p>
          <a:p>
            <a:pPr marL="742950" indent="-285750">
              <a:lnSpc>
                <a:spcPct val="115000"/>
              </a:lnSpc>
              <a:spcBef>
                <a:spcPts val="1000"/>
              </a:spcBef>
              <a:buClr>
                <a:srgbClr val="1D1B58"/>
              </a:buClr>
              <a:buFont typeface="Arial" panose="020B0604020202020204" pitchFamily="34" charset="0"/>
              <a:buChar char="•"/>
            </a:pPr>
            <a:r>
              <a:rPr lang="en-US" spc="-1" dirty="0">
                <a:solidFill>
                  <a:srgbClr val="181717"/>
                </a:solidFill>
                <a:latin typeface="Calibri" panose="020F0502020204030204" pitchFamily="34" charset="0"/>
                <a:ea typeface="Calibri" panose="020F0502020204030204" pitchFamily="34" charset="0"/>
                <a:cs typeface="Calibri" panose="020F0502020204030204" pitchFamily="34" charset="0"/>
              </a:rPr>
              <a:t>Hierarchical (Ward linkage) — Builds a tree of nested groupings</a:t>
            </a:r>
          </a:p>
          <a:p>
            <a:pPr marL="742950" indent="-285750">
              <a:lnSpc>
                <a:spcPct val="115000"/>
              </a:lnSpc>
              <a:spcBef>
                <a:spcPts val="1000"/>
              </a:spcBef>
              <a:buClr>
                <a:srgbClr val="1D1B58"/>
              </a:buClr>
              <a:buFont typeface="Arial" panose="020B0604020202020204" pitchFamily="34" charset="0"/>
              <a:buChar char="•"/>
            </a:pPr>
            <a:r>
              <a:rPr lang="en-US" spc="-1" dirty="0">
                <a:solidFill>
                  <a:srgbClr val="181717"/>
                </a:solidFill>
                <a:latin typeface="Calibri" panose="020F0502020204030204" pitchFamily="34" charset="0"/>
                <a:ea typeface="Calibri" panose="020F0502020204030204" pitchFamily="34" charset="0"/>
                <a:cs typeface="Calibri" panose="020F0502020204030204" pitchFamily="34" charset="0"/>
              </a:rPr>
              <a:t>DBSCAN — Density-based, flags outliers as noise instead of forcing them into a cluster</a:t>
            </a:r>
          </a:p>
          <a:p>
            <a:pPr>
              <a:spcBef>
                <a:spcPts val="1000"/>
              </a:spcBef>
              <a:buClr>
                <a:srgbClr val="1D1B58"/>
              </a:buClr>
            </a:pPr>
            <a:endParaRPr lang="en-US" spc="-1" dirty="0">
              <a:solidFill>
                <a:srgbClr val="181717"/>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image.png">
            <a:extLst>
              <a:ext uri="{FF2B5EF4-FFF2-40B4-BE49-F238E27FC236}">
                <a16:creationId xmlns:a16="http://schemas.microsoft.com/office/drawing/2014/main" id="{E9A38DE2-4884-8BB3-CF75-543AFB02342A}"/>
              </a:ext>
            </a:extLst>
          </p:cNvPr>
          <p:cNvPicPr>
            <a:picLocks noChangeAspect="1"/>
          </p:cNvPicPr>
          <p:nvPr/>
        </p:nvPicPr>
        <p:blipFill>
          <a:blip r:embed="rId2"/>
          <a:srcRect l="19388" t="31472" r="38432" b="33543"/>
          <a:stretch>
            <a:fillRect/>
          </a:stretch>
        </p:blipFill>
        <p:spPr>
          <a:xfrm>
            <a:off x="3765752" y="3422898"/>
            <a:ext cx="4660492" cy="1661652"/>
          </a:xfrm>
          <a:prstGeom prst="rect">
            <a:avLst/>
          </a:prstGeom>
        </p:spPr>
      </p:pic>
      <p:sp>
        <p:nvSpPr>
          <p:cNvPr id="6" name="TextBox 5">
            <a:extLst>
              <a:ext uri="{FF2B5EF4-FFF2-40B4-BE49-F238E27FC236}">
                <a16:creationId xmlns:a16="http://schemas.microsoft.com/office/drawing/2014/main" id="{FE936484-78B2-7886-1FE9-1FB0E9635431}"/>
              </a:ext>
            </a:extLst>
          </p:cNvPr>
          <p:cNvSpPr txBox="1"/>
          <p:nvPr/>
        </p:nvSpPr>
        <p:spPr>
          <a:xfrm>
            <a:off x="1922901" y="3572161"/>
            <a:ext cx="1946788" cy="369332"/>
          </a:xfrm>
          <a:prstGeom prst="rect">
            <a:avLst/>
          </a:prstGeom>
          <a:noFill/>
        </p:spPr>
        <p:txBody>
          <a:bodyPr wrap="square" rtlCol="0">
            <a:spAutoFit/>
          </a:bodyPr>
          <a:lstStyle/>
          <a:p>
            <a:pPr algn="ctr"/>
            <a:r>
              <a:rPr lang="en-US" b="1" dirty="0"/>
              <a:t>K-Means (k=3)</a:t>
            </a:r>
          </a:p>
        </p:txBody>
      </p:sp>
      <p:sp>
        <p:nvSpPr>
          <p:cNvPr id="8" name="TextBox 7">
            <a:extLst>
              <a:ext uri="{FF2B5EF4-FFF2-40B4-BE49-F238E27FC236}">
                <a16:creationId xmlns:a16="http://schemas.microsoft.com/office/drawing/2014/main" id="{D6FB7B6E-0559-E5BE-66D1-6BBD1CD0F228}"/>
              </a:ext>
            </a:extLst>
          </p:cNvPr>
          <p:cNvSpPr txBox="1"/>
          <p:nvPr/>
        </p:nvSpPr>
        <p:spPr>
          <a:xfrm>
            <a:off x="1637068" y="4045285"/>
            <a:ext cx="2157691" cy="369332"/>
          </a:xfrm>
          <a:prstGeom prst="rect">
            <a:avLst/>
          </a:prstGeom>
          <a:noFill/>
        </p:spPr>
        <p:txBody>
          <a:bodyPr wrap="square">
            <a:spAutoFit/>
          </a:bodyPr>
          <a:lstStyle/>
          <a:p>
            <a:pPr algn="ctr"/>
            <a:r>
              <a:rPr lang="en-US" sz="1800" b="1" dirty="0"/>
              <a:t>Hierarchical (k=3)</a:t>
            </a:r>
          </a:p>
        </p:txBody>
      </p:sp>
      <p:sp>
        <p:nvSpPr>
          <p:cNvPr id="10" name="TextBox 9">
            <a:extLst>
              <a:ext uri="{FF2B5EF4-FFF2-40B4-BE49-F238E27FC236}">
                <a16:creationId xmlns:a16="http://schemas.microsoft.com/office/drawing/2014/main" id="{8D9EB7AF-2A5F-D6AC-F88C-7EC1DD7ECC72}"/>
              </a:ext>
            </a:extLst>
          </p:cNvPr>
          <p:cNvSpPr txBox="1"/>
          <p:nvPr/>
        </p:nvSpPr>
        <p:spPr>
          <a:xfrm>
            <a:off x="2398364" y="4529232"/>
            <a:ext cx="1559560" cy="369332"/>
          </a:xfrm>
          <a:prstGeom prst="rect">
            <a:avLst/>
          </a:prstGeom>
          <a:noFill/>
        </p:spPr>
        <p:txBody>
          <a:bodyPr wrap="square">
            <a:spAutoFit/>
          </a:bodyPr>
          <a:lstStyle/>
          <a:p>
            <a:pPr algn="ctr"/>
            <a:r>
              <a:rPr lang="en-US" sz="1800" b="1" dirty="0"/>
              <a:t>DBSCAN</a:t>
            </a:r>
          </a:p>
        </p:txBody>
      </p:sp>
      <p:sp>
        <p:nvSpPr>
          <p:cNvPr id="14" name="Rectangle: Rounded Corners 13">
            <a:extLst>
              <a:ext uri="{FF2B5EF4-FFF2-40B4-BE49-F238E27FC236}">
                <a16:creationId xmlns:a16="http://schemas.microsoft.com/office/drawing/2014/main" id="{F763B74A-F7AD-2056-0CDF-30533DF466DC}"/>
              </a:ext>
            </a:extLst>
          </p:cNvPr>
          <p:cNvSpPr/>
          <p:nvPr/>
        </p:nvSpPr>
        <p:spPr>
          <a:xfrm>
            <a:off x="4169489" y="5410886"/>
            <a:ext cx="3853017" cy="690237"/>
          </a:xfrm>
          <a:prstGeom prst="roundRect">
            <a:avLst/>
          </a:prstGeom>
          <a:solidFill>
            <a:schemeClr val="bg1">
              <a:lumMod val="7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K-Means</a:t>
            </a:r>
            <a:r>
              <a:rPr lang="en-US" dirty="0">
                <a:solidFill>
                  <a:schemeClr val="tx1"/>
                </a:solidFill>
              </a:rPr>
              <a:t> outperformed the others. </a:t>
            </a:r>
          </a:p>
        </p:txBody>
      </p:sp>
    </p:spTree>
    <p:extLst>
      <p:ext uri="{BB962C8B-B14F-4D97-AF65-F5344CB8AC3E}">
        <p14:creationId xmlns:p14="http://schemas.microsoft.com/office/powerpoint/2010/main" val="3217507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Segment Visualization</a:t>
            </a:r>
            <a:endParaRPr lang="en-US" sz="3400" b="0" strike="noStrike" spc="-1" dirty="0">
              <a:solidFill>
                <a:srgbClr val="000000"/>
              </a:solidFill>
              <a:latin typeface="Arial"/>
            </a:endParaRPr>
          </a:p>
        </p:txBody>
      </p:sp>
      <p:pic>
        <p:nvPicPr>
          <p:cNvPr id="609" name="PCA Scatte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p:blipFill>
        <p:spPr>
          <a:xfrm>
            <a:off x="8029104" y="1413536"/>
            <a:ext cx="4162896" cy="4030928"/>
          </a:xfrm>
          <a:prstGeom prst="rect">
            <a:avLst/>
          </a:prstGeom>
        </p:spPr>
      </p:pic>
      <p:sp>
        <p:nvSpPr>
          <p:cNvPr id="5" name="TextBox 4">
            <a:extLst>
              <a:ext uri="{FF2B5EF4-FFF2-40B4-BE49-F238E27FC236}">
                <a16:creationId xmlns:a16="http://schemas.microsoft.com/office/drawing/2014/main" id="{3A2F36E8-F792-8FA1-1AA0-BF31F346D4E2}"/>
              </a:ext>
            </a:extLst>
          </p:cNvPr>
          <p:cNvSpPr txBox="1"/>
          <p:nvPr/>
        </p:nvSpPr>
        <p:spPr>
          <a:xfrm>
            <a:off x="678960" y="1356502"/>
            <a:ext cx="7816112" cy="1200329"/>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PCA – Principal Component Analysis</a:t>
            </a:r>
          </a:p>
          <a:p>
            <a:endParaRPr lang="en-US" b="1" dirty="0">
              <a:latin typeface="Calibri" panose="020F0502020204030204" pitchFamily="34" charset="0"/>
              <a:ea typeface="Calibri" panose="020F0502020204030204" pitchFamily="34" charset="0"/>
              <a:cs typeface="Calibri" panose="020F0502020204030204" pitchFamily="34" charset="0"/>
            </a:endParaRPr>
          </a:p>
          <a:p>
            <a:pPr lvl="0"/>
            <a:r>
              <a:rPr lang="en-US" b="1" dirty="0">
                <a:latin typeface="Calibri" panose="020F0502020204030204" pitchFamily="34" charset="0"/>
                <a:ea typeface="Calibri" panose="020F0502020204030204" pitchFamily="34" charset="0"/>
                <a:cs typeface="Calibri" panose="020F0502020204030204" pitchFamily="34" charset="0"/>
              </a:rPr>
              <a:t>Purpose:</a:t>
            </a:r>
            <a:r>
              <a:rPr lang="en-US" dirty="0">
                <a:latin typeface="Calibri" panose="020F0502020204030204" pitchFamily="34" charset="0"/>
                <a:ea typeface="Calibri" panose="020F0502020204030204" pitchFamily="34" charset="0"/>
                <a:cs typeface="Calibri" panose="020F0502020204030204" pitchFamily="34" charset="0"/>
              </a:rPr>
              <a:t> Reduce 3 RFM features (</a:t>
            </a:r>
            <a:r>
              <a:rPr lang="en-US" b="1" dirty="0">
                <a:latin typeface="Calibri" panose="020F0502020204030204" pitchFamily="34" charset="0"/>
                <a:ea typeface="Calibri" panose="020F0502020204030204" pitchFamily="34" charset="0"/>
                <a:cs typeface="Calibri" panose="020F0502020204030204" pitchFamily="34" charset="0"/>
              </a:rPr>
              <a:t>Recency, Frequency, Monetary</a:t>
            </a:r>
            <a:r>
              <a:rPr lang="en-US" dirty="0">
                <a:latin typeface="Calibri" panose="020F0502020204030204" pitchFamily="34" charset="0"/>
                <a:ea typeface="Calibri" panose="020F0502020204030204" pitchFamily="34" charset="0"/>
                <a:cs typeface="Calibri" panose="020F0502020204030204" pitchFamily="34" charset="0"/>
              </a:rPr>
              <a:t>) to </a:t>
            </a:r>
            <a:r>
              <a:rPr lang="en-US" b="1" dirty="0">
                <a:latin typeface="Calibri" panose="020F0502020204030204" pitchFamily="34" charset="0"/>
                <a:ea typeface="Calibri" panose="020F0502020204030204" pitchFamily="34" charset="0"/>
                <a:cs typeface="Calibri" panose="020F0502020204030204" pitchFamily="34" charset="0"/>
              </a:rPr>
              <a:t>2 dimensions</a:t>
            </a:r>
            <a:r>
              <a:rPr lang="en-US" dirty="0">
                <a:latin typeface="Calibri" panose="020F0502020204030204" pitchFamily="34" charset="0"/>
                <a:ea typeface="Calibri" panose="020F0502020204030204" pitchFamily="34" charset="0"/>
                <a:cs typeface="Calibri" panose="020F0502020204030204" pitchFamily="34" charset="0"/>
              </a:rPr>
              <a:t> for visualization while retaining maximum information. </a:t>
            </a:r>
          </a:p>
        </p:txBody>
      </p:sp>
      <p:sp>
        <p:nvSpPr>
          <p:cNvPr id="4" name="TextBox 3">
            <a:extLst>
              <a:ext uri="{FF2B5EF4-FFF2-40B4-BE49-F238E27FC236}">
                <a16:creationId xmlns:a16="http://schemas.microsoft.com/office/drawing/2014/main" id="{99A19C70-208F-7A9F-77B2-A0C356001932}"/>
              </a:ext>
            </a:extLst>
          </p:cNvPr>
          <p:cNvSpPr txBox="1"/>
          <p:nvPr/>
        </p:nvSpPr>
        <p:spPr>
          <a:xfrm>
            <a:off x="678960" y="2556831"/>
            <a:ext cx="9556421" cy="3970318"/>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Principal Components:</a:t>
            </a:r>
            <a:endParaRPr lang="en-US" sz="1800" dirty="0">
              <a:latin typeface="Calibri" panose="020F0502020204030204" pitchFamily="34" charset="0"/>
              <a:ea typeface="Calibri" panose="020F0502020204030204" pitchFamily="34" charset="0"/>
              <a:cs typeface="Calibri" panose="020F0502020204030204" pitchFamily="34" charset="0"/>
            </a:endParaRPr>
          </a:p>
          <a:p>
            <a:pPr lvl="0"/>
            <a:endParaRPr lang="en-US" sz="1800" b="1" dirty="0">
              <a:latin typeface="Calibri" panose="020F0502020204030204" pitchFamily="34" charset="0"/>
              <a:ea typeface="Calibri" panose="020F0502020204030204" pitchFamily="34" charset="0"/>
              <a:cs typeface="Calibri" panose="020F0502020204030204" pitchFamily="34" charset="0"/>
            </a:endParaRPr>
          </a:p>
          <a:p>
            <a:pPr lvl="0"/>
            <a:r>
              <a:rPr lang="en-US" sz="1800" b="1" dirty="0">
                <a:latin typeface="Calibri" panose="020F0502020204030204" pitchFamily="34" charset="0"/>
                <a:ea typeface="Calibri" panose="020F0502020204030204" pitchFamily="34" charset="0"/>
                <a:cs typeface="Calibri" panose="020F0502020204030204" pitchFamily="34" charset="0"/>
              </a:rPr>
              <a:t>PC1:</a:t>
            </a:r>
            <a:r>
              <a:rPr lang="en-US" sz="1800" dirty="0">
                <a:latin typeface="Calibri" panose="020F0502020204030204" pitchFamily="34" charset="0"/>
                <a:ea typeface="Calibri" panose="020F0502020204030204" pitchFamily="34" charset="0"/>
                <a:cs typeface="Calibri" panose="020F0502020204030204" pitchFamily="34" charset="0"/>
              </a:rPr>
              <a:t> [-0.466, 0.631, 0.620] → </a:t>
            </a:r>
            <a:r>
              <a:rPr lang="en-US" sz="1800" b="1" dirty="0">
                <a:latin typeface="Calibri" panose="020F0502020204030204" pitchFamily="34" charset="0"/>
                <a:ea typeface="Calibri" panose="020F0502020204030204" pitchFamily="34" charset="0"/>
                <a:cs typeface="Calibri" panose="020F0502020204030204" pitchFamily="34" charset="0"/>
              </a:rPr>
              <a:t>Customer Value</a:t>
            </a:r>
          </a:p>
          <a:p>
            <a:pPr lvl="0"/>
            <a:r>
              <a:rPr lang="en-US" sz="1800" dirty="0">
                <a:latin typeface="Calibri" panose="020F0502020204030204" pitchFamily="34" charset="0"/>
                <a:ea typeface="Calibri" panose="020F0502020204030204" pitchFamily="34" charset="0"/>
                <a:cs typeface="Calibri" panose="020F0502020204030204" pitchFamily="34" charset="0"/>
              </a:rPr>
              <a:t>How valuable is the customer?</a:t>
            </a: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Driven mainly by Frequency &amp; Monetary</a:t>
            </a:r>
          </a:p>
          <a:p>
            <a:pPr lvl="0"/>
            <a:r>
              <a:rPr lang="en-US" sz="1800" dirty="0">
                <a:latin typeface="Calibri" panose="020F0502020204030204" pitchFamily="34" charset="0"/>
                <a:ea typeface="Calibri" panose="020F0502020204030204" pitchFamily="34" charset="0"/>
                <a:cs typeface="Calibri" panose="020F0502020204030204" pitchFamily="34" charset="0"/>
              </a:rPr>
              <a:t> </a:t>
            </a:r>
          </a:p>
          <a:p>
            <a:pPr lvl="0"/>
            <a:r>
              <a:rPr lang="en-US" sz="1800" b="1" dirty="0">
                <a:latin typeface="Calibri" panose="020F0502020204030204" pitchFamily="34" charset="0"/>
                <a:ea typeface="Calibri" panose="020F0502020204030204" pitchFamily="34" charset="0"/>
                <a:cs typeface="Calibri" panose="020F0502020204030204" pitchFamily="34" charset="0"/>
              </a:rPr>
              <a:t>PC2:</a:t>
            </a:r>
            <a:r>
              <a:rPr lang="en-US" sz="1800" dirty="0">
                <a:latin typeface="Calibri" panose="020F0502020204030204" pitchFamily="34" charset="0"/>
                <a:ea typeface="Calibri" panose="020F0502020204030204" pitchFamily="34" charset="0"/>
                <a:cs typeface="Calibri" panose="020F0502020204030204" pitchFamily="34" charset="0"/>
              </a:rPr>
              <a:t> [0.883, 0.288, 0.371] → </a:t>
            </a:r>
            <a:r>
              <a:rPr lang="en-US" sz="1800" b="1" dirty="0">
                <a:latin typeface="Calibri" panose="020F0502020204030204" pitchFamily="34" charset="0"/>
                <a:ea typeface="Calibri" panose="020F0502020204030204" pitchFamily="34" charset="0"/>
                <a:cs typeface="Calibri" panose="020F0502020204030204" pitchFamily="34" charset="0"/>
              </a:rPr>
              <a:t>Customer Recency</a:t>
            </a:r>
          </a:p>
          <a:p>
            <a:pPr lvl="0"/>
            <a:r>
              <a:rPr lang="en-US" sz="1800" dirty="0">
                <a:latin typeface="Calibri" panose="020F0502020204030204" pitchFamily="34" charset="0"/>
                <a:ea typeface="Calibri" panose="020F0502020204030204" pitchFamily="34" charset="0"/>
                <a:cs typeface="Calibri" panose="020F0502020204030204" pitchFamily="34" charset="0"/>
              </a:rPr>
              <a:t>How valuable is the customer?</a:t>
            </a: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Driven mainly by Recency</a:t>
            </a:r>
            <a:r>
              <a:rPr lang="en-US" sz="1800" dirty="0">
                <a:latin typeface="Calibri" panose="020F0502020204030204" pitchFamily="34" charset="0"/>
                <a:ea typeface="Calibri" panose="020F0502020204030204" pitchFamily="34" charset="0"/>
                <a:cs typeface="Calibri" panose="020F0502020204030204" pitchFamily="34" charset="0"/>
              </a:rPr>
              <a:t> </a:t>
            </a:r>
          </a:p>
          <a:p>
            <a:pPr lvl="0"/>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Variance Explained:</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94.2%</a:t>
            </a:r>
            <a:r>
              <a:rPr lang="en-US" sz="1800" dirty="0">
                <a:latin typeface="Calibri" panose="020F0502020204030204" pitchFamily="34" charset="0"/>
                <a:ea typeface="Calibri" panose="020F0502020204030204" pitchFamily="34" charset="0"/>
                <a:cs typeface="Calibri" panose="020F0502020204030204" pitchFamily="34" charset="0"/>
              </a:rPr>
              <a:t> by the first two components.</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Key Insight:</a:t>
            </a:r>
            <a:r>
              <a:rPr lang="en-US" sz="1800" dirty="0">
                <a:latin typeface="Calibri" panose="020F0502020204030204" pitchFamily="34" charset="0"/>
                <a:ea typeface="Calibri" panose="020F0502020204030204" pitchFamily="34" charset="0"/>
                <a:cs typeface="Calibri" panose="020F0502020204030204" pitchFamily="34" charset="0"/>
              </a:rPr>
              <a:t> PCA visualization showed </a:t>
            </a:r>
            <a:r>
              <a:rPr lang="en-US" sz="1800" b="1" dirty="0">
                <a:latin typeface="Calibri" panose="020F0502020204030204" pitchFamily="34" charset="0"/>
                <a:ea typeface="Calibri" panose="020F0502020204030204" pitchFamily="34" charset="0"/>
                <a:cs typeface="Calibri" panose="020F0502020204030204" pitchFamily="34" charset="0"/>
              </a:rPr>
              <a:t>three distinct and well-separated customer clusters</a:t>
            </a:r>
            <a:r>
              <a:rPr lang="en-US" sz="1800" dirty="0">
                <a:latin typeface="Calibri" panose="020F0502020204030204" pitchFamily="34" charset="0"/>
                <a:ea typeface="Calibri" panose="020F0502020204030204" pitchFamily="34" charset="0"/>
                <a:cs typeface="Calibri" panose="020F0502020204030204" pitchFamily="34" charset="0"/>
              </a:rPr>
              <a:t>, confirming a clear segmentation structure.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Segment Profiles</a:t>
            </a:r>
            <a:endParaRPr lang="en-US" sz="3400" b="0" strike="noStrike" spc="-1">
              <a:solidFill>
                <a:srgbClr val="000000"/>
              </a:solidFill>
              <a:latin typeface="Arial"/>
            </a:endParaRPr>
          </a:p>
        </p:txBody>
      </p:sp>
      <p:pic>
        <p:nvPicPr>
          <p:cNvPr id="608" name="Segment Profiles"/>
          <p:cNvPicPr>
            <a:picLocks noChangeAspect="1"/>
          </p:cNvPicPr>
          <p:nvPr/>
        </p:nvPicPr>
        <p:blipFill>
          <a:blip r:embed="rId2">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a:stretch/>
        </p:blipFill>
        <p:spPr>
          <a:xfrm>
            <a:off x="1142143" y="1545759"/>
            <a:ext cx="9907713" cy="3204995"/>
          </a:xfrm>
          <a:prstGeom prst="rect">
            <a:avLst/>
          </a:prstGeom>
        </p:spPr>
      </p:pic>
      <p:sp>
        <p:nvSpPr>
          <p:cNvPr id="700" name="Caption"/>
          <p:cNvSpPr/>
          <p:nvPr/>
        </p:nvSpPr>
        <p:spPr>
          <a:xfrm>
            <a:off x="3731608" y="5080074"/>
            <a:ext cx="4728782" cy="1021049"/>
          </a:xfrm>
          <a:prstGeom prst="rect">
            <a:avLst/>
          </a:prstGeom>
          <a:noFill/>
          <a:ln w="0">
            <a:noFill/>
          </a:ln>
        </p:spPr>
        <p:txBody>
          <a:bodyPr lIns="0" tIns="0" rIns="0" bIns="0" anchor="t">
            <a:noAutofit/>
          </a:bodyPr>
          <a:lstStyle/>
          <a:p>
            <a:pPr algn="ctr">
              <a:buNone/>
            </a:pPr>
            <a:r>
              <a:rPr lang="en-US" sz="1600" b="1" i="1" strike="noStrike" spc="-1" dirty="0">
                <a:latin typeface="Calibri"/>
              </a:rPr>
              <a:t>K-Means (k=3): </a:t>
            </a:r>
          </a:p>
          <a:p>
            <a:pPr algn="ctr">
              <a:buNone/>
            </a:pPr>
            <a:r>
              <a:rPr lang="en-US" sz="1600" b="1" i="1" strike="noStrike" spc="-1" dirty="0">
                <a:latin typeface="Calibri"/>
              </a:rPr>
              <a:t>Best Customers </a:t>
            </a:r>
            <a:r>
              <a:rPr lang="en-US" sz="1600" b="0" i="1" strike="noStrike" spc="-1" dirty="0">
                <a:latin typeface="Calibri"/>
              </a:rPr>
              <a:t>— 964 customers (22.2%)</a:t>
            </a:r>
          </a:p>
          <a:p>
            <a:pPr algn="ctr">
              <a:buNone/>
            </a:pPr>
            <a:r>
              <a:rPr lang="en-US" sz="1600" b="1" i="1" strike="noStrike" spc="-1" dirty="0">
                <a:latin typeface="Calibri"/>
              </a:rPr>
              <a:t>Occasional Shoppers</a:t>
            </a:r>
            <a:r>
              <a:rPr lang="en-US" sz="1600" b="0" i="1" strike="noStrike" spc="-1" dirty="0">
                <a:latin typeface="Calibri"/>
              </a:rPr>
              <a:t>— 2,328 customers (53.7%)</a:t>
            </a:r>
          </a:p>
          <a:p>
            <a:pPr algn="ctr">
              <a:buNone/>
            </a:pPr>
            <a:r>
              <a:rPr lang="en-US" sz="1600" b="0" i="1" strike="noStrike" spc="-1" dirty="0">
                <a:latin typeface="Calibri"/>
              </a:rPr>
              <a:t> </a:t>
            </a:r>
            <a:r>
              <a:rPr lang="en-US" sz="1600" b="1" i="1" strike="noStrike" spc="-1" dirty="0">
                <a:latin typeface="Calibri"/>
              </a:rPr>
              <a:t>At-Risk/Churned Customers </a:t>
            </a:r>
            <a:r>
              <a:rPr lang="en-US" sz="1600" b="0" i="1" strike="noStrike" spc="-1" dirty="0">
                <a:latin typeface="Calibri"/>
              </a:rPr>
              <a:t>— 1,046 customers (24.1%)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Segment Table</a:t>
            </a:r>
            <a:endParaRPr lang="en-US" sz="3400" b="0" strike="noStrike" spc="-1" dirty="0">
              <a:solidFill>
                <a:srgbClr val="000000"/>
              </a:solidFill>
              <a:latin typeface="Arial"/>
            </a:endParaRPr>
          </a:p>
        </p:txBody>
      </p:sp>
      <p:pic>
        <p:nvPicPr>
          <p:cNvPr id="7" name="Picture 6" descr="image.png">
            <a:extLst>
              <a:ext uri="{FF2B5EF4-FFF2-40B4-BE49-F238E27FC236}">
                <a16:creationId xmlns:a16="http://schemas.microsoft.com/office/drawing/2014/main" id="{12B6FED7-CA1F-AD49-020B-CBF9CA66A4AB}"/>
              </a:ext>
            </a:extLst>
          </p:cNvPr>
          <p:cNvPicPr>
            <a:picLocks noChangeAspect="1"/>
          </p:cNvPicPr>
          <p:nvPr/>
        </p:nvPicPr>
        <p:blipFill>
          <a:blip r:embed="rId2"/>
          <a:stretch>
            <a:fillRect/>
          </a:stretch>
        </p:blipFill>
        <p:spPr>
          <a:xfrm>
            <a:off x="571500" y="2588865"/>
            <a:ext cx="11049000" cy="2124075"/>
          </a:xfrm>
          <a:prstGeom prst="rect">
            <a:avLst/>
          </a:prstGeom>
        </p:spPr>
      </p:pic>
      <p:graphicFrame>
        <p:nvGraphicFramePr>
          <p:cNvPr id="9" name="Table 8">
            <a:extLst>
              <a:ext uri="{FF2B5EF4-FFF2-40B4-BE49-F238E27FC236}">
                <a16:creationId xmlns:a16="http://schemas.microsoft.com/office/drawing/2014/main" id="{7D6520E8-D819-1CD0-E80F-0BAF158CF7D7}"/>
              </a:ext>
            </a:extLst>
          </p:cNvPr>
          <p:cNvGraphicFramePr>
            <a:graphicFrameLocks noGrp="1"/>
          </p:cNvGraphicFramePr>
          <p:nvPr>
            <p:extLst>
              <p:ext uri="{D42A27DB-BD31-4B8C-83A1-F6EECF244321}">
                <p14:modId xmlns:p14="http://schemas.microsoft.com/office/powerpoint/2010/main" val="1302200219"/>
              </p:ext>
            </p:extLst>
          </p:nvPr>
        </p:nvGraphicFramePr>
        <p:xfrm>
          <a:off x="581025" y="2598390"/>
          <a:ext cx="11029948" cy="2105025"/>
        </p:xfrm>
        <a:graphic>
          <a:graphicData uri="http://schemas.openxmlformats.org/drawingml/2006/table">
            <a:tbl>
              <a:tblPr firstRow="1" bandRow="1">
                <a:tableStyleId>{073A0DAA-6AF3-43AB-8588-CEC1D06C72B9}</a:tableStyleId>
              </a:tblPr>
              <a:tblGrid>
                <a:gridCol w="2938016">
                  <a:extLst>
                    <a:ext uri="{9D8B030D-6E8A-4147-A177-3AD203B41FA5}">
                      <a16:colId xmlns:a16="http://schemas.microsoft.com/office/drawing/2014/main" val="20000"/>
                    </a:ext>
                  </a:extLst>
                </a:gridCol>
                <a:gridCol w="1995338">
                  <a:extLst>
                    <a:ext uri="{9D8B030D-6E8A-4147-A177-3AD203B41FA5}">
                      <a16:colId xmlns:a16="http://schemas.microsoft.com/office/drawing/2014/main" val="20001"/>
                    </a:ext>
                  </a:extLst>
                </a:gridCol>
                <a:gridCol w="2227957">
                  <a:extLst>
                    <a:ext uri="{9D8B030D-6E8A-4147-A177-3AD203B41FA5}">
                      <a16:colId xmlns:a16="http://schemas.microsoft.com/office/drawing/2014/main" val="20002"/>
                    </a:ext>
                  </a:extLst>
                </a:gridCol>
                <a:gridCol w="2178992">
                  <a:extLst>
                    <a:ext uri="{9D8B030D-6E8A-4147-A177-3AD203B41FA5}">
                      <a16:colId xmlns:a16="http://schemas.microsoft.com/office/drawing/2014/main" val="20003"/>
                    </a:ext>
                  </a:extLst>
                </a:gridCol>
                <a:gridCol w="1689645">
                  <a:extLst>
                    <a:ext uri="{9D8B030D-6E8A-4147-A177-3AD203B41FA5}">
                      <a16:colId xmlns:a16="http://schemas.microsoft.com/office/drawing/2014/main" val="20004"/>
                    </a:ext>
                  </a:extLst>
                </a:gridCol>
              </a:tblGrid>
              <a:tr h="526256">
                <a:tc>
                  <a:txBody>
                    <a:bodyPr/>
                    <a:lstStyle/>
                    <a:p>
                      <a:pPr algn="ctr"/>
                      <a:r>
                        <a:rPr sz="1500" b="1" u="none" dirty="0">
                          <a:solidFill>
                            <a:schemeClr val="bg1"/>
                          </a:solidFill>
                        </a:rPr>
                        <a:t>Segment</a:t>
                      </a:r>
                      <a:endParaRPr sz="1500" b="1" i="0" u="none" dirty="0">
                        <a:solidFill>
                          <a:schemeClr val="bg1"/>
                        </a:solidFill>
                        <a:latin typeface="Urbanist"/>
                      </a:endParaRPr>
                    </a:p>
                  </a:txBody>
                  <a:tcPr marL="63500" marR="63500" marT="25400" marB="25400" anchor="ctr"/>
                </a:tc>
                <a:tc>
                  <a:txBody>
                    <a:bodyPr/>
                    <a:lstStyle/>
                    <a:p>
                      <a:pPr algn="ctr"/>
                      <a:r>
                        <a:rPr sz="1500" b="1" u="none" dirty="0">
                          <a:solidFill>
                            <a:schemeClr val="bg1"/>
                          </a:solidFill>
                        </a:rPr>
                        <a:t>Avg Recency</a:t>
                      </a:r>
                      <a:endParaRPr sz="1500" b="1" i="0" u="none" dirty="0">
                        <a:solidFill>
                          <a:schemeClr val="bg1"/>
                        </a:solidFill>
                        <a:latin typeface="Urbanist"/>
                      </a:endParaRPr>
                    </a:p>
                  </a:txBody>
                  <a:tcPr marL="63500" marR="63500" marT="25400" marB="25400" anchor="ctr"/>
                </a:tc>
                <a:tc>
                  <a:txBody>
                    <a:bodyPr/>
                    <a:lstStyle/>
                    <a:p>
                      <a:pPr algn="ctr"/>
                      <a:r>
                        <a:rPr sz="1500" b="1" u="none" dirty="0">
                          <a:solidFill>
                            <a:schemeClr val="bg1"/>
                          </a:solidFill>
                        </a:rPr>
                        <a:t>Avg Frequency</a:t>
                      </a:r>
                      <a:endParaRPr sz="1500" b="1" i="0" u="none" dirty="0">
                        <a:solidFill>
                          <a:schemeClr val="bg1"/>
                        </a:solidFill>
                        <a:latin typeface="Urbanist"/>
                      </a:endParaRPr>
                    </a:p>
                  </a:txBody>
                  <a:tcPr marL="63500" marR="63500" marT="25400" marB="25400" anchor="ctr"/>
                </a:tc>
                <a:tc>
                  <a:txBody>
                    <a:bodyPr/>
                    <a:lstStyle/>
                    <a:p>
                      <a:pPr algn="ctr"/>
                      <a:r>
                        <a:rPr sz="1500" b="1" u="none" dirty="0">
                          <a:solidFill>
                            <a:schemeClr val="bg1"/>
                          </a:solidFill>
                        </a:rPr>
                        <a:t>Avg Monetary</a:t>
                      </a:r>
                      <a:endParaRPr sz="1500" b="1" i="0" u="none" dirty="0">
                        <a:solidFill>
                          <a:schemeClr val="bg1"/>
                        </a:solidFill>
                        <a:latin typeface="Urbanist"/>
                      </a:endParaRPr>
                    </a:p>
                  </a:txBody>
                  <a:tcPr marL="63500" marR="63500" marT="25400" marB="25400" anchor="ctr"/>
                </a:tc>
                <a:tc>
                  <a:txBody>
                    <a:bodyPr/>
                    <a:lstStyle/>
                    <a:p>
                      <a:pPr algn="ctr"/>
                      <a:r>
                        <a:rPr lang="en-US" sz="1500" b="1" u="none" dirty="0">
                          <a:solidFill>
                            <a:schemeClr val="bg1"/>
                          </a:solidFill>
                        </a:rPr>
                        <a:t>Customer</a:t>
                      </a:r>
                      <a:endParaRPr sz="1500" b="1" i="0" u="none" dirty="0">
                        <a:solidFill>
                          <a:schemeClr val="bg1"/>
                        </a:solidFill>
                        <a:latin typeface="Urbanist"/>
                      </a:endParaRPr>
                    </a:p>
                  </a:txBody>
                  <a:tcPr marL="63500" marR="63500" marT="25400" marB="25400" anchor="ctr"/>
                </a:tc>
                <a:extLst>
                  <a:ext uri="{0D108BD9-81ED-4DB2-BD59-A6C34878D82A}">
                    <a16:rowId xmlns:a16="http://schemas.microsoft.com/office/drawing/2014/main" val="10000"/>
                  </a:ext>
                </a:extLst>
              </a:tr>
              <a:tr h="526256">
                <a:tc>
                  <a:txBody>
                    <a:bodyPr/>
                    <a:lstStyle/>
                    <a:p>
                      <a:pPr algn="ctr"/>
                      <a:r>
                        <a:rPr sz="1350" b="1" u="none" dirty="0">
                          <a:solidFill>
                            <a:srgbClr val="10B981"/>
                          </a:solidFill>
                        </a:rPr>
                        <a:t>Best Customers</a:t>
                      </a:r>
                      <a:endParaRPr sz="1350" b="1" i="0" u="none" dirty="0">
                        <a:solidFill>
                          <a:srgbClr val="10B981"/>
                        </a:solidFill>
                        <a:latin typeface="Urbanist"/>
                      </a:endParaRPr>
                    </a:p>
                  </a:txBody>
                  <a:tcPr marL="304800" marR="63500" marT="25400" marB="25400" anchor="ctr"/>
                </a:tc>
                <a:tc>
                  <a:txBody>
                    <a:bodyPr/>
                    <a:lstStyle/>
                    <a:p>
                      <a:pPr algn="ctr"/>
                      <a:r>
                        <a:rPr sz="1350" b="0" u="none" dirty="0">
                          <a:solidFill>
                            <a:schemeClr val="bg1"/>
                          </a:solidFill>
                        </a:rPr>
                        <a:t>27 days</a:t>
                      </a:r>
                      <a:endParaRPr sz="1350" b="0" i="0" u="none" dirty="0">
                        <a:solidFill>
                          <a:schemeClr val="bg1"/>
                        </a:solidFill>
                        <a:latin typeface="Urbanist"/>
                      </a:endParaRPr>
                    </a:p>
                  </a:txBody>
                  <a:tcPr marL="63500" marR="63500" marT="25400" marB="25400" anchor="ctr"/>
                </a:tc>
                <a:tc>
                  <a:txBody>
                    <a:bodyPr/>
                    <a:lstStyle/>
                    <a:p>
                      <a:pPr algn="ctr"/>
                      <a:r>
                        <a:rPr sz="1350" b="0" u="none">
                          <a:solidFill>
                            <a:schemeClr val="bg1"/>
                          </a:solidFill>
                        </a:rPr>
                        <a:t>8.2</a:t>
                      </a:r>
                      <a:endParaRPr sz="1350" b="0" i="0" u="none">
                        <a:solidFill>
                          <a:schemeClr val="bg1"/>
                        </a:solidFill>
                        <a:latin typeface="Urbanist"/>
                      </a:endParaRPr>
                    </a:p>
                  </a:txBody>
                  <a:tcPr marL="63500" marR="63500" marT="25400" marB="25400" anchor="ctr"/>
                </a:tc>
                <a:tc>
                  <a:txBody>
                    <a:bodyPr/>
                    <a:lstStyle/>
                    <a:p>
                      <a:pPr algn="ctr"/>
                      <a:r>
                        <a:rPr sz="1350" b="0" u="none">
                          <a:solidFill>
                            <a:schemeClr val="bg1"/>
                          </a:solidFill>
                        </a:rPr>
                        <a:t>£2,999.1</a:t>
                      </a:r>
                      <a:endParaRPr sz="1350" b="0" i="0" u="none">
                        <a:solidFill>
                          <a:schemeClr val="bg1"/>
                        </a:solidFill>
                        <a:latin typeface="Urbanist"/>
                      </a:endParaRPr>
                    </a:p>
                  </a:txBody>
                  <a:tcPr marL="63500" marR="63500" marT="25400" marB="25400" anchor="ctr"/>
                </a:tc>
                <a:tc>
                  <a:txBody>
                    <a:bodyPr/>
                    <a:lstStyle/>
                    <a:p>
                      <a:pPr algn="ctr"/>
                      <a:r>
                        <a:rPr sz="1350" b="0" u="none">
                          <a:solidFill>
                            <a:schemeClr val="bg1"/>
                          </a:solidFill>
                        </a:rPr>
                        <a:t>964 (22%)</a:t>
                      </a:r>
                      <a:endParaRPr sz="1350" b="0" i="0" u="none">
                        <a:solidFill>
                          <a:schemeClr val="bg1"/>
                        </a:solidFill>
                        <a:latin typeface="Urbanist"/>
                      </a:endParaRPr>
                    </a:p>
                  </a:txBody>
                  <a:tcPr marL="63500" marR="63500" marT="25400" marB="25400" anchor="ctr"/>
                </a:tc>
                <a:extLst>
                  <a:ext uri="{0D108BD9-81ED-4DB2-BD59-A6C34878D82A}">
                    <a16:rowId xmlns:a16="http://schemas.microsoft.com/office/drawing/2014/main" val="10001"/>
                  </a:ext>
                </a:extLst>
              </a:tr>
              <a:tr h="526256">
                <a:tc>
                  <a:txBody>
                    <a:bodyPr/>
                    <a:lstStyle/>
                    <a:p>
                      <a:pPr algn="ctr"/>
                      <a:r>
                        <a:rPr sz="1350" b="1" u="none">
                          <a:solidFill>
                            <a:srgbClr val="F59E0B"/>
                          </a:solidFill>
                        </a:rPr>
                        <a:t>Occasional Shoppers</a:t>
                      </a:r>
                      <a:endParaRPr sz="1350" b="1" i="0" u="none">
                        <a:solidFill>
                          <a:srgbClr val="F59E0B"/>
                        </a:solidFill>
                        <a:latin typeface="Urbanist"/>
                      </a:endParaRPr>
                    </a:p>
                  </a:txBody>
                  <a:tcPr marL="266700" marR="63500" marT="25400" marB="25400" anchor="ctr"/>
                </a:tc>
                <a:tc>
                  <a:txBody>
                    <a:bodyPr/>
                    <a:lstStyle/>
                    <a:p>
                      <a:pPr algn="ctr"/>
                      <a:r>
                        <a:rPr sz="1350" b="0" u="none" dirty="0">
                          <a:solidFill>
                            <a:schemeClr val="bg1"/>
                          </a:solidFill>
                        </a:rPr>
                        <a:t>49 days</a:t>
                      </a:r>
                      <a:endParaRPr sz="1350" b="0" i="0" u="none" dirty="0">
                        <a:solidFill>
                          <a:schemeClr val="bg1"/>
                        </a:solidFill>
                        <a:latin typeface="Urbanist"/>
                      </a:endParaRPr>
                    </a:p>
                  </a:txBody>
                  <a:tcPr marL="63500" marR="63500" marT="25400" marB="25400" anchor="ctr"/>
                </a:tc>
                <a:tc>
                  <a:txBody>
                    <a:bodyPr/>
                    <a:lstStyle/>
                    <a:p>
                      <a:pPr algn="ctr"/>
                      <a:r>
                        <a:rPr sz="1350" b="0" u="none" dirty="0">
                          <a:solidFill>
                            <a:schemeClr val="bg1"/>
                          </a:solidFill>
                        </a:rPr>
                        <a:t>2.5</a:t>
                      </a:r>
                      <a:endParaRPr sz="1350" b="0" i="0" u="none" dirty="0">
                        <a:solidFill>
                          <a:schemeClr val="bg1"/>
                        </a:solidFill>
                        <a:latin typeface="Urbanist"/>
                      </a:endParaRPr>
                    </a:p>
                  </a:txBody>
                  <a:tcPr marL="63500" marR="63500" marT="25400" marB="25400" anchor="ctr"/>
                </a:tc>
                <a:tc>
                  <a:txBody>
                    <a:bodyPr/>
                    <a:lstStyle/>
                    <a:p>
                      <a:pPr algn="ctr"/>
                      <a:r>
                        <a:rPr sz="1350" b="0" u="none">
                          <a:solidFill>
                            <a:schemeClr val="bg1"/>
                          </a:solidFill>
                        </a:rPr>
                        <a:t>£726.1</a:t>
                      </a:r>
                      <a:endParaRPr sz="1350" b="0" i="0" u="none">
                        <a:solidFill>
                          <a:schemeClr val="bg1"/>
                        </a:solidFill>
                        <a:latin typeface="Urbanist"/>
                      </a:endParaRPr>
                    </a:p>
                  </a:txBody>
                  <a:tcPr marL="63500" marR="63500" marT="25400" marB="25400" anchor="ctr"/>
                </a:tc>
                <a:tc>
                  <a:txBody>
                    <a:bodyPr/>
                    <a:lstStyle/>
                    <a:p>
                      <a:pPr algn="ctr"/>
                      <a:r>
                        <a:rPr sz="1350" b="0" u="none">
                          <a:solidFill>
                            <a:schemeClr val="bg1"/>
                          </a:solidFill>
                        </a:rPr>
                        <a:t>2,328 (54%)</a:t>
                      </a:r>
                      <a:endParaRPr sz="1350" b="0" i="0" u="none">
                        <a:solidFill>
                          <a:schemeClr val="bg1"/>
                        </a:solidFill>
                        <a:latin typeface="Urbanist"/>
                      </a:endParaRPr>
                    </a:p>
                  </a:txBody>
                  <a:tcPr marL="63500" marR="63500" marT="25400" marB="25400" anchor="ctr"/>
                </a:tc>
                <a:extLst>
                  <a:ext uri="{0D108BD9-81ED-4DB2-BD59-A6C34878D82A}">
                    <a16:rowId xmlns:a16="http://schemas.microsoft.com/office/drawing/2014/main" val="10002"/>
                  </a:ext>
                </a:extLst>
              </a:tr>
              <a:tr h="526257">
                <a:tc>
                  <a:txBody>
                    <a:bodyPr/>
                    <a:lstStyle/>
                    <a:p>
                      <a:pPr algn="ctr"/>
                      <a:r>
                        <a:rPr sz="1350" b="1" u="none">
                          <a:solidFill>
                            <a:srgbClr val="F43F5E"/>
                          </a:solidFill>
                        </a:rPr>
                        <a:t>At-Risk / Churned</a:t>
                      </a:r>
                      <a:endParaRPr sz="1350" b="1" i="0" u="none">
                        <a:solidFill>
                          <a:srgbClr val="F43F5E"/>
                        </a:solidFill>
                        <a:latin typeface="Urbanist"/>
                      </a:endParaRPr>
                    </a:p>
                  </a:txBody>
                  <a:tcPr marL="333375" marR="63500" marT="25400" marB="25400" anchor="ctr"/>
                </a:tc>
                <a:tc>
                  <a:txBody>
                    <a:bodyPr/>
                    <a:lstStyle/>
                    <a:p>
                      <a:pPr algn="ctr"/>
                      <a:r>
                        <a:rPr sz="1350" b="0" u="none">
                          <a:solidFill>
                            <a:schemeClr val="bg1"/>
                          </a:solidFill>
                        </a:rPr>
                        <a:t>245 days</a:t>
                      </a:r>
                      <a:endParaRPr sz="1350" b="0" i="0" u="none">
                        <a:solidFill>
                          <a:schemeClr val="bg1"/>
                        </a:solidFill>
                        <a:latin typeface="Urbanist"/>
                      </a:endParaRPr>
                    </a:p>
                  </a:txBody>
                  <a:tcPr marL="63500" marR="63500" marT="25400" marB="25400" anchor="ctr"/>
                </a:tc>
                <a:tc>
                  <a:txBody>
                    <a:bodyPr/>
                    <a:lstStyle/>
                    <a:p>
                      <a:pPr algn="ctr"/>
                      <a:r>
                        <a:rPr sz="1350" b="0" u="none" dirty="0">
                          <a:solidFill>
                            <a:schemeClr val="bg1"/>
                          </a:solidFill>
                        </a:rPr>
                        <a:t>1.5</a:t>
                      </a:r>
                      <a:endParaRPr sz="1350" b="0" i="0" u="none" dirty="0">
                        <a:solidFill>
                          <a:schemeClr val="bg1"/>
                        </a:solidFill>
                        <a:latin typeface="Urbanist"/>
                      </a:endParaRPr>
                    </a:p>
                  </a:txBody>
                  <a:tcPr marL="63500" marR="63500" marT="25400" marB="25400" anchor="ctr"/>
                </a:tc>
                <a:tc>
                  <a:txBody>
                    <a:bodyPr/>
                    <a:lstStyle/>
                    <a:p>
                      <a:pPr algn="ctr"/>
                      <a:r>
                        <a:rPr sz="1350" b="0" u="none" dirty="0">
                          <a:solidFill>
                            <a:schemeClr val="bg1"/>
                          </a:solidFill>
                        </a:rPr>
                        <a:t>£426.6</a:t>
                      </a:r>
                      <a:endParaRPr sz="1350" b="0" i="0" u="none" dirty="0">
                        <a:solidFill>
                          <a:schemeClr val="bg1"/>
                        </a:solidFill>
                        <a:latin typeface="Urbanist"/>
                      </a:endParaRPr>
                    </a:p>
                  </a:txBody>
                  <a:tcPr marL="63500" marR="63500" marT="25400" marB="25400" anchor="ctr"/>
                </a:tc>
                <a:tc>
                  <a:txBody>
                    <a:bodyPr/>
                    <a:lstStyle/>
                    <a:p>
                      <a:pPr algn="ctr"/>
                      <a:r>
                        <a:rPr sz="1350" b="0" u="none" dirty="0">
                          <a:solidFill>
                            <a:schemeClr val="bg1"/>
                          </a:solidFill>
                        </a:rPr>
                        <a:t>1,046 (24%)</a:t>
                      </a:r>
                      <a:endParaRPr sz="1350" b="0" i="0" u="none" dirty="0">
                        <a:solidFill>
                          <a:schemeClr val="bg1"/>
                        </a:solidFill>
                        <a:latin typeface="Urbanist"/>
                      </a:endParaRPr>
                    </a:p>
                  </a:txBody>
                  <a:tcPr marL="63500" marR="63500" marT="25400" marB="25400" anchor="ctr"/>
                </a:tc>
                <a:extLst>
                  <a:ext uri="{0D108BD9-81ED-4DB2-BD59-A6C34878D82A}">
                    <a16:rowId xmlns:a16="http://schemas.microsoft.com/office/drawing/2014/main" val="10003"/>
                  </a:ext>
                </a:extLst>
              </a:tr>
            </a:tbl>
          </a:graphicData>
        </a:graphic>
      </p:graphicFrame>
      <p:sp>
        <p:nvSpPr>
          <p:cNvPr id="11" name="Rectangle 10">
            <a:extLst>
              <a:ext uri="{FF2B5EF4-FFF2-40B4-BE49-F238E27FC236}">
                <a16:creationId xmlns:a16="http://schemas.microsoft.com/office/drawing/2014/main" id="{4EBA60E6-7DE3-0235-98D1-F5C59F1C0E4C}"/>
              </a:ext>
            </a:extLst>
          </p:cNvPr>
          <p:cNvSpPr/>
          <p:nvPr/>
        </p:nvSpPr>
        <p:spPr>
          <a:xfrm>
            <a:off x="581025" y="3127027"/>
            <a:ext cx="2938016"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DC463B9-0B3E-2B2E-14E6-6A8FAAE48063}"/>
              </a:ext>
            </a:extLst>
          </p:cNvPr>
          <p:cNvSpPr/>
          <p:nvPr/>
        </p:nvSpPr>
        <p:spPr>
          <a:xfrm>
            <a:off x="3519041" y="3127027"/>
            <a:ext cx="1995338"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5B2E9739-57DD-8226-576A-77F7C11EA9B1}"/>
              </a:ext>
            </a:extLst>
          </p:cNvPr>
          <p:cNvSpPr/>
          <p:nvPr/>
        </p:nvSpPr>
        <p:spPr>
          <a:xfrm>
            <a:off x="5514379" y="3127027"/>
            <a:ext cx="2227957"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37C848B1-88AB-0FE0-9A9B-546B76CA8FC5}"/>
              </a:ext>
            </a:extLst>
          </p:cNvPr>
          <p:cNvSpPr/>
          <p:nvPr/>
        </p:nvSpPr>
        <p:spPr>
          <a:xfrm>
            <a:off x="7742336" y="3127027"/>
            <a:ext cx="2178992"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F904FB08-79D8-2256-5E36-89D16C9A515F}"/>
              </a:ext>
            </a:extLst>
          </p:cNvPr>
          <p:cNvSpPr/>
          <p:nvPr/>
        </p:nvSpPr>
        <p:spPr>
          <a:xfrm>
            <a:off x="9921329" y="3127027"/>
            <a:ext cx="1689645"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1A472052-9CAB-D645-81C5-AED4E1DC96E6}"/>
              </a:ext>
            </a:extLst>
          </p:cNvPr>
          <p:cNvSpPr/>
          <p:nvPr/>
        </p:nvSpPr>
        <p:spPr>
          <a:xfrm>
            <a:off x="581025" y="3650902"/>
            <a:ext cx="2938016"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62EDAB73-9CDC-95C3-5E5A-72BF14D4652E}"/>
              </a:ext>
            </a:extLst>
          </p:cNvPr>
          <p:cNvSpPr/>
          <p:nvPr/>
        </p:nvSpPr>
        <p:spPr>
          <a:xfrm>
            <a:off x="3519041" y="3650902"/>
            <a:ext cx="1995338"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E3C3502C-7127-FB61-C858-911E602A63E7}"/>
              </a:ext>
            </a:extLst>
          </p:cNvPr>
          <p:cNvSpPr/>
          <p:nvPr/>
        </p:nvSpPr>
        <p:spPr>
          <a:xfrm>
            <a:off x="5514379" y="3650902"/>
            <a:ext cx="2227957"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3C4B427A-69E9-0EAF-FB89-282EE263E9E2}"/>
              </a:ext>
            </a:extLst>
          </p:cNvPr>
          <p:cNvSpPr/>
          <p:nvPr/>
        </p:nvSpPr>
        <p:spPr>
          <a:xfrm>
            <a:off x="7742336" y="3650902"/>
            <a:ext cx="2178992"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a:extLst>
              <a:ext uri="{FF2B5EF4-FFF2-40B4-BE49-F238E27FC236}">
                <a16:creationId xmlns:a16="http://schemas.microsoft.com/office/drawing/2014/main" id="{D63E6458-7D1E-5CEB-14FE-59D680F03478}"/>
              </a:ext>
            </a:extLst>
          </p:cNvPr>
          <p:cNvSpPr/>
          <p:nvPr/>
        </p:nvSpPr>
        <p:spPr>
          <a:xfrm>
            <a:off x="9921329" y="3650902"/>
            <a:ext cx="1689645"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4D2E70B4-D504-9D98-F72A-12DDFDFFE2CE}"/>
              </a:ext>
            </a:extLst>
          </p:cNvPr>
          <p:cNvSpPr/>
          <p:nvPr/>
        </p:nvSpPr>
        <p:spPr>
          <a:xfrm>
            <a:off x="581025" y="4174777"/>
            <a:ext cx="2938016"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a:extLst>
              <a:ext uri="{FF2B5EF4-FFF2-40B4-BE49-F238E27FC236}">
                <a16:creationId xmlns:a16="http://schemas.microsoft.com/office/drawing/2014/main" id="{21032524-65F8-2CD3-2D3B-DFCE9A1DBA4C}"/>
              </a:ext>
            </a:extLst>
          </p:cNvPr>
          <p:cNvSpPr/>
          <p:nvPr/>
        </p:nvSpPr>
        <p:spPr>
          <a:xfrm>
            <a:off x="3519041" y="4174777"/>
            <a:ext cx="1995338"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91FC1E0E-ADCD-8F2E-77C7-D730A90B8DED}"/>
              </a:ext>
            </a:extLst>
          </p:cNvPr>
          <p:cNvSpPr/>
          <p:nvPr/>
        </p:nvSpPr>
        <p:spPr>
          <a:xfrm>
            <a:off x="5514379" y="4174777"/>
            <a:ext cx="2227957"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a:extLst>
              <a:ext uri="{FF2B5EF4-FFF2-40B4-BE49-F238E27FC236}">
                <a16:creationId xmlns:a16="http://schemas.microsoft.com/office/drawing/2014/main" id="{5F7E365D-4DB8-31CE-7027-30B1C4633B5C}"/>
              </a:ext>
            </a:extLst>
          </p:cNvPr>
          <p:cNvSpPr/>
          <p:nvPr/>
        </p:nvSpPr>
        <p:spPr>
          <a:xfrm>
            <a:off x="7742336" y="4174777"/>
            <a:ext cx="2178992"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a:extLst>
              <a:ext uri="{FF2B5EF4-FFF2-40B4-BE49-F238E27FC236}">
                <a16:creationId xmlns:a16="http://schemas.microsoft.com/office/drawing/2014/main" id="{6D3D24CD-1AAC-BF8B-F7A0-45D3F8C4D1A6}"/>
              </a:ext>
            </a:extLst>
          </p:cNvPr>
          <p:cNvSpPr/>
          <p:nvPr/>
        </p:nvSpPr>
        <p:spPr>
          <a:xfrm>
            <a:off x="9921329" y="4174777"/>
            <a:ext cx="1689645"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image.png">
            <a:extLst>
              <a:ext uri="{FF2B5EF4-FFF2-40B4-BE49-F238E27FC236}">
                <a16:creationId xmlns:a16="http://schemas.microsoft.com/office/drawing/2014/main" id="{D7901402-6B10-C196-7F37-B963E4AB6B73}"/>
              </a:ext>
            </a:extLst>
          </p:cNvPr>
          <p:cNvPicPr>
            <a:picLocks noChangeAspect="1"/>
          </p:cNvPicPr>
          <p:nvPr/>
        </p:nvPicPr>
        <p:blipFill>
          <a:blip r:embed="rId3"/>
          <a:stretch>
            <a:fillRect/>
          </a:stretch>
        </p:blipFill>
        <p:spPr>
          <a:xfrm>
            <a:off x="809625" y="3836640"/>
            <a:ext cx="152400" cy="171450"/>
          </a:xfrm>
          <a:prstGeom prst="rect">
            <a:avLst/>
          </a:prstGeom>
        </p:spPr>
      </p:pic>
      <p:pic>
        <p:nvPicPr>
          <p:cNvPr id="43" name="Picture 42" descr="image.png">
            <a:extLst>
              <a:ext uri="{FF2B5EF4-FFF2-40B4-BE49-F238E27FC236}">
                <a16:creationId xmlns:a16="http://schemas.microsoft.com/office/drawing/2014/main" id="{F543E924-6C35-5BEB-C68B-1B80C6E6258E}"/>
              </a:ext>
            </a:extLst>
          </p:cNvPr>
          <p:cNvPicPr>
            <a:picLocks noChangeAspect="1"/>
          </p:cNvPicPr>
          <p:nvPr/>
        </p:nvPicPr>
        <p:blipFill>
          <a:blip r:embed="rId4"/>
          <a:stretch>
            <a:fillRect/>
          </a:stretch>
        </p:blipFill>
        <p:spPr>
          <a:xfrm>
            <a:off x="809625" y="4360515"/>
            <a:ext cx="219075" cy="171450"/>
          </a:xfrm>
          <a:prstGeom prst="rect">
            <a:avLst/>
          </a:prstGeom>
        </p:spPr>
      </p:pic>
      <p:pic>
        <p:nvPicPr>
          <p:cNvPr id="45" name="Picture 44" descr="image.png">
            <a:extLst>
              <a:ext uri="{FF2B5EF4-FFF2-40B4-BE49-F238E27FC236}">
                <a16:creationId xmlns:a16="http://schemas.microsoft.com/office/drawing/2014/main" id="{4B0A15C2-E84D-CD38-A047-9A599C7CC073}"/>
              </a:ext>
            </a:extLst>
          </p:cNvPr>
          <p:cNvPicPr>
            <a:picLocks noChangeAspect="1"/>
          </p:cNvPicPr>
          <p:nvPr/>
        </p:nvPicPr>
        <p:blipFill>
          <a:blip r:embed="rId5"/>
          <a:stretch>
            <a:fillRect/>
          </a:stretch>
        </p:blipFill>
        <p:spPr>
          <a:xfrm>
            <a:off x="809625" y="3312765"/>
            <a:ext cx="190500" cy="171450"/>
          </a:xfrm>
          <a:prstGeom prst="rect">
            <a:avLst/>
          </a:prstGeom>
        </p:spPr>
      </p:pic>
      <p:pic>
        <p:nvPicPr>
          <p:cNvPr id="47" name="Picture 46" descr="image.png">
            <a:extLst>
              <a:ext uri="{FF2B5EF4-FFF2-40B4-BE49-F238E27FC236}">
                <a16:creationId xmlns:a16="http://schemas.microsoft.com/office/drawing/2014/main" id="{EC93F33E-FE61-DA70-B8E1-72C88FBDF06A}"/>
              </a:ext>
            </a:extLst>
          </p:cNvPr>
          <p:cNvPicPr>
            <a:picLocks noChangeAspect="1"/>
          </p:cNvPicPr>
          <p:nvPr/>
        </p:nvPicPr>
        <p:blipFill>
          <a:blip r:embed="rId5"/>
          <a:stretch>
            <a:fillRect/>
          </a:stretch>
        </p:blipFill>
        <p:spPr>
          <a:xfrm>
            <a:off x="809625" y="3312765"/>
            <a:ext cx="190500" cy="171450"/>
          </a:xfrm>
          <a:prstGeom prst="rect">
            <a:avLst/>
          </a:prstGeom>
        </p:spPr>
      </p:pic>
      <p:pic>
        <p:nvPicPr>
          <p:cNvPr id="49" name="Picture 48" descr="image.png">
            <a:extLst>
              <a:ext uri="{FF2B5EF4-FFF2-40B4-BE49-F238E27FC236}">
                <a16:creationId xmlns:a16="http://schemas.microsoft.com/office/drawing/2014/main" id="{FC315298-6FFB-DF5A-E380-B4B34F2785C8}"/>
              </a:ext>
            </a:extLst>
          </p:cNvPr>
          <p:cNvPicPr>
            <a:picLocks noChangeAspect="1"/>
          </p:cNvPicPr>
          <p:nvPr/>
        </p:nvPicPr>
        <p:blipFill>
          <a:blip r:embed="rId3"/>
          <a:stretch>
            <a:fillRect/>
          </a:stretch>
        </p:blipFill>
        <p:spPr>
          <a:xfrm>
            <a:off x="809625" y="3836640"/>
            <a:ext cx="152400" cy="171450"/>
          </a:xfrm>
          <a:prstGeom prst="rect">
            <a:avLst/>
          </a:prstGeom>
        </p:spPr>
      </p:pic>
      <p:pic>
        <p:nvPicPr>
          <p:cNvPr id="51" name="Picture 50" descr="image.png">
            <a:extLst>
              <a:ext uri="{FF2B5EF4-FFF2-40B4-BE49-F238E27FC236}">
                <a16:creationId xmlns:a16="http://schemas.microsoft.com/office/drawing/2014/main" id="{DF468114-660A-8F0D-EEEC-37932E92B894}"/>
              </a:ext>
            </a:extLst>
          </p:cNvPr>
          <p:cNvPicPr>
            <a:picLocks noChangeAspect="1"/>
          </p:cNvPicPr>
          <p:nvPr/>
        </p:nvPicPr>
        <p:blipFill>
          <a:blip r:embed="rId4"/>
          <a:stretch>
            <a:fillRect/>
          </a:stretch>
        </p:blipFill>
        <p:spPr>
          <a:xfrm>
            <a:off x="809625" y="4360515"/>
            <a:ext cx="219075" cy="1714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Predictive Modeling: Approach &amp; Results</a:t>
            </a:r>
            <a:endParaRPr lang="en-US" sz="3400" b="0" strike="noStrike" spc="-1" dirty="0">
              <a:solidFill>
                <a:srgbClr val="000000"/>
              </a:solidFill>
              <a:latin typeface="Arial"/>
            </a:endParaRPr>
          </a:p>
        </p:txBody>
      </p:sp>
      <p:sp>
        <p:nvSpPr>
          <p:cNvPr id="500" name="Body"/>
          <p:cNvSpPr>
            <a:spLocks noGrp="1"/>
          </p:cNvSpPr>
          <p:nvPr/>
        </p:nvSpPr>
        <p:spPr>
          <a:xfrm>
            <a:off x="678960" y="1675080"/>
            <a:ext cx="10834198" cy="714159"/>
          </a:xfrm>
          <a:prstGeom prst="rect">
            <a:avLst/>
          </a:prstGeom>
          <a:noFill/>
          <a:ln w="12600">
            <a:noFill/>
          </a:ln>
        </p:spPr>
        <p:txBody>
          <a:bodyPr lIns="0" tIns="0" rIns="0" bIns="0" anchor="t">
            <a:normAutofit/>
          </a:bodyPr>
          <a:lstStyle/>
          <a:p>
            <a:pPr>
              <a:lnSpc>
                <a:spcPts val="2400"/>
              </a:lnSpc>
            </a:pPr>
            <a:r>
              <a:rPr lang="en-US" dirty="0">
                <a:latin typeface="Urbanist"/>
              </a:rPr>
              <a:t>We treated the K-Means cluster labels as ground truth and trained supervised models (80/20 split) to classify new customers on the fly.</a:t>
            </a:r>
          </a:p>
        </p:txBody>
      </p:sp>
      <p:pic>
        <p:nvPicPr>
          <p:cNvPr id="610" name="Model Accuracy"/>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a:stretch/>
        </p:blipFill>
        <p:spPr>
          <a:xfrm>
            <a:off x="3638842" y="2389239"/>
            <a:ext cx="4914315" cy="2723596"/>
          </a:xfrm>
          <a:prstGeom prst="rect">
            <a:avLst/>
          </a:prstGeom>
        </p:spPr>
      </p:pic>
      <p:sp>
        <p:nvSpPr>
          <p:cNvPr id="7" name="TextBox 6">
            <a:extLst>
              <a:ext uri="{FF2B5EF4-FFF2-40B4-BE49-F238E27FC236}">
                <a16:creationId xmlns:a16="http://schemas.microsoft.com/office/drawing/2014/main" id="{344A3229-1308-47F1-6B64-F8B4F458C81D}"/>
              </a:ext>
            </a:extLst>
          </p:cNvPr>
          <p:cNvSpPr txBox="1"/>
          <p:nvPr/>
        </p:nvSpPr>
        <p:spPr>
          <a:xfrm>
            <a:off x="678899" y="5409267"/>
            <a:ext cx="10834199" cy="691856"/>
          </a:xfrm>
          <a:prstGeom prst="rect">
            <a:avLst/>
          </a:prstGeom>
          <a:noFill/>
        </p:spPr>
        <p:txBody>
          <a:bodyPr wrap="square">
            <a:spAutoFit/>
          </a:bodyPr>
          <a:lstStyle/>
          <a:p>
            <a:pPr>
              <a:lnSpc>
                <a:spcPts val="2400"/>
              </a:lnSpc>
            </a:pPr>
            <a:r>
              <a:rPr lang="en-US" sz="1800" b="1" dirty="0">
                <a:latin typeface="Urbanist"/>
              </a:rPr>
              <a:t>Why so high? </a:t>
            </a:r>
            <a:r>
              <a:rPr lang="en-US" sz="1800" dirty="0">
                <a:latin typeface="Urbanist"/>
              </a:rPr>
              <a:t>The Clusters are highly distinct . This confirms our segments are clear, consistent and well-defined, not random noise.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8D26BA-0844-3B8A-AA6A-8E4118E26DDE}"/>
            </a:ext>
          </a:extLst>
        </p:cNvPr>
        <p:cNvGrpSpPr/>
        <p:nvPr/>
      </p:nvGrpSpPr>
      <p:grpSpPr>
        <a:xfrm>
          <a:off x="0" y="0"/>
          <a:ext cx="0" cy="0"/>
          <a:chOff x="0" y="0"/>
          <a:chExt cx="0" cy="0"/>
        </a:xfrm>
      </p:grpSpPr>
      <p:sp>
        <p:nvSpPr>
          <p:cNvPr id="98" name="PlaceHolder 1">
            <a:extLst>
              <a:ext uri="{FF2B5EF4-FFF2-40B4-BE49-F238E27FC236}">
                <a16:creationId xmlns:a16="http://schemas.microsoft.com/office/drawing/2014/main" id="{115F12C8-CDA6-B397-3C68-282DB779CB78}"/>
              </a:ext>
            </a:extLst>
          </p:cNvPr>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panose="020F0502020204030204" pitchFamily="34" charset="0"/>
                <a:ea typeface="Calibri" panose="020F0502020204030204" pitchFamily="34" charset="0"/>
                <a:cs typeface="Calibri" panose="020F0502020204030204" pitchFamily="34" charset="0"/>
              </a:rPr>
              <a:t>Predictive Modeling:</a:t>
            </a:r>
            <a:endParaRPr lang="en-US" sz="3400" b="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500" name="Body">
            <a:extLst>
              <a:ext uri="{FF2B5EF4-FFF2-40B4-BE49-F238E27FC236}">
                <a16:creationId xmlns:a16="http://schemas.microsoft.com/office/drawing/2014/main" id="{CA7DFB11-05D4-CA86-0396-309C4BA3962C}"/>
              </a:ext>
            </a:extLst>
          </p:cNvPr>
          <p:cNvSpPr>
            <a:spLocks noGrp="1"/>
          </p:cNvSpPr>
          <p:nvPr/>
        </p:nvSpPr>
        <p:spPr>
          <a:xfrm>
            <a:off x="678901" y="1285264"/>
            <a:ext cx="10834198" cy="422317"/>
          </a:xfrm>
          <a:prstGeom prst="rect">
            <a:avLst/>
          </a:prstGeom>
          <a:noFill/>
          <a:ln w="12600">
            <a:noFill/>
          </a:ln>
        </p:spPr>
        <p:txBody>
          <a:bodyPr lIns="0" tIns="0" rIns="0" bIns="0" anchor="t">
            <a:normAutofit/>
          </a:bodyPr>
          <a:lstStyle/>
          <a:p>
            <a:pPr>
              <a:lnSpc>
                <a:spcPts val="2400"/>
              </a:lnSpc>
            </a:pPr>
            <a:r>
              <a:rPr lang="en-US" sz="2300" b="1" dirty="0">
                <a:latin typeface="Calibri" panose="020F0502020204030204" pitchFamily="34" charset="0"/>
                <a:ea typeface="Calibri" panose="020F0502020204030204" pitchFamily="34" charset="0"/>
                <a:cs typeface="Calibri" panose="020F0502020204030204" pitchFamily="34" charset="0"/>
              </a:rPr>
              <a:t>Logistic Regression – Confusion Matrix</a:t>
            </a:r>
          </a:p>
        </p:txBody>
      </p:sp>
      <p:pic>
        <p:nvPicPr>
          <p:cNvPr id="610" name="Model Accuracy">
            <a:extLst>
              <a:ext uri="{FF2B5EF4-FFF2-40B4-BE49-F238E27FC236}">
                <a16:creationId xmlns:a16="http://schemas.microsoft.com/office/drawing/2014/main" id="{AC7AE7CB-2EB4-FC5E-75E8-3FFD6250AE50}"/>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a:stretch/>
        </p:blipFill>
        <p:spPr>
          <a:xfrm>
            <a:off x="6683422" y="1216439"/>
            <a:ext cx="4829677" cy="3963456"/>
          </a:xfrm>
          <a:prstGeom prst="rect">
            <a:avLst/>
          </a:prstGeom>
        </p:spPr>
      </p:pic>
      <p:sp>
        <p:nvSpPr>
          <p:cNvPr id="3" name="TextBox 2">
            <a:extLst>
              <a:ext uri="{FF2B5EF4-FFF2-40B4-BE49-F238E27FC236}">
                <a16:creationId xmlns:a16="http://schemas.microsoft.com/office/drawing/2014/main" id="{C4DB5CB2-FA40-6D4F-BABF-706D8FCBF984}"/>
              </a:ext>
            </a:extLst>
          </p:cNvPr>
          <p:cNvSpPr txBox="1"/>
          <p:nvPr/>
        </p:nvSpPr>
        <p:spPr>
          <a:xfrm>
            <a:off x="587422" y="1821684"/>
            <a:ext cx="6096000" cy="3139321"/>
          </a:xfrm>
          <a:prstGeom prst="rect">
            <a:avLst/>
          </a:prstGeom>
          <a:noFill/>
        </p:spPr>
        <p:txBody>
          <a:bodyPr wrap="square">
            <a:spAutoFit/>
          </a:bodyPr>
          <a:lstStyle/>
          <a:p>
            <a:pPr lvl="0"/>
            <a:r>
              <a:rPr lang="en-US" b="1" dirty="0">
                <a:latin typeface="Calibri" panose="020F0502020204030204" pitchFamily="34" charset="0"/>
                <a:ea typeface="Calibri" panose="020F0502020204030204" pitchFamily="34" charset="0"/>
                <a:cs typeface="Calibri" panose="020F0502020204030204" pitchFamily="34" charset="0"/>
              </a:rPr>
              <a:t>High classification accuracy:</a:t>
            </a:r>
            <a:r>
              <a:rPr lang="en-US" dirty="0">
                <a:latin typeface="Calibri" panose="020F0502020204030204" pitchFamily="34" charset="0"/>
                <a:ea typeface="Calibri" panose="020F0502020204030204" pitchFamily="34" charset="0"/>
                <a:cs typeface="Calibri" panose="020F0502020204030204" pitchFamily="34" charset="0"/>
              </a:rPr>
              <a:t> Most predictions fall on the </a:t>
            </a:r>
            <a:r>
              <a:rPr lang="en-US" b="1" dirty="0">
                <a:latin typeface="Calibri" panose="020F0502020204030204" pitchFamily="34" charset="0"/>
                <a:ea typeface="Calibri" panose="020F0502020204030204" pitchFamily="34" charset="0"/>
                <a:cs typeface="Calibri" panose="020F0502020204030204" pitchFamily="34" charset="0"/>
              </a:rPr>
              <a:t>diagonal</a:t>
            </a:r>
            <a:r>
              <a:rPr lang="en-US" dirty="0">
                <a:latin typeface="Calibri" panose="020F0502020204030204" pitchFamily="34" charset="0"/>
                <a:ea typeface="Calibri" panose="020F0502020204030204" pitchFamily="34" charset="0"/>
                <a:cs typeface="Calibri" panose="020F0502020204030204" pitchFamily="34" charset="0"/>
              </a:rPr>
              <a:t>, indicating correct classifications. </a:t>
            </a:r>
          </a:p>
          <a:p>
            <a:pPr lvl="0"/>
            <a:endParaRPr lang="en-US" dirty="0">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Occasional Shoppers:</a:t>
            </a:r>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463/466</a:t>
            </a:r>
            <a:r>
              <a:rPr lang="en-US" dirty="0">
                <a:latin typeface="Calibri" panose="020F0502020204030204" pitchFamily="34" charset="0"/>
                <a:ea typeface="Calibri" panose="020F0502020204030204" pitchFamily="34" charset="0"/>
                <a:cs typeface="Calibri" panose="020F0502020204030204" pitchFamily="34" charset="0"/>
              </a:rPr>
              <a:t> correctly classified. </a:t>
            </a:r>
          </a:p>
          <a:p>
            <a:pPr marL="342900" lvl="0" indent="-3429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At-Risk/Churned Customers:</a:t>
            </a:r>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207/209</a:t>
            </a:r>
            <a:r>
              <a:rPr lang="en-US" dirty="0">
                <a:latin typeface="Calibri" panose="020F0502020204030204" pitchFamily="34" charset="0"/>
                <a:ea typeface="Calibri" panose="020F0502020204030204" pitchFamily="34" charset="0"/>
                <a:cs typeface="Calibri" panose="020F0502020204030204" pitchFamily="34" charset="0"/>
              </a:rPr>
              <a:t> correctly classified. </a:t>
            </a:r>
          </a:p>
          <a:p>
            <a:pPr marL="342900" lvl="0" indent="-3429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Best Customers:</a:t>
            </a:r>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191/193</a:t>
            </a:r>
            <a:r>
              <a:rPr lang="en-US" dirty="0">
                <a:latin typeface="Calibri" panose="020F0502020204030204" pitchFamily="34" charset="0"/>
                <a:ea typeface="Calibri" panose="020F0502020204030204" pitchFamily="34" charset="0"/>
                <a:cs typeface="Calibri" panose="020F0502020204030204" pitchFamily="34" charset="0"/>
              </a:rPr>
              <a:t> correctly classified. </a:t>
            </a:r>
          </a:p>
          <a:p>
            <a:pPr marL="342900" lvl="0" indent="-3429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lvl="0"/>
            <a:r>
              <a:rPr lang="en-US" b="1" dirty="0">
                <a:latin typeface="Calibri" panose="020F0502020204030204" pitchFamily="34" charset="0"/>
                <a:ea typeface="Calibri" panose="020F0502020204030204" pitchFamily="34" charset="0"/>
                <a:cs typeface="Calibri" panose="020F0502020204030204" pitchFamily="34" charset="0"/>
              </a:rPr>
              <a:t>Very few misclassifications:</a:t>
            </a:r>
            <a:r>
              <a:rPr lang="en-US" dirty="0">
                <a:latin typeface="Calibri" panose="020F0502020204030204" pitchFamily="34" charset="0"/>
                <a:ea typeface="Calibri" panose="020F0502020204030204" pitchFamily="34" charset="0"/>
                <a:cs typeface="Calibri" panose="020F0502020204030204" pitchFamily="34" charset="0"/>
              </a:rPr>
              <a:t> Only </a:t>
            </a:r>
            <a:r>
              <a:rPr lang="en-US" b="1" dirty="0">
                <a:latin typeface="Calibri" panose="020F0502020204030204" pitchFamily="34" charset="0"/>
                <a:ea typeface="Calibri" panose="020F0502020204030204" pitchFamily="34" charset="0"/>
                <a:cs typeface="Calibri" panose="020F0502020204030204" pitchFamily="34" charset="0"/>
              </a:rPr>
              <a:t>6 out of 868 customers</a:t>
            </a:r>
            <a:r>
              <a:rPr lang="en-US" dirty="0">
                <a:latin typeface="Calibri" panose="020F0502020204030204" pitchFamily="34" charset="0"/>
                <a:ea typeface="Calibri" panose="020F0502020204030204" pitchFamily="34" charset="0"/>
                <a:cs typeface="Calibri" panose="020F0502020204030204" pitchFamily="34" charset="0"/>
              </a:rPr>
              <a:t> were incorrectly classified. </a:t>
            </a:r>
          </a:p>
        </p:txBody>
      </p:sp>
      <p:sp>
        <p:nvSpPr>
          <p:cNvPr id="5" name="TextBox 4">
            <a:extLst>
              <a:ext uri="{FF2B5EF4-FFF2-40B4-BE49-F238E27FC236}">
                <a16:creationId xmlns:a16="http://schemas.microsoft.com/office/drawing/2014/main" id="{2847A579-D99E-A673-F0E3-C86397B3218F}"/>
              </a:ext>
            </a:extLst>
          </p:cNvPr>
          <p:cNvSpPr txBox="1"/>
          <p:nvPr/>
        </p:nvSpPr>
        <p:spPr>
          <a:xfrm>
            <a:off x="587422" y="5317543"/>
            <a:ext cx="10925553" cy="646331"/>
          </a:xfrm>
          <a:prstGeom prst="rect">
            <a:avLst/>
          </a:prstGeom>
          <a:noFill/>
        </p:spPr>
        <p:txBody>
          <a:bodyPr wrap="square">
            <a:spAutoFit/>
          </a:bodyPr>
          <a:lstStyle/>
          <a:p>
            <a:pPr lvl="0" algn="ctr"/>
            <a:r>
              <a:rPr lang="en-US" b="1" dirty="0">
                <a:latin typeface="Calibri" panose="020F0502020204030204" pitchFamily="34" charset="0"/>
                <a:ea typeface="Calibri" panose="020F0502020204030204" pitchFamily="34" charset="0"/>
                <a:cs typeface="Calibri" panose="020F0502020204030204" pitchFamily="34" charset="0"/>
              </a:rPr>
              <a:t>Key Insight:</a:t>
            </a:r>
            <a:r>
              <a:rPr lang="en-US" dirty="0">
                <a:latin typeface="Calibri" panose="020F0502020204030204" pitchFamily="34" charset="0"/>
                <a:ea typeface="Calibri" panose="020F0502020204030204" pitchFamily="34" charset="0"/>
                <a:cs typeface="Calibri" panose="020F0502020204030204" pitchFamily="34" charset="0"/>
              </a:rPr>
              <a:t> The model distinguishes the </a:t>
            </a:r>
            <a:r>
              <a:rPr lang="en-US" b="1" dirty="0">
                <a:latin typeface="Calibri" panose="020F0502020204030204" pitchFamily="34" charset="0"/>
                <a:ea typeface="Calibri" panose="020F0502020204030204" pitchFamily="34" charset="0"/>
                <a:cs typeface="Calibri" panose="020F0502020204030204" pitchFamily="34" charset="0"/>
              </a:rPr>
              <a:t>three customer segments extremely well</a:t>
            </a:r>
            <a:r>
              <a:rPr lang="en-US" dirty="0">
                <a:latin typeface="Calibri" panose="020F0502020204030204" pitchFamily="34" charset="0"/>
                <a:ea typeface="Calibri" panose="020F0502020204030204" pitchFamily="34" charset="0"/>
                <a:cs typeface="Calibri" panose="020F0502020204030204" pitchFamily="34" charset="0"/>
              </a:rPr>
              <a:t>, with minimal overlap between classes.</a:t>
            </a:r>
          </a:p>
        </p:txBody>
      </p:sp>
    </p:spTree>
    <p:extLst>
      <p:ext uri="{BB962C8B-B14F-4D97-AF65-F5344CB8AC3E}">
        <p14:creationId xmlns:p14="http://schemas.microsoft.com/office/powerpoint/2010/main" val="3165415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dirty="0">
                <a:solidFill>
                  <a:srgbClr val="161A3E"/>
                </a:solidFill>
                <a:latin typeface="Calibri"/>
              </a:rPr>
              <a:t>Feature Importance with SHAP</a:t>
            </a:r>
            <a:endParaRPr lang="en-US" sz="3400" b="0" strike="noStrike" spc="-1" dirty="0">
              <a:solidFill>
                <a:srgbClr val="000000"/>
              </a:solidFill>
              <a:latin typeface="Arial"/>
            </a:endParaRPr>
          </a:p>
        </p:txBody>
      </p:sp>
      <p:pic>
        <p:nvPicPr>
          <p:cNvPr id="611" name="SHAP Overall Importance"/>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a:stretch/>
        </p:blipFill>
        <p:spPr>
          <a:xfrm>
            <a:off x="7777316" y="2549549"/>
            <a:ext cx="4414684" cy="2723534"/>
          </a:xfrm>
          <a:prstGeom prst="rect">
            <a:avLst/>
          </a:prstGeom>
        </p:spPr>
      </p:pic>
      <p:sp>
        <p:nvSpPr>
          <p:cNvPr id="700" name="Caption"/>
          <p:cNvSpPr/>
          <p:nvPr/>
        </p:nvSpPr>
        <p:spPr>
          <a:xfrm>
            <a:off x="678960" y="3530980"/>
            <a:ext cx="5349054" cy="400000"/>
          </a:xfrm>
          <a:prstGeom prst="rect">
            <a:avLst/>
          </a:prstGeom>
          <a:noFill/>
          <a:ln w="0">
            <a:noFill/>
          </a:ln>
        </p:spPr>
        <p:txBody>
          <a:bodyPr lIns="0" tIns="0" rIns="0" bIns="0" anchor="t">
            <a:noAutofit/>
          </a:bodyPr>
          <a:lstStyle/>
          <a:p>
            <a:pPr algn="ctr">
              <a:buNone/>
            </a:pPr>
            <a:endParaRPr lang="en-US" sz="1300" b="0" i="1" strike="noStrike" spc="-1" dirty="0">
              <a:solidFill>
                <a:srgbClr val="555555"/>
              </a:solidFill>
              <a:latin typeface="Calibri"/>
            </a:endParaRPr>
          </a:p>
        </p:txBody>
      </p:sp>
      <p:sp>
        <p:nvSpPr>
          <p:cNvPr id="2" name="TextBox 1">
            <a:extLst>
              <a:ext uri="{FF2B5EF4-FFF2-40B4-BE49-F238E27FC236}">
                <a16:creationId xmlns:a16="http://schemas.microsoft.com/office/drawing/2014/main" id="{E0A33BEC-7464-4336-C049-7C2CB64869DE}"/>
              </a:ext>
            </a:extLst>
          </p:cNvPr>
          <p:cNvSpPr txBox="1"/>
          <p:nvPr/>
        </p:nvSpPr>
        <p:spPr>
          <a:xfrm>
            <a:off x="678960" y="1413080"/>
            <a:ext cx="8642021" cy="1892826"/>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SHAP (</a:t>
            </a:r>
            <a:r>
              <a:rPr lang="en-US" b="1" dirty="0" err="1">
                <a:latin typeface="Calibri" panose="020F0502020204030204" pitchFamily="34" charset="0"/>
                <a:ea typeface="Calibri" panose="020F0502020204030204" pitchFamily="34" charset="0"/>
                <a:cs typeface="Calibri" panose="020F0502020204030204" pitchFamily="34" charset="0"/>
              </a:rPr>
              <a:t>SHapley</a:t>
            </a:r>
            <a:r>
              <a:rPr lang="en-US" b="1" dirty="0">
                <a:latin typeface="Calibri" panose="020F0502020204030204" pitchFamily="34" charset="0"/>
                <a:ea typeface="Calibri" panose="020F0502020204030204" pitchFamily="34" charset="0"/>
                <a:cs typeface="Calibri" panose="020F0502020204030204" pitchFamily="34" charset="0"/>
              </a:rPr>
              <a:t> Additive </a:t>
            </a:r>
            <a:r>
              <a:rPr lang="en-US" b="1" dirty="0" err="1">
                <a:latin typeface="Calibri" panose="020F0502020204030204" pitchFamily="34" charset="0"/>
                <a:ea typeface="Calibri" panose="020F0502020204030204" pitchFamily="34" charset="0"/>
                <a:cs typeface="Calibri" panose="020F0502020204030204" pitchFamily="34" charset="0"/>
              </a:rPr>
              <a:t>exPlanations</a:t>
            </a:r>
            <a:r>
              <a:rPr lang="en-US" b="1" dirty="0">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rPr>
              <a:t> is a game-theoretic method that explains </a:t>
            </a:r>
            <a:r>
              <a:rPr lang="en-US" b="1" dirty="0">
                <a:latin typeface="Calibri" panose="020F0502020204030204" pitchFamily="34" charset="0"/>
                <a:ea typeface="Calibri" panose="020F0502020204030204" pitchFamily="34" charset="0"/>
                <a:cs typeface="Calibri" panose="020F0502020204030204" pitchFamily="34" charset="0"/>
              </a:rPr>
              <a:t>how each feature influences a model’s predictions</a:t>
            </a:r>
            <a:r>
              <a:rPr lang="en-US" dirty="0">
                <a:latin typeface="Calibri" panose="020F0502020204030204" pitchFamily="34" charset="0"/>
                <a:ea typeface="Calibri" panose="020F0502020204030204" pitchFamily="34" charset="0"/>
                <a:cs typeface="Calibri" panose="020F0502020204030204" pitchFamily="34" charset="0"/>
              </a:rPr>
              <a:t>.</a:t>
            </a:r>
          </a:p>
          <a:p>
            <a:pPr>
              <a:lnSpc>
                <a:spcPct val="150000"/>
              </a:lnSpc>
            </a:pPr>
            <a:r>
              <a:rPr lang="en-US" b="1" dirty="0">
                <a:latin typeface="Calibri" panose="020F0502020204030204" pitchFamily="34" charset="0"/>
                <a:ea typeface="Calibri" panose="020F0502020204030204" pitchFamily="34" charset="0"/>
                <a:cs typeface="Calibri" panose="020F0502020204030204" pitchFamily="34" charset="0"/>
              </a:rPr>
              <a:t>Overall Feature Importance:</a:t>
            </a:r>
            <a:endParaRPr lang="en-US" dirty="0">
              <a:latin typeface="Calibri" panose="020F0502020204030204" pitchFamily="34" charset="0"/>
              <a:ea typeface="Calibri" panose="020F0502020204030204" pitchFamily="34" charset="0"/>
              <a:cs typeface="Calibri" panose="020F0502020204030204" pitchFamily="34" charset="0"/>
            </a:endParaRPr>
          </a:p>
          <a:p>
            <a:pPr lvl="0"/>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Recency:</a:t>
            </a:r>
            <a:r>
              <a:rPr lang="en-US" dirty="0">
                <a:latin typeface="Calibri" panose="020F0502020204030204" pitchFamily="34" charset="0"/>
                <a:ea typeface="Calibri" panose="020F0502020204030204" pitchFamily="34" charset="0"/>
                <a:cs typeface="Calibri" panose="020F0502020204030204" pitchFamily="34" charset="0"/>
              </a:rPr>
              <a:t> Most important feature — strongest influence on model predictions. </a:t>
            </a:r>
          </a:p>
          <a:p>
            <a:pPr lvl="0"/>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Monetary:</a:t>
            </a:r>
            <a:r>
              <a:rPr lang="en-US" dirty="0">
                <a:latin typeface="Calibri" panose="020F0502020204030204" pitchFamily="34" charset="0"/>
                <a:ea typeface="Calibri" panose="020F0502020204030204" pitchFamily="34" charset="0"/>
                <a:cs typeface="Calibri" panose="020F0502020204030204" pitchFamily="34" charset="0"/>
              </a:rPr>
              <a:t> Second most important — strong influence, especially for </a:t>
            </a:r>
            <a:r>
              <a:rPr lang="en-US" b="1" dirty="0">
                <a:latin typeface="Calibri" panose="020F0502020204030204" pitchFamily="34" charset="0"/>
                <a:ea typeface="Calibri" panose="020F0502020204030204" pitchFamily="34" charset="0"/>
                <a:cs typeface="Calibri" panose="020F0502020204030204" pitchFamily="34" charset="0"/>
              </a:rPr>
              <a:t>Best Customers</a:t>
            </a:r>
            <a:r>
              <a:rPr lang="en-US" dirty="0">
                <a:latin typeface="Calibri" panose="020F0502020204030204" pitchFamily="34" charset="0"/>
                <a:ea typeface="Calibri" panose="020F0502020204030204" pitchFamily="34" charset="0"/>
                <a:cs typeface="Calibri" panose="020F0502020204030204" pitchFamily="34" charset="0"/>
              </a:rPr>
              <a:t>. </a:t>
            </a:r>
          </a:p>
          <a:p>
            <a:pPr lvl="0"/>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Frequency:</a:t>
            </a:r>
            <a:r>
              <a:rPr lang="en-US" dirty="0">
                <a:latin typeface="Calibri" panose="020F0502020204030204" pitchFamily="34" charset="0"/>
                <a:ea typeface="Calibri" panose="020F0502020204030204" pitchFamily="34" charset="0"/>
                <a:cs typeface="Calibri" panose="020F0502020204030204" pitchFamily="34" charset="0"/>
              </a:rPr>
              <a:t> Least important overall — comparatively smaller influence.</a:t>
            </a:r>
          </a:p>
        </p:txBody>
      </p:sp>
      <p:sp>
        <p:nvSpPr>
          <p:cNvPr id="8" name="TextBox 7">
            <a:extLst>
              <a:ext uri="{FF2B5EF4-FFF2-40B4-BE49-F238E27FC236}">
                <a16:creationId xmlns:a16="http://schemas.microsoft.com/office/drawing/2014/main" id="{FEF4D69B-C3BD-FB9D-ED9B-33ECE1D87052}"/>
              </a:ext>
            </a:extLst>
          </p:cNvPr>
          <p:cNvSpPr txBox="1"/>
          <p:nvPr/>
        </p:nvSpPr>
        <p:spPr>
          <a:xfrm>
            <a:off x="678959" y="3275095"/>
            <a:ext cx="7963596" cy="2169825"/>
          </a:xfrm>
          <a:prstGeom prst="rect">
            <a:avLst/>
          </a:prstGeom>
          <a:noFill/>
        </p:spPr>
        <p:txBody>
          <a:bodyPr wrap="square">
            <a:spAutoFit/>
          </a:bodyPr>
          <a:lstStyle/>
          <a:p>
            <a:pPr>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Segment-wise Contribution:</a:t>
            </a:r>
            <a:endParaRPr lang="en-US" sz="1800" dirty="0">
              <a:latin typeface="Calibri" panose="020F0502020204030204" pitchFamily="34" charset="0"/>
              <a:ea typeface="Calibri" panose="020F0502020204030204" pitchFamily="34" charset="0"/>
              <a:cs typeface="Calibri" panose="020F0502020204030204" pitchFamily="34" charset="0"/>
            </a:endParaRPr>
          </a:p>
          <a:p>
            <a:pPr lvl="0"/>
            <a:r>
              <a:rPr lang="en-US" sz="1800" b="1" dirty="0">
                <a:latin typeface="Calibri" panose="020F0502020204030204" pitchFamily="34" charset="0"/>
                <a:ea typeface="Calibri" panose="020F0502020204030204" pitchFamily="34" charset="0"/>
                <a:cs typeface="Calibri" panose="020F0502020204030204" pitchFamily="34" charset="0"/>
              </a:rPr>
              <a:t>Recency:</a:t>
            </a:r>
            <a:r>
              <a:rPr lang="en-US" sz="1800" dirty="0">
                <a:latin typeface="Calibri" panose="020F0502020204030204" pitchFamily="34" charset="0"/>
                <a:ea typeface="Calibri" panose="020F0502020204030204" pitchFamily="34" charset="0"/>
                <a:cs typeface="Calibri" panose="020F0502020204030204" pitchFamily="34" charset="0"/>
              </a:rPr>
              <a:t> Mainly identifies </a:t>
            </a:r>
            <a:r>
              <a:rPr lang="en-US" sz="1800" b="1" dirty="0">
                <a:latin typeface="Calibri" panose="020F0502020204030204" pitchFamily="34" charset="0"/>
                <a:ea typeface="Calibri" panose="020F0502020204030204" pitchFamily="34" charset="0"/>
                <a:cs typeface="Calibri" panose="020F0502020204030204" pitchFamily="34" charset="0"/>
              </a:rPr>
              <a:t>At-Risk/Churned Customers</a:t>
            </a:r>
            <a:r>
              <a:rPr lang="en-US" sz="1800" dirty="0">
                <a:latin typeface="Calibri" panose="020F0502020204030204" pitchFamily="34" charset="0"/>
                <a:ea typeface="Calibri" panose="020F0502020204030204" pitchFamily="34" charset="0"/>
                <a:cs typeface="Calibri" panose="020F0502020204030204" pitchFamily="34" charset="0"/>
              </a:rPr>
              <a:t>, with a significant contribution to </a:t>
            </a:r>
            <a:r>
              <a:rPr lang="en-US" sz="1800" b="1" dirty="0">
                <a:latin typeface="Calibri" panose="020F0502020204030204" pitchFamily="34" charset="0"/>
                <a:ea typeface="Calibri" panose="020F0502020204030204" pitchFamily="34" charset="0"/>
                <a:cs typeface="Calibri" panose="020F0502020204030204" pitchFamily="34" charset="0"/>
              </a:rPr>
              <a:t>Occasional Shoppers</a:t>
            </a:r>
            <a:r>
              <a:rPr lang="en-US" sz="1800" dirty="0">
                <a:latin typeface="Calibri" panose="020F0502020204030204" pitchFamily="34" charset="0"/>
                <a:ea typeface="Calibri" panose="020F0502020204030204" pitchFamily="34" charset="0"/>
                <a:cs typeface="Calibri" panose="020F0502020204030204" pitchFamily="34" charset="0"/>
              </a:rPr>
              <a:t>. </a:t>
            </a:r>
          </a:p>
          <a:p>
            <a:pPr lvl="0"/>
            <a:r>
              <a:rPr lang="en-US" sz="1800" b="1" dirty="0">
                <a:latin typeface="Calibri" panose="020F0502020204030204" pitchFamily="34" charset="0"/>
                <a:ea typeface="Calibri" panose="020F0502020204030204" pitchFamily="34" charset="0"/>
                <a:cs typeface="Calibri" panose="020F0502020204030204" pitchFamily="34" charset="0"/>
              </a:rPr>
              <a:t>Monetary:</a:t>
            </a:r>
            <a:r>
              <a:rPr lang="en-US" sz="1800" dirty="0">
                <a:latin typeface="Calibri" panose="020F0502020204030204" pitchFamily="34" charset="0"/>
                <a:ea typeface="Calibri" panose="020F0502020204030204" pitchFamily="34" charset="0"/>
                <a:cs typeface="Calibri" panose="020F0502020204030204" pitchFamily="34" charset="0"/>
              </a:rPr>
              <a:t> Mainly identifies </a:t>
            </a:r>
            <a:r>
              <a:rPr lang="en-US" sz="1800" b="1" dirty="0">
                <a:latin typeface="Calibri" panose="020F0502020204030204" pitchFamily="34" charset="0"/>
                <a:ea typeface="Calibri" panose="020F0502020204030204" pitchFamily="34" charset="0"/>
                <a:cs typeface="Calibri" panose="020F0502020204030204" pitchFamily="34" charset="0"/>
              </a:rPr>
              <a:t>Best Customers</a:t>
            </a:r>
            <a:r>
              <a:rPr lang="en-US" dirty="0">
                <a:latin typeface="Calibri" panose="020F0502020204030204" pitchFamily="34" charset="0"/>
                <a:ea typeface="Calibri" panose="020F0502020204030204" pitchFamily="34" charset="0"/>
                <a:cs typeface="Calibri" panose="020F0502020204030204" pitchFamily="34" charset="0"/>
              </a:rPr>
              <a:t>, with smaller contributions to the other segments. </a:t>
            </a:r>
            <a:endParaRPr lang="en-US" sz="1800" dirty="0">
              <a:latin typeface="Calibri" panose="020F0502020204030204" pitchFamily="34" charset="0"/>
              <a:ea typeface="Calibri" panose="020F0502020204030204" pitchFamily="34" charset="0"/>
              <a:cs typeface="Calibri" panose="020F0502020204030204" pitchFamily="34" charset="0"/>
            </a:endParaRPr>
          </a:p>
          <a:p>
            <a:pPr lvl="0"/>
            <a:r>
              <a:rPr lang="en-US" sz="1800" b="1" dirty="0">
                <a:latin typeface="Calibri" panose="020F0502020204030204" pitchFamily="34" charset="0"/>
                <a:ea typeface="Calibri" panose="020F0502020204030204" pitchFamily="34" charset="0"/>
                <a:cs typeface="Calibri" panose="020F0502020204030204" pitchFamily="34" charset="0"/>
              </a:rPr>
              <a:t>Frequency:</a:t>
            </a:r>
            <a:r>
              <a:rPr lang="en-US" sz="1800" dirty="0">
                <a:latin typeface="Calibri" panose="020F0502020204030204" pitchFamily="34" charset="0"/>
                <a:ea typeface="Calibri" panose="020F0502020204030204" pitchFamily="34" charset="0"/>
                <a:cs typeface="Calibri" panose="020F0502020204030204" pitchFamily="34" charset="0"/>
              </a:rPr>
              <a:t> Also contributes mainly to </a:t>
            </a:r>
            <a:r>
              <a:rPr lang="en-US" sz="1800" b="1" dirty="0">
                <a:latin typeface="Calibri" panose="020F0502020204030204" pitchFamily="34" charset="0"/>
                <a:ea typeface="Calibri" panose="020F0502020204030204" pitchFamily="34" charset="0"/>
                <a:cs typeface="Calibri" panose="020F0502020204030204" pitchFamily="34" charset="0"/>
              </a:rPr>
              <a:t>Best Customers</a:t>
            </a:r>
            <a:r>
              <a:rPr lang="en-US" dirty="0">
                <a:latin typeface="Calibri" panose="020F0502020204030204" pitchFamily="34" charset="0"/>
                <a:ea typeface="Calibri" panose="020F0502020204030204" pitchFamily="34" charset="0"/>
                <a:cs typeface="Calibri" panose="020F0502020204030204" pitchFamily="34" charset="0"/>
              </a:rPr>
              <a:t>, with smaller contributions to the other segments. </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C4A5AC0B-AB9A-263F-F907-74E26D4E9398}"/>
              </a:ext>
            </a:extLst>
          </p:cNvPr>
          <p:cNvSpPr txBox="1"/>
          <p:nvPr/>
        </p:nvSpPr>
        <p:spPr>
          <a:xfrm>
            <a:off x="678959" y="5515034"/>
            <a:ext cx="9635080" cy="646331"/>
          </a:xfrm>
          <a:prstGeom prst="rect">
            <a:avLst/>
          </a:prstGeom>
          <a:noFill/>
        </p:spPr>
        <p:txBody>
          <a:bodyPr wrap="square">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Key Insight:</a:t>
            </a:r>
            <a:r>
              <a:rPr lang="en-US" dirty="0">
                <a:latin typeface="Calibri" panose="020F0502020204030204" pitchFamily="34" charset="0"/>
                <a:ea typeface="Calibri" panose="020F0502020204030204" pitchFamily="34" charset="0"/>
                <a:cs typeface="Calibri" panose="020F0502020204030204" pitchFamily="34" charset="0"/>
              </a:rPr>
              <a:t> Recency is the strongest predictor, while Monetary and Frequency are more influential in identifying Best Customers.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B0CD9F2-7A74-08D7-B65A-168032F50645}"/>
            </a:ext>
          </a:extLst>
        </p:cNvPr>
        <p:cNvGrpSpPr/>
        <p:nvPr/>
      </p:nvGrpSpPr>
      <p:grpSpPr>
        <a:xfrm>
          <a:off x="0" y="0"/>
          <a:ext cx="0" cy="0"/>
          <a:chOff x="0" y="0"/>
          <a:chExt cx="0" cy="0"/>
        </a:xfrm>
      </p:grpSpPr>
      <p:sp>
        <p:nvSpPr>
          <p:cNvPr id="98" name="PlaceHolder 1">
            <a:extLst>
              <a:ext uri="{FF2B5EF4-FFF2-40B4-BE49-F238E27FC236}">
                <a16:creationId xmlns:a16="http://schemas.microsoft.com/office/drawing/2014/main" id="{5486B4B9-29B4-9804-C43B-33C63D03F2ED}"/>
              </a:ext>
            </a:extLst>
          </p:cNvPr>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Feature Importance with SHAP</a:t>
            </a:r>
            <a:endParaRPr lang="en-US" sz="3400" b="0" strike="noStrike" spc="-1">
              <a:solidFill>
                <a:srgbClr val="000000"/>
              </a:solidFill>
              <a:latin typeface="Arial"/>
            </a:endParaRPr>
          </a:p>
        </p:txBody>
      </p:sp>
      <p:pic>
        <p:nvPicPr>
          <p:cNvPr id="611" name="SHAP Overall Importance">
            <a:extLst>
              <a:ext uri="{FF2B5EF4-FFF2-40B4-BE49-F238E27FC236}">
                <a16:creationId xmlns:a16="http://schemas.microsoft.com/office/drawing/2014/main" id="{426C5DA3-7815-2EBA-7343-9E9110425AA0}"/>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a:stretch/>
        </p:blipFill>
        <p:spPr>
          <a:xfrm>
            <a:off x="7452852" y="1216440"/>
            <a:ext cx="4739148" cy="2742840"/>
          </a:xfrm>
          <a:prstGeom prst="rect">
            <a:avLst/>
          </a:prstGeom>
        </p:spPr>
      </p:pic>
      <p:sp>
        <p:nvSpPr>
          <p:cNvPr id="700" name="Caption">
            <a:extLst>
              <a:ext uri="{FF2B5EF4-FFF2-40B4-BE49-F238E27FC236}">
                <a16:creationId xmlns:a16="http://schemas.microsoft.com/office/drawing/2014/main" id="{8A9B1D1E-759E-D48E-0374-8DC66E3E9236}"/>
              </a:ext>
            </a:extLst>
          </p:cNvPr>
          <p:cNvSpPr/>
          <p:nvPr/>
        </p:nvSpPr>
        <p:spPr>
          <a:xfrm>
            <a:off x="678960" y="3530980"/>
            <a:ext cx="5349054" cy="400000"/>
          </a:xfrm>
          <a:prstGeom prst="rect">
            <a:avLst/>
          </a:prstGeom>
          <a:noFill/>
          <a:ln w="0">
            <a:noFill/>
          </a:ln>
        </p:spPr>
        <p:txBody>
          <a:bodyPr lIns="0" tIns="0" rIns="0" bIns="0" anchor="t">
            <a:noAutofit/>
          </a:bodyPr>
          <a:lstStyle/>
          <a:p>
            <a:pPr algn="ctr">
              <a:buNone/>
            </a:pPr>
            <a:endParaRPr lang="en-US" sz="1300" b="0" i="1" strike="noStrike" spc="-1" dirty="0">
              <a:solidFill>
                <a:srgbClr val="555555"/>
              </a:solidFill>
              <a:latin typeface="Calibri"/>
            </a:endParaRPr>
          </a:p>
        </p:txBody>
      </p:sp>
      <p:sp>
        <p:nvSpPr>
          <p:cNvPr id="5" name="TextBox 4">
            <a:extLst>
              <a:ext uri="{FF2B5EF4-FFF2-40B4-BE49-F238E27FC236}">
                <a16:creationId xmlns:a16="http://schemas.microsoft.com/office/drawing/2014/main" id="{ED66A842-908A-B063-B3C7-6EE08DABBB74}"/>
              </a:ext>
            </a:extLst>
          </p:cNvPr>
          <p:cNvSpPr txBox="1"/>
          <p:nvPr/>
        </p:nvSpPr>
        <p:spPr>
          <a:xfrm>
            <a:off x="678840" y="1302168"/>
            <a:ext cx="8307845" cy="1477328"/>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How to Read the Chart:</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Each </a:t>
            </a:r>
            <a:r>
              <a:rPr lang="en-US" b="1" dirty="0">
                <a:latin typeface="Calibri" panose="020F0502020204030204" pitchFamily="34" charset="0"/>
                <a:ea typeface="Calibri" panose="020F0502020204030204" pitchFamily="34" charset="0"/>
                <a:cs typeface="Calibri" panose="020F0502020204030204" pitchFamily="34" charset="0"/>
              </a:rPr>
              <a:t>dot = one customer</a:t>
            </a:r>
          </a:p>
          <a:p>
            <a:pPr marL="285750" lvl="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Red:</a:t>
            </a:r>
            <a:r>
              <a:rPr lang="en-US" dirty="0">
                <a:latin typeface="Calibri" panose="020F0502020204030204" pitchFamily="34" charset="0"/>
                <a:ea typeface="Calibri" panose="020F0502020204030204" pitchFamily="34" charset="0"/>
                <a:cs typeface="Calibri" panose="020F0502020204030204" pitchFamily="34" charset="0"/>
              </a:rPr>
              <a:t> High feature value | </a:t>
            </a:r>
            <a:r>
              <a:rPr lang="en-US" b="1" dirty="0">
                <a:latin typeface="Calibri" panose="020F0502020204030204" pitchFamily="34" charset="0"/>
                <a:ea typeface="Calibri" panose="020F0502020204030204" pitchFamily="34" charset="0"/>
                <a:cs typeface="Calibri" panose="020F0502020204030204" pitchFamily="34" charset="0"/>
              </a:rPr>
              <a:t>Blue:</a:t>
            </a:r>
            <a:r>
              <a:rPr lang="en-US" dirty="0">
                <a:latin typeface="Calibri" panose="020F0502020204030204" pitchFamily="34" charset="0"/>
                <a:ea typeface="Calibri" panose="020F0502020204030204" pitchFamily="34" charset="0"/>
                <a:cs typeface="Calibri" panose="020F0502020204030204" pitchFamily="34" charset="0"/>
              </a:rPr>
              <a:t> Low feature value </a:t>
            </a:r>
          </a:p>
          <a:p>
            <a:pPr marL="285750" lvl="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Right:</a:t>
            </a:r>
            <a:r>
              <a:rPr lang="en-US" dirty="0">
                <a:latin typeface="Calibri" panose="020F0502020204030204" pitchFamily="34" charset="0"/>
                <a:ea typeface="Calibri" panose="020F0502020204030204" pitchFamily="34" charset="0"/>
                <a:cs typeface="Calibri" panose="020F0502020204030204" pitchFamily="34" charset="0"/>
              </a:rPr>
              <a:t> Pushes prediction </a:t>
            </a:r>
            <a:r>
              <a:rPr lang="en-US" b="1" dirty="0">
                <a:latin typeface="Calibri" panose="020F0502020204030204" pitchFamily="34" charset="0"/>
                <a:ea typeface="Calibri" panose="020F0502020204030204" pitchFamily="34" charset="0"/>
                <a:cs typeface="Calibri" panose="020F0502020204030204" pitchFamily="34" charset="0"/>
              </a:rPr>
              <a:t>toward Best Customer</a:t>
            </a:r>
            <a:r>
              <a:rPr lang="en-US" dirty="0">
                <a:latin typeface="Calibri" panose="020F0502020204030204" pitchFamily="34" charset="0"/>
                <a:ea typeface="Calibri" panose="020F0502020204030204" pitchFamily="34" charset="0"/>
                <a:cs typeface="Calibri" panose="020F0502020204030204" pitchFamily="34" charset="0"/>
              </a:rPr>
              <a:t> </a:t>
            </a:r>
          </a:p>
          <a:p>
            <a:pPr marL="285750" lvl="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Left:</a:t>
            </a:r>
            <a:r>
              <a:rPr lang="en-US" dirty="0">
                <a:latin typeface="Calibri" panose="020F0502020204030204" pitchFamily="34" charset="0"/>
                <a:ea typeface="Calibri" panose="020F0502020204030204" pitchFamily="34" charset="0"/>
                <a:cs typeface="Calibri" panose="020F0502020204030204" pitchFamily="34" charset="0"/>
              </a:rPr>
              <a:t> Pushes prediction </a:t>
            </a:r>
            <a:r>
              <a:rPr lang="en-US" b="1" dirty="0">
                <a:latin typeface="Calibri" panose="020F0502020204030204" pitchFamily="34" charset="0"/>
                <a:ea typeface="Calibri" panose="020F0502020204030204" pitchFamily="34" charset="0"/>
                <a:cs typeface="Calibri" panose="020F0502020204030204" pitchFamily="34" charset="0"/>
              </a:rPr>
              <a:t>away from Best Customer</a:t>
            </a:r>
            <a:r>
              <a:rPr lang="en-US" dirty="0">
                <a:latin typeface="Calibri" panose="020F0502020204030204" pitchFamily="34" charset="0"/>
                <a:ea typeface="Calibri" panose="020F0502020204030204" pitchFamily="34" charset="0"/>
                <a:cs typeface="Calibri" panose="020F0502020204030204" pitchFamily="34" charset="0"/>
              </a:rPr>
              <a:t> </a:t>
            </a:r>
          </a:p>
        </p:txBody>
      </p:sp>
      <p:sp>
        <p:nvSpPr>
          <p:cNvPr id="3" name="TextBox 2">
            <a:extLst>
              <a:ext uri="{FF2B5EF4-FFF2-40B4-BE49-F238E27FC236}">
                <a16:creationId xmlns:a16="http://schemas.microsoft.com/office/drawing/2014/main" id="{9DF245FD-E6F0-C428-8D7B-AE39EC200FE9}"/>
              </a:ext>
            </a:extLst>
          </p:cNvPr>
          <p:cNvSpPr txBox="1"/>
          <p:nvPr/>
        </p:nvSpPr>
        <p:spPr>
          <a:xfrm>
            <a:off x="678839" y="2828656"/>
            <a:ext cx="11218193" cy="2585323"/>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Key Insights:</a:t>
            </a:r>
          </a:p>
          <a:p>
            <a:pPr marL="285750" lvl="0"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Monetary:</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Strongest driver</a:t>
            </a:r>
            <a:endParaRPr lang="en-US" b="1" dirty="0">
              <a:latin typeface="Calibri" panose="020F0502020204030204" pitchFamily="34" charset="0"/>
              <a:ea typeface="Calibri" panose="020F0502020204030204" pitchFamily="34" charset="0"/>
              <a:cs typeface="Calibri" panose="020F0502020204030204" pitchFamily="34" charset="0"/>
            </a:endParaRPr>
          </a:p>
          <a:p>
            <a:pPr lvl="0"/>
            <a:r>
              <a:rPr lang="en-US" sz="1800" dirty="0">
                <a:latin typeface="Calibri" panose="020F0502020204030204" pitchFamily="34" charset="0"/>
                <a:ea typeface="Calibri" panose="020F0502020204030204" pitchFamily="34" charset="0"/>
                <a:cs typeface="Calibri" panose="020F0502020204030204" pitchFamily="34" charset="0"/>
              </a:rPr>
              <a:t>High spenders strongly push the prediction toward </a:t>
            </a:r>
            <a:r>
              <a:rPr lang="en-US" sz="1800" b="1" dirty="0">
                <a:latin typeface="Calibri" panose="020F0502020204030204" pitchFamily="34" charset="0"/>
                <a:ea typeface="Calibri" panose="020F0502020204030204" pitchFamily="34" charset="0"/>
                <a:cs typeface="Calibri" panose="020F0502020204030204" pitchFamily="34" charset="0"/>
              </a:rPr>
              <a:t>Best Customer</a:t>
            </a:r>
            <a:r>
              <a:rPr lang="en-US" sz="1800" dirty="0">
                <a:latin typeface="Calibri" panose="020F0502020204030204" pitchFamily="34" charset="0"/>
                <a:ea typeface="Calibri" panose="020F0502020204030204" pitchFamily="34" charset="0"/>
                <a:cs typeface="Calibri" panose="020F0502020204030204" pitchFamily="34" charset="0"/>
              </a:rPr>
              <a:t>; low </a:t>
            </a:r>
          </a:p>
          <a:p>
            <a:pPr lvl="0"/>
            <a:r>
              <a:rPr lang="en-US" sz="1800" dirty="0">
                <a:latin typeface="Calibri" panose="020F0502020204030204" pitchFamily="34" charset="0"/>
                <a:ea typeface="Calibri" panose="020F0502020204030204" pitchFamily="34" charset="0"/>
                <a:cs typeface="Calibri" panose="020F0502020204030204" pitchFamily="34" charset="0"/>
              </a:rPr>
              <a:t>spenders push it away.</a:t>
            </a:r>
          </a:p>
          <a:p>
            <a:pPr marL="285750" lvl="0"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Frequency:</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Second strongest driver</a:t>
            </a:r>
            <a:endParaRPr lang="en-US" b="1" dirty="0">
              <a:latin typeface="Calibri" panose="020F0502020204030204" pitchFamily="34" charset="0"/>
              <a:ea typeface="Calibri" panose="020F0502020204030204" pitchFamily="34" charset="0"/>
              <a:cs typeface="Calibri" panose="020F0502020204030204" pitchFamily="34" charset="0"/>
            </a:endParaRPr>
          </a:p>
          <a:p>
            <a:pPr lvl="0"/>
            <a:r>
              <a:rPr lang="en-US" sz="1800" dirty="0">
                <a:latin typeface="Calibri" panose="020F0502020204030204" pitchFamily="34" charset="0"/>
                <a:ea typeface="Calibri" panose="020F0502020204030204" pitchFamily="34" charset="0"/>
                <a:cs typeface="Calibri" panose="020F0502020204030204" pitchFamily="34" charset="0"/>
              </a:rPr>
              <a:t>Frequent buyers are more likely to be classified as </a:t>
            </a:r>
            <a:r>
              <a:rPr lang="en-US" sz="1800" b="1" dirty="0">
                <a:latin typeface="Calibri" panose="020F0502020204030204" pitchFamily="34" charset="0"/>
                <a:ea typeface="Calibri" panose="020F0502020204030204" pitchFamily="34" charset="0"/>
                <a:cs typeface="Calibri" panose="020F0502020204030204" pitchFamily="34" charset="0"/>
              </a:rPr>
              <a:t>Best Customers</a:t>
            </a:r>
            <a:r>
              <a:rPr lang="en-US" sz="1800" dirty="0">
                <a:latin typeface="Calibri" panose="020F0502020204030204" pitchFamily="34" charset="0"/>
                <a:ea typeface="Calibri" panose="020F0502020204030204" pitchFamily="34" charset="0"/>
                <a:cs typeface="Calibri" panose="020F0502020204030204" pitchFamily="34" charset="0"/>
              </a:rPr>
              <a:t>, while infrequent buyers push the prediction away. </a:t>
            </a:r>
          </a:p>
          <a:p>
            <a:pPr marL="285750" lvl="0"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Recency:</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Different pattern</a:t>
            </a:r>
            <a:endParaRPr lang="en-US" b="1" dirty="0">
              <a:latin typeface="Calibri" panose="020F0502020204030204" pitchFamily="34" charset="0"/>
              <a:ea typeface="Calibri" panose="020F0502020204030204" pitchFamily="34" charset="0"/>
              <a:cs typeface="Calibri" panose="020F0502020204030204" pitchFamily="34" charset="0"/>
            </a:endParaRPr>
          </a:p>
          <a:p>
            <a:pPr lvl="0"/>
            <a:r>
              <a:rPr lang="en-US" sz="1800" dirty="0">
                <a:latin typeface="Calibri" panose="020F0502020204030204" pitchFamily="34" charset="0"/>
                <a:ea typeface="Calibri" panose="020F0502020204030204" pitchFamily="34" charset="0"/>
                <a:cs typeface="Calibri" panose="020F0502020204030204" pitchFamily="34" charset="0"/>
              </a:rPr>
              <a:t>Recent buyers (</a:t>
            </a:r>
            <a:r>
              <a:rPr lang="en-US" sz="1800" b="1" dirty="0">
                <a:latin typeface="Calibri" panose="020F0502020204030204" pitchFamily="34" charset="0"/>
                <a:ea typeface="Calibri" panose="020F0502020204030204" pitchFamily="34" charset="0"/>
                <a:cs typeface="Calibri" panose="020F0502020204030204" pitchFamily="34" charset="0"/>
              </a:rPr>
              <a:t>blue</a:t>
            </a:r>
            <a:r>
              <a:rPr lang="en-US" sz="1800" dirty="0">
                <a:latin typeface="Calibri" panose="020F0502020204030204" pitchFamily="34" charset="0"/>
                <a:ea typeface="Calibri" panose="020F0502020204030204" pitchFamily="34" charset="0"/>
                <a:cs typeface="Calibri" panose="020F0502020204030204" pitchFamily="34" charset="0"/>
              </a:rPr>
              <a:t>) push toward </a:t>
            </a:r>
            <a:r>
              <a:rPr lang="en-US" sz="1800" b="1" dirty="0">
                <a:latin typeface="Calibri" panose="020F0502020204030204" pitchFamily="34" charset="0"/>
                <a:ea typeface="Calibri" panose="020F0502020204030204" pitchFamily="34" charset="0"/>
                <a:cs typeface="Calibri" panose="020F0502020204030204" pitchFamily="34" charset="0"/>
              </a:rPr>
              <a:t>Best Customer</a:t>
            </a:r>
            <a:r>
              <a:rPr lang="en-US" sz="1800" dirty="0">
                <a:latin typeface="Calibri" panose="020F0502020204030204" pitchFamily="34" charset="0"/>
                <a:ea typeface="Calibri" panose="020F0502020204030204" pitchFamily="34" charset="0"/>
                <a:cs typeface="Calibri" panose="020F0502020204030204" pitchFamily="34" charset="0"/>
              </a:rPr>
              <a:t>, while long-lapsed customers (</a:t>
            </a:r>
            <a:r>
              <a:rPr lang="en-US" sz="1800" b="1" dirty="0">
                <a:latin typeface="Calibri" panose="020F0502020204030204" pitchFamily="34" charset="0"/>
                <a:ea typeface="Calibri" panose="020F0502020204030204" pitchFamily="34" charset="0"/>
                <a:cs typeface="Calibri" panose="020F0502020204030204" pitchFamily="34" charset="0"/>
              </a:rPr>
              <a:t>pink</a:t>
            </a:r>
            <a:r>
              <a:rPr lang="en-US" sz="1800" dirty="0">
                <a:latin typeface="Calibri" panose="020F0502020204030204" pitchFamily="34" charset="0"/>
                <a:ea typeface="Calibri" panose="020F0502020204030204" pitchFamily="34" charset="0"/>
                <a:cs typeface="Calibri" panose="020F0502020204030204" pitchFamily="34" charset="0"/>
              </a:rPr>
              <a:t>) push away. Most effects are   close to zero, with a few highly inactive customers showing a strong negative impact. </a:t>
            </a:r>
          </a:p>
        </p:txBody>
      </p:sp>
      <p:sp>
        <p:nvSpPr>
          <p:cNvPr id="7" name="TextBox 6">
            <a:extLst>
              <a:ext uri="{FF2B5EF4-FFF2-40B4-BE49-F238E27FC236}">
                <a16:creationId xmlns:a16="http://schemas.microsoft.com/office/drawing/2014/main" id="{04FD02AC-AFEC-82A8-2183-6EAF91A2F017}"/>
              </a:ext>
            </a:extLst>
          </p:cNvPr>
          <p:cNvSpPr txBox="1"/>
          <p:nvPr/>
        </p:nvSpPr>
        <p:spPr>
          <a:xfrm>
            <a:off x="678839" y="5478466"/>
            <a:ext cx="10756490" cy="646331"/>
          </a:xfrm>
          <a:prstGeom prst="rect">
            <a:avLst/>
          </a:prstGeom>
          <a:noFill/>
        </p:spPr>
        <p:txBody>
          <a:bodyPr wrap="square">
            <a:spAutoFit/>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Key Takeaway:</a:t>
            </a:r>
            <a:r>
              <a:rPr lang="en-US" sz="1800" dirty="0">
                <a:latin typeface="Calibri" panose="020F0502020204030204" pitchFamily="34" charset="0"/>
                <a:ea typeface="Calibri" panose="020F0502020204030204" pitchFamily="34" charset="0"/>
                <a:cs typeface="Calibri" panose="020F0502020204030204" pitchFamily="34" charset="0"/>
              </a:rPr>
              <a:t> High spending and frequent purchases strongly indicate Best Customers, while recent activity also supports the classification.</a:t>
            </a:r>
          </a:p>
        </p:txBody>
      </p:sp>
    </p:spTree>
    <p:extLst>
      <p:ext uri="{BB962C8B-B14F-4D97-AF65-F5344CB8AC3E}">
        <p14:creationId xmlns:p14="http://schemas.microsoft.com/office/powerpoint/2010/main" val="3952099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Business Recommendations</a:t>
            </a:r>
            <a:endParaRPr lang="en-US" sz="3400" b="0" strike="noStrike" spc="-1">
              <a:solidFill>
                <a:srgbClr val="000000"/>
              </a:solidFill>
              <a:latin typeface="Arial"/>
            </a:endParaRPr>
          </a:p>
        </p:txBody>
      </p:sp>
      <p:sp>
        <p:nvSpPr>
          <p:cNvPr id="500" name="Body"/>
          <p:cNvSpPr>
            <a:spLocks noGrp="1"/>
          </p:cNvSpPr>
          <p:nvPr/>
        </p:nvSpPr>
        <p:spPr>
          <a:xfrm>
            <a:off x="678959" y="1216440"/>
            <a:ext cx="11250649" cy="4856760"/>
          </a:xfrm>
          <a:prstGeom prst="rect">
            <a:avLst/>
          </a:prstGeom>
          <a:noFill/>
          <a:ln w="12600">
            <a:noFill/>
          </a:ln>
        </p:spPr>
        <p:txBody>
          <a:bodyPr lIns="0" tIns="0" rIns="0" bIns="0" anchor="t">
            <a:normAutofit lnSpcReduction="10000"/>
          </a:bodyPr>
          <a:lstStyle/>
          <a:p>
            <a:pPr marL="285750" indent="-285750">
              <a:buFont typeface="Wingdings" panose="05000000000000000000" pitchFamily="2" charset="2"/>
              <a:buChar char="v"/>
            </a:pPr>
            <a:r>
              <a:rPr lang="en-US" b="1" dirty="0">
                <a:latin typeface="Calibri" panose="020F0502020204030204" pitchFamily="34" charset="0"/>
                <a:ea typeface="Calibri" panose="020F0502020204030204" pitchFamily="34" charset="0"/>
                <a:cs typeface="Calibri" panose="020F0502020204030204" pitchFamily="34" charset="0"/>
              </a:rPr>
              <a:t>Best Customers</a:t>
            </a:r>
            <a:r>
              <a:rPr lang="en-US" dirty="0">
                <a:latin typeface="Calibri" panose="020F0502020204030204" pitchFamily="34" charset="0"/>
                <a:ea typeface="Calibri" panose="020F0502020204030204" pitchFamily="34" charset="0"/>
                <a:cs typeface="Calibri" panose="020F0502020204030204" pitchFamily="34" charset="0"/>
              </a:rPr>
              <a:t> — </a:t>
            </a:r>
            <a:r>
              <a:rPr lang="en-US" i="1" dirty="0">
                <a:latin typeface="Calibri" panose="020F0502020204030204" pitchFamily="34" charset="0"/>
                <a:ea typeface="Calibri" panose="020F0502020204030204" pitchFamily="34" charset="0"/>
                <a:cs typeface="Calibri" panose="020F0502020204030204" pitchFamily="34" charset="0"/>
              </a:rPr>
              <a:t>Recent, frequent, high-spending</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Enroll in </a:t>
            </a:r>
            <a:r>
              <a:rPr lang="en-US" b="1" dirty="0">
                <a:latin typeface="Calibri" panose="020F0502020204030204" pitchFamily="34" charset="0"/>
                <a:ea typeface="Calibri" panose="020F0502020204030204" pitchFamily="34" charset="0"/>
                <a:cs typeface="Calibri" panose="020F0502020204030204" pitchFamily="34" charset="0"/>
              </a:rPr>
              <a:t>VIP/loyalty programs</a:t>
            </a:r>
            <a:r>
              <a:rPr lang="en-US" dirty="0">
                <a:latin typeface="Calibri" panose="020F0502020204030204" pitchFamily="34" charset="0"/>
                <a:ea typeface="Calibri" panose="020F0502020204030204" pitchFamily="34" charset="0"/>
                <a:cs typeface="Calibri" panose="020F0502020204030204" pitchFamily="34" charset="0"/>
              </a:rPr>
              <a:t> </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Offer </a:t>
            </a:r>
            <a:r>
              <a:rPr lang="en-US" b="1" dirty="0">
                <a:latin typeface="Calibri" panose="020F0502020204030204" pitchFamily="34" charset="0"/>
                <a:ea typeface="Calibri" panose="020F0502020204030204" pitchFamily="34" charset="0"/>
                <a:cs typeface="Calibri" panose="020F0502020204030204" pitchFamily="34" charset="0"/>
              </a:rPr>
              <a:t>early access</a:t>
            </a:r>
            <a:r>
              <a:rPr lang="en-US" dirty="0">
                <a:latin typeface="Calibri" panose="020F0502020204030204" pitchFamily="34" charset="0"/>
                <a:ea typeface="Calibri" panose="020F0502020204030204" pitchFamily="34" charset="0"/>
                <a:cs typeface="Calibri" panose="020F0502020204030204" pitchFamily="34" charset="0"/>
              </a:rPr>
              <a:t> and personalized rewards </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Focus on </a:t>
            </a:r>
            <a:r>
              <a:rPr lang="en-US" b="1" dirty="0">
                <a:latin typeface="Calibri" panose="020F0502020204030204" pitchFamily="34" charset="0"/>
                <a:ea typeface="Calibri" panose="020F0502020204030204" pitchFamily="34" charset="0"/>
                <a:cs typeface="Calibri" panose="020F0502020204030204" pitchFamily="34" charset="0"/>
              </a:rPr>
              <a:t>retention</a:t>
            </a:r>
            <a:r>
              <a:rPr lang="en-US" dirty="0">
                <a:latin typeface="Calibri" panose="020F0502020204030204" pitchFamily="34" charset="0"/>
                <a:ea typeface="Calibri" panose="020F0502020204030204" pitchFamily="34" charset="0"/>
                <a:cs typeface="Calibri" panose="020F0502020204030204" pitchFamily="34" charset="0"/>
              </a:rPr>
              <a:t>, not just upselling </a:t>
            </a:r>
          </a:p>
          <a:p>
            <a:pPr lvl="0"/>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US" b="1" dirty="0">
                <a:latin typeface="Calibri" panose="020F0502020204030204" pitchFamily="34" charset="0"/>
                <a:ea typeface="Calibri" panose="020F0502020204030204" pitchFamily="34" charset="0"/>
                <a:cs typeface="Calibri" panose="020F0502020204030204" pitchFamily="34" charset="0"/>
              </a:rPr>
              <a:t>Occasional Shoppers</a:t>
            </a:r>
            <a:r>
              <a:rPr lang="en-US" dirty="0">
                <a:latin typeface="Calibri" panose="020F0502020204030204" pitchFamily="34" charset="0"/>
                <a:ea typeface="Calibri" panose="020F0502020204030204" pitchFamily="34" charset="0"/>
                <a:cs typeface="Calibri" panose="020F0502020204030204" pitchFamily="34" charset="0"/>
              </a:rPr>
              <a:t> — </a:t>
            </a:r>
            <a:r>
              <a:rPr lang="en-US" i="1" dirty="0">
                <a:latin typeface="Calibri" panose="020F0502020204030204" pitchFamily="34" charset="0"/>
                <a:ea typeface="Calibri" panose="020F0502020204030204" pitchFamily="34" charset="0"/>
                <a:cs typeface="Calibri" panose="020F0502020204030204" pitchFamily="34" charset="0"/>
              </a:rPr>
              <a:t>Moderate RFM values</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Use </a:t>
            </a:r>
            <a:r>
              <a:rPr lang="en-US" b="1" dirty="0">
                <a:latin typeface="Calibri" panose="020F0502020204030204" pitchFamily="34" charset="0"/>
                <a:ea typeface="Calibri" panose="020F0502020204030204" pitchFamily="34" charset="0"/>
                <a:cs typeface="Calibri" panose="020F0502020204030204" pitchFamily="34" charset="0"/>
              </a:rPr>
              <a:t>targeted cross-sell</a:t>
            </a:r>
            <a:r>
              <a:rPr lang="en-US" dirty="0">
                <a:latin typeface="Calibri" panose="020F0502020204030204" pitchFamily="34" charset="0"/>
                <a:ea typeface="Calibri" panose="020F0502020204030204" pitchFamily="34" charset="0"/>
                <a:cs typeface="Calibri" panose="020F0502020204030204" pitchFamily="34" charset="0"/>
              </a:rPr>
              <a:t> and personalized offers </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Provide incentives such as </a:t>
            </a:r>
            <a:r>
              <a:rPr lang="en-US" b="1" dirty="0">
                <a:latin typeface="Calibri" panose="020F0502020204030204" pitchFamily="34" charset="0"/>
                <a:ea typeface="Calibri" panose="020F0502020204030204" pitchFamily="34" charset="0"/>
                <a:cs typeface="Calibri" panose="020F0502020204030204" pitchFamily="34" charset="0"/>
              </a:rPr>
              <a:t>“Spend X more to unlock Y”</a:t>
            </a:r>
            <a:r>
              <a:rPr lang="en-US"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Goal: </a:t>
            </a:r>
            <a:r>
              <a:rPr lang="en-US" b="1" dirty="0">
                <a:latin typeface="Calibri" panose="020F0502020204030204" pitchFamily="34" charset="0"/>
                <a:ea typeface="Calibri" panose="020F0502020204030204" pitchFamily="34" charset="0"/>
                <a:cs typeface="Calibri" panose="020F0502020204030204" pitchFamily="34" charset="0"/>
              </a:rPr>
              <a:t>Increase purchase frequency → Best Customers</a:t>
            </a:r>
            <a:r>
              <a:rPr lang="en-US" dirty="0">
                <a:latin typeface="Calibri" panose="020F0502020204030204" pitchFamily="34" charset="0"/>
                <a:ea typeface="Calibri" panose="020F0502020204030204" pitchFamily="34" charset="0"/>
                <a:cs typeface="Calibri" panose="020F0502020204030204" pitchFamily="34" charset="0"/>
              </a:rPr>
              <a:t> </a:t>
            </a:r>
          </a:p>
          <a:p>
            <a:pPr lvl="0"/>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US" b="1" dirty="0">
                <a:latin typeface="Calibri" panose="020F0502020204030204" pitchFamily="34" charset="0"/>
                <a:ea typeface="Calibri" panose="020F0502020204030204" pitchFamily="34" charset="0"/>
                <a:cs typeface="Calibri" panose="020F0502020204030204" pitchFamily="34" charset="0"/>
              </a:rPr>
              <a:t>At-Risk / Churned Customers</a:t>
            </a:r>
            <a:r>
              <a:rPr lang="en-US" dirty="0">
                <a:latin typeface="Calibri" panose="020F0502020204030204" pitchFamily="34" charset="0"/>
                <a:ea typeface="Calibri" panose="020F0502020204030204" pitchFamily="34" charset="0"/>
                <a:cs typeface="Calibri" panose="020F0502020204030204" pitchFamily="34" charset="0"/>
              </a:rPr>
              <a:t> — </a:t>
            </a:r>
            <a:r>
              <a:rPr lang="en-US" i="1" dirty="0">
                <a:latin typeface="Calibri" panose="020F0502020204030204" pitchFamily="34" charset="0"/>
                <a:ea typeface="Calibri" panose="020F0502020204030204" pitchFamily="34" charset="0"/>
                <a:cs typeface="Calibri" panose="020F0502020204030204" pitchFamily="34" charset="0"/>
              </a:rPr>
              <a:t>Low recency, frequency &amp; spending</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Launch </a:t>
            </a:r>
            <a:r>
              <a:rPr lang="en-US" b="1" dirty="0">
                <a:latin typeface="Calibri" panose="020F0502020204030204" pitchFamily="34" charset="0"/>
                <a:ea typeface="Calibri" panose="020F0502020204030204" pitchFamily="34" charset="0"/>
                <a:cs typeface="Calibri" panose="020F0502020204030204" pitchFamily="34" charset="0"/>
              </a:rPr>
              <a:t>win-back campaigns</a:t>
            </a:r>
            <a:r>
              <a:rPr lang="en-US" dirty="0">
                <a:latin typeface="Calibri" panose="020F0502020204030204" pitchFamily="34" charset="0"/>
                <a:ea typeface="Calibri" panose="020F0502020204030204" pitchFamily="34" charset="0"/>
                <a:cs typeface="Calibri" panose="020F0502020204030204" pitchFamily="34" charset="0"/>
              </a:rPr>
              <a:t> with discounts and “We Miss You” offers </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Re-engage high-potential customers first </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For long-dormant, low-value customers, </a:t>
            </a:r>
            <a:r>
              <a:rPr lang="en-US" b="1" dirty="0">
                <a:latin typeface="Calibri" panose="020F0502020204030204" pitchFamily="34" charset="0"/>
                <a:ea typeface="Calibri" panose="020F0502020204030204" pitchFamily="34" charset="0"/>
                <a:cs typeface="Calibri" panose="020F0502020204030204" pitchFamily="34" charset="0"/>
              </a:rPr>
              <a:t>optimize marketing spend</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US" b="1" dirty="0">
                <a:latin typeface="Calibri" panose="020F0502020204030204" pitchFamily="34" charset="0"/>
                <a:ea typeface="Calibri" panose="020F0502020204030204" pitchFamily="34" charset="0"/>
                <a:cs typeface="Calibri" panose="020F0502020204030204" pitchFamily="34" charset="0"/>
              </a:rPr>
              <a:t>General Recommendation: </a:t>
            </a:r>
            <a:r>
              <a:rPr lang="en-US" dirty="0">
                <a:latin typeface="Calibri" panose="020F0502020204030204" pitchFamily="34" charset="0"/>
                <a:ea typeface="Calibri" panose="020F0502020204030204" pitchFamily="34" charset="0"/>
                <a:cs typeface="Calibri" panose="020F0502020204030204" pitchFamily="34" charset="0"/>
              </a:rPr>
              <a:t>Since </a:t>
            </a:r>
            <a:r>
              <a:rPr lang="en-US" b="1" dirty="0">
                <a:latin typeface="Calibri" panose="020F0502020204030204" pitchFamily="34" charset="0"/>
                <a:ea typeface="Calibri" panose="020F0502020204030204" pitchFamily="34" charset="0"/>
                <a:cs typeface="Calibri" panose="020F0502020204030204" pitchFamily="34" charset="0"/>
              </a:rPr>
              <a:t>Recency</a:t>
            </a:r>
            <a:r>
              <a:rPr lang="en-US" dirty="0">
                <a:latin typeface="Calibri" panose="020F0502020204030204" pitchFamily="34" charset="0"/>
                <a:ea typeface="Calibri" panose="020F0502020204030204" pitchFamily="34" charset="0"/>
                <a:cs typeface="Calibri" panose="020F0502020204030204" pitchFamily="34" charset="0"/>
              </a:rPr>
              <a:t> and </a:t>
            </a:r>
            <a:r>
              <a:rPr lang="en-US" b="1" dirty="0">
                <a:latin typeface="Calibri" panose="020F0502020204030204" pitchFamily="34" charset="0"/>
                <a:ea typeface="Calibri" panose="020F0502020204030204" pitchFamily="34" charset="0"/>
                <a:cs typeface="Calibri" panose="020F0502020204030204" pitchFamily="34" charset="0"/>
              </a:rPr>
              <a:t>Monetary</a:t>
            </a:r>
            <a:r>
              <a:rPr lang="en-US" dirty="0">
                <a:latin typeface="Calibri" panose="020F0502020204030204" pitchFamily="34" charset="0"/>
                <a:ea typeface="Calibri" panose="020F0502020204030204" pitchFamily="34" charset="0"/>
                <a:cs typeface="Calibri" panose="020F0502020204030204" pitchFamily="34" charset="0"/>
              </a:rPr>
              <a:t> matter most, marketing should focus on two goals:</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Get them to buy sooner: Send reminders and limited-time offers so they don't slip away into the "At-Risk" group.</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Get them to spend more: Offer product bundles and upsells to turn them into "Best Customers."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78960" y="603720"/>
            <a:ext cx="10834200" cy="612720"/>
          </a:xfrm>
          <a:prstGeom prst="rect">
            <a:avLst/>
          </a:prstGeom>
          <a:noFill/>
          <a:ln w="12600">
            <a:noFill/>
          </a:ln>
        </p:spPr>
        <p:txBody>
          <a:bodyPr lIns="0" tIns="0" rIns="0" bIns="0" anchor="ctr">
            <a:normAutofit/>
          </a:bodyPr>
          <a:lstStyle/>
          <a:p>
            <a:pPr indent="0">
              <a:lnSpc>
                <a:spcPct val="90000"/>
              </a:lnSpc>
              <a:buNone/>
            </a:pPr>
            <a:r>
              <a:rPr lang="en-US" sz="3400" b="1" strike="noStrike" spc="-1">
                <a:solidFill>
                  <a:srgbClr val="161A3E"/>
                </a:solidFill>
                <a:latin typeface="Calibri"/>
              </a:rPr>
              <a:t>Conclusion &amp; Next Steps</a:t>
            </a:r>
            <a:endParaRPr lang="en-US" sz="3400" b="0" strike="noStrike" spc="-1">
              <a:solidFill>
                <a:srgbClr val="000000"/>
              </a:solidFill>
              <a:latin typeface="Arial"/>
            </a:endParaRPr>
          </a:p>
        </p:txBody>
      </p:sp>
      <p:sp>
        <p:nvSpPr>
          <p:cNvPr id="500" name="Body"/>
          <p:cNvSpPr>
            <a:spLocks noGrp="1"/>
          </p:cNvSpPr>
          <p:nvPr/>
        </p:nvSpPr>
        <p:spPr>
          <a:xfrm>
            <a:off x="678960" y="1216440"/>
            <a:ext cx="10834200" cy="4856760"/>
          </a:xfrm>
          <a:prstGeom prst="rect">
            <a:avLst/>
          </a:prstGeom>
          <a:noFill/>
          <a:ln w="12600">
            <a:noFill/>
          </a:ln>
        </p:spPr>
        <p:txBody>
          <a:bodyPr lIns="0" tIns="0" rIns="0" bIns="0" anchor="t">
            <a:normAutofit lnSpcReduction="10000"/>
          </a:bodyPr>
          <a:lstStyle/>
          <a:p>
            <a:r>
              <a:rPr lang="en-US" b="1" dirty="0">
                <a:latin typeface="Calibri" panose="020F0502020204030204" pitchFamily="34" charset="0"/>
                <a:ea typeface="Calibri" panose="020F0502020204030204" pitchFamily="34" charset="0"/>
                <a:cs typeface="Calibri" panose="020F0502020204030204" pitchFamily="34" charset="0"/>
              </a:rPr>
              <a:t>Summary of what we did:</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Cleaned transaction-level retail data (handled mixed date formats, cancellations, missing customer IDs).</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Engineered an RFM (Recency, Frequency, Monetary) profile per customer.</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Capped outliers using the IQR method rather than deleting them.</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Compared three clustering algorithms (K-Means, Hierarchical, DBSCAN) using Silhouette Score, and found </a:t>
            </a:r>
            <a:r>
              <a:rPr lang="en-US" b="1" dirty="0">
                <a:latin typeface="Calibri" panose="020F0502020204030204" pitchFamily="34" charset="0"/>
                <a:ea typeface="Calibri" panose="020F0502020204030204" pitchFamily="34" charset="0"/>
                <a:cs typeface="Calibri" panose="020F0502020204030204" pitchFamily="34" charset="0"/>
              </a:rPr>
              <a:t>K-Means (k=3)</a:t>
            </a:r>
            <a:r>
              <a:rPr lang="en-US" dirty="0">
                <a:latin typeface="Calibri" panose="020F0502020204030204" pitchFamily="34" charset="0"/>
                <a:ea typeface="Calibri" panose="020F0502020204030204" pitchFamily="34" charset="0"/>
                <a:cs typeface="Calibri" panose="020F0502020204030204" pitchFamily="34" charset="0"/>
              </a:rPr>
              <a:t> performed best on this data.</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Turned the 3 clusters into named, actionable business segments.</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Trained three supervised models (Logistic Regression, Random Forest, </a:t>
            </a:r>
            <a:r>
              <a:rPr lang="en-US" dirty="0" err="1">
                <a:latin typeface="Calibri" panose="020F0502020204030204" pitchFamily="34" charset="0"/>
                <a:ea typeface="Calibri" panose="020F0502020204030204" pitchFamily="34" charset="0"/>
                <a:cs typeface="Calibri" panose="020F0502020204030204" pitchFamily="34" charset="0"/>
              </a:rPr>
              <a:t>XGBoost</a:t>
            </a:r>
            <a:r>
              <a:rPr lang="en-US" dirty="0">
                <a:latin typeface="Calibri" panose="020F0502020204030204" pitchFamily="34" charset="0"/>
                <a:ea typeface="Calibri" panose="020F0502020204030204" pitchFamily="34" charset="0"/>
                <a:cs typeface="Calibri" panose="020F0502020204030204" pitchFamily="34" charset="0"/>
              </a:rPr>
              <a:t>) to predict segment membership from RFM values — all performed strongly, confirming the segments are well-separated and consistent.</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Used </a:t>
            </a:r>
            <a:r>
              <a:rPr lang="en-US" b="1" dirty="0">
                <a:latin typeface="Calibri" panose="020F0502020204030204" pitchFamily="34" charset="0"/>
                <a:ea typeface="Calibri" panose="020F0502020204030204" pitchFamily="34" charset="0"/>
                <a:cs typeface="Calibri" panose="020F0502020204030204" pitchFamily="34" charset="0"/>
              </a:rPr>
              <a:t>SHAP</a:t>
            </a:r>
            <a:r>
              <a:rPr lang="en-US" dirty="0">
                <a:latin typeface="Calibri" panose="020F0502020204030204" pitchFamily="34" charset="0"/>
                <a:ea typeface="Calibri" panose="020F0502020204030204" pitchFamily="34" charset="0"/>
                <a:cs typeface="Calibri" panose="020F0502020204030204" pitchFamily="34" charset="0"/>
              </a:rPr>
              <a:t> to explain exactly which features drive each segment's classification.</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Translated all of this into concrete marketing/retention recommendations.</a:t>
            </a:r>
          </a:p>
          <a:p>
            <a:pPr lvl="0"/>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Possible next steps:</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Bring in additional features (e.g. product category preferences, average discount usage, return rate) to enrich the segmentation beyond pure RFM.</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Re-run this pipeline periodically (e.g. monthly) to track how customers migrate between segments over time.</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A/B test the recommended retention campaigns per segment and measure actual impact on Recency/Frequency/Monetary in the following period.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085570" y="3024006"/>
            <a:ext cx="4020859" cy="809988"/>
          </a:xfrm>
          <a:prstGeom prst="rect">
            <a:avLst/>
          </a:prstGeom>
          <a:noFill/>
          <a:ln w="12600">
            <a:noFill/>
          </a:ln>
        </p:spPr>
        <p:txBody>
          <a:bodyPr lIns="0" tIns="0" rIns="0" bIns="0" anchor="b">
            <a:normAutofit fontScale="90000"/>
          </a:bodyPr>
          <a:lstStyle/>
          <a:p>
            <a:pPr indent="0" algn="ctr">
              <a:lnSpc>
                <a:spcPct val="90000"/>
              </a:lnSpc>
              <a:buNone/>
            </a:pPr>
            <a:br>
              <a:rPr sz="6000" dirty="0"/>
            </a:br>
            <a:r>
              <a:rPr lang="en-IN" sz="6000" b="1" strike="noStrike" spc="-1" dirty="0">
                <a:solidFill>
                  <a:srgbClr val="161A3E"/>
                </a:solidFill>
                <a:latin typeface="Calibri"/>
              </a:rPr>
              <a:t>Questions ?</a:t>
            </a:r>
            <a:endParaRPr lang="en-US" sz="6000" b="0" strike="noStrike" spc="-1" dirty="0">
              <a:solidFill>
                <a:srgbClr val="000000"/>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0B3C9C0-DD8E-1AFB-7752-EC5A6510DD98}"/>
            </a:ext>
          </a:extLst>
        </p:cNvPr>
        <p:cNvGrpSpPr/>
        <p:nvPr/>
      </p:nvGrpSpPr>
      <p:grpSpPr>
        <a:xfrm>
          <a:off x="0" y="0"/>
          <a:ext cx="0" cy="0"/>
          <a:chOff x="0" y="0"/>
          <a:chExt cx="0" cy="0"/>
        </a:xfrm>
      </p:grpSpPr>
      <p:sp>
        <p:nvSpPr>
          <p:cNvPr id="100" name="PlaceHolder 1">
            <a:extLst>
              <a:ext uri="{FF2B5EF4-FFF2-40B4-BE49-F238E27FC236}">
                <a16:creationId xmlns:a16="http://schemas.microsoft.com/office/drawing/2014/main" id="{1CFA2D51-E1FC-E584-8C67-8E174B7F6F8E}"/>
              </a:ext>
            </a:extLst>
          </p:cNvPr>
          <p:cNvSpPr>
            <a:spLocks noGrp="1"/>
          </p:cNvSpPr>
          <p:nvPr>
            <p:ph type="title"/>
          </p:nvPr>
        </p:nvSpPr>
        <p:spPr>
          <a:xfrm>
            <a:off x="4591931" y="3004956"/>
            <a:ext cx="3008137" cy="848088"/>
          </a:xfrm>
          <a:prstGeom prst="rect">
            <a:avLst/>
          </a:prstGeom>
          <a:noFill/>
          <a:ln w="12600">
            <a:noFill/>
          </a:ln>
        </p:spPr>
        <p:txBody>
          <a:bodyPr lIns="0" tIns="0" rIns="0" bIns="0" anchor="b">
            <a:normAutofit fontScale="90000"/>
          </a:bodyPr>
          <a:lstStyle/>
          <a:p>
            <a:pPr indent="0">
              <a:lnSpc>
                <a:spcPct val="90000"/>
              </a:lnSpc>
              <a:buNone/>
            </a:pPr>
            <a:br>
              <a:rPr sz="6000" dirty="0"/>
            </a:br>
            <a:r>
              <a:rPr lang="en-IN" sz="6000" b="1" strike="noStrike" spc="-1" dirty="0">
                <a:solidFill>
                  <a:srgbClr val="161A3E"/>
                </a:solidFill>
                <a:latin typeface="Calibri"/>
              </a:rPr>
              <a:t>Thank You</a:t>
            </a:r>
            <a:endParaRPr lang="en-US" sz="6000" b="0" strike="noStrike" spc="-1" dirty="0">
              <a:solidFill>
                <a:srgbClr val="000000"/>
              </a:solidFill>
              <a:latin typeface="Arial"/>
            </a:endParaRPr>
          </a:p>
        </p:txBody>
      </p:sp>
    </p:spTree>
    <p:extLst>
      <p:ext uri="{BB962C8B-B14F-4D97-AF65-F5344CB8AC3E}">
        <p14:creationId xmlns:p14="http://schemas.microsoft.com/office/powerpoint/2010/main" val="130649998"/>
      </p:ext>
    </p:extLst>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5.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6.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7.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8.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9.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0.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3.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668</TotalTime>
  <Words>1818</Words>
  <Application>Microsoft Office PowerPoint</Application>
  <PresentationFormat>Widescreen</PresentationFormat>
  <Paragraphs>246</Paragraphs>
  <Slides>23</Slides>
  <Notes>1</Notes>
  <HiddenSlides>0</HiddenSlides>
  <MMClips>0</MMClips>
  <ScaleCrop>false</ScaleCrop>
  <HeadingPairs>
    <vt:vector size="6" baseType="variant">
      <vt:variant>
        <vt:lpstr>Fonts Used</vt:lpstr>
      </vt:variant>
      <vt:variant>
        <vt:i4>7</vt:i4>
      </vt:variant>
      <vt:variant>
        <vt:lpstr>Theme</vt:lpstr>
      </vt:variant>
      <vt:variant>
        <vt:i4>13</vt:i4>
      </vt:variant>
      <vt:variant>
        <vt:lpstr>Slide Titles</vt:lpstr>
      </vt:variant>
      <vt:variant>
        <vt:i4>23</vt:i4>
      </vt:variant>
    </vt:vector>
  </HeadingPairs>
  <TitlesOfParts>
    <vt:vector size="43" baseType="lpstr">
      <vt:lpstr>Arial</vt:lpstr>
      <vt:lpstr>Calibri</vt:lpstr>
      <vt:lpstr>Symbol</vt:lpstr>
      <vt:lpstr>Times New Roman</vt:lpstr>
      <vt:lpstr>Urbanist</vt:lpstr>
      <vt:lpstr>Urbanist Medium</vt:lpstr>
      <vt:lpstr>Wingdings</vt:lpstr>
      <vt:lpstr>Office</vt:lpstr>
      <vt:lpstr>Office</vt:lpstr>
      <vt:lpstr>Office</vt:lpstr>
      <vt:lpstr>Office</vt:lpstr>
      <vt:lpstr>Office</vt:lpstr>
      <vt:lpstr>Office</vt:lpstr>
      <vt:lpstr>Office</vt:lpstr>
      <vt:lpstr>Office</vt:lpstr>
      <vt:lpstr>Office</vt:lpstr>
      <vt:lpstr>Office</vt:lpstr>
      <vt:lpstr>Office</vt:lpstr>
      <vt:lpstr>Office</vt:lpstr>
      <vt:lpstr>Office</vt:lpstr>
      <vt:lpstr>PowerPoint Presentation</vt:lpstr>
      <vt:lpstr>Agenda</vt:lpstr>
      <vt:lpstr>Introduction</vt:lpstr>
      <vt:lpstr>Dataset Overview</vt:lpstr>
      <vt:lpstr>Data Cleaning</vt:lpstr>
      <vt:lpstr>Exploratory Data Analysis</vt:lpstr>
      <vt:lpstr>Exploratory Data Analysis</vt:lpstr>
      <vt:lpstr>Feature Engineering</vt:lpstr>
      <vt:lpstr>Outlier Handling</vt:lpstr>
      <vt:lpstr>Outlier Handling</vt:lpstr>
      <vt:lpstr>Clustering</vt:lpstr>
      <vt:lpstr>Clustering</vt:lpstr>
      <vt:lpstr>Segment Visualization</vt:lpstr>
      <vt:lpstr>Segment Profiles</vt:lpstr>
      <vt:lpstr>Segment Table</vt:lpstr>
      <vt:lpstr>Predictive Modeling: Approach &amp; Results</vt:lpstr>
      <vt:lpstr>Predictive Modeling:</vt:lpstr>
      <vt:lpstr>Feature Importance with SHAP</vt:lpstr>
      <vt:lpstr>Feature Importance with SHAP</vt:lpstr>
      <vt:lpstr>Business Recommendations</vt:lpstr>
      <vt:lpstr>Conclusion &amp; Next Steps</vt:lpstr>
      <vt:lpstr> Questions ?</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Jeet Sarkar</cp:lastModifiedBy>
  <cp:revision>9</cp:revision>
  <dcterms:modified xsi:type="dcterms:W3CDTF">2026-08-11T15:12:25Z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2020-12-23T13:36:00Z</dcterms:created>
  <dc:creator>Aayush Shah</dc:creator>
  <dc:description/>
  <dc:language>en-US</dc:language>
  <cp:lastModifiedBy>Suraj Chopade</cp:lastModifiedBy>
  <dcterms:modified xsi:type="dcterms:W3CDTF">2026-07-20T07:10:24Z</dcterms:modified>
  <cp:revision>2254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